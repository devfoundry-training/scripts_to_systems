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(2 min)
Welcome delegates. Introduce yourself and the course theme.
Set expectations: by end of Day 1, you'll understand why scripts break and have two powerful patterns (Adapter, Strategy) to fix that.
Ice-breaker: 'Who here has a Python script that started small and grew into something terrifying?'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COURSE OVERVIEW (3 min)
Walk through each bullet. Emphasise 'simulator-first' so nobody worries about missing hardware.
Ask: 'What instruments or devices do you work with day to day?' This helps you gauge the room.
Mention the 3-day arc: foundations, application, data and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SIMULATOR INTRO (3 min)
Demo: run the simulator briefly in a terminal. Show it returning temperature and voltage values.
Explain the commands: READ:TEMP, READ:VOLT, SET:INTERVAL:200, *IDN?, SET:ERROR_MODE:TIMEOUT.
Key point: 'This simulator behaves exactly like a real instrument from your code\'s perspective.'
Don't deep-dive the simulator yet. Students explore it in Lab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MOTIVATION (3 min)
Show examples/messy_script.py on screen (or a snippet). Don't read through it line by line.
Say: 'This works. For a one-off job, it\'s fine.'
Pause. Then: 'So when does it stop being fine?'
Validate that scripts aren't bad, they're just limited.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(5 min)
Read each bullet, then STOP and ask: 'Has this happened to you?'
Give 2-3 minutes for open discussion. Write keywords on whiteboard if available.
This is the emotional hook: students should feel 'yes, this IS my problem' before you offer 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ANALYSIS (3 min)
Now formalise what they just described. Map their stories to these structural issues.
Key misconception to address: 'My script is too small to need architecture.' Counter: 'It\'s not about size, it\'s about how many reasons it has to change.'
Ask: 'If the serial port changes, how many lines do you edit?'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PREVIEW (3 min)
Show the layered diagram. This is a preview, don't explain every layer yet.
Say: 'By end of Day 3, your project will look like this.'
Introduce the phrase casually: 'The controller does not care.'
Don't over-explain. Students will build each layer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TRANSITION (30 sec)
'Let\'s start building. We need objects before we can build patterns.'
Gauge the room: 'How comfortable are you with Python classes? Show of hands.'
Adjust depth based on the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(3 min)
Stress the key distinction: functions for stateless transformations, classes for things with state.
Ask: 'Would you pass port, baud_rate, and the serial handle to every function?'
Common misconception: 'Classes are always better than functions.' Push back on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WALKTHROUGH (4 min)
Walk through both columns.
Left: 'parse_reading takes a string, returns a float. No state needed. Perfect as a function.'
Right: 'SerialConnection has a port, a baud rate, a serial handle. That\'s state. It belongs in a class.'
Ask: 'What happens if you try to do the right-hand side with just functions?'
This slide is the visual anchor for the concept. Point back to it during labs.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(2 min)
Keep this brief. The next slide has the code that makes it concrete.
Avoid jargon like 'encapsulation', just say 'the data and the functions that work on it live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WALKTHROUGH (4 min)
Live demo: type this class in the REPL or editor alongside the slide.
Show: creating an instance, accessing attributes, calling methods.
Ask: 'What\'s the difference between the class and an instance?' (blueprint vs actual thing)
Point out the type hints, they document intent without heavy tooling.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(3 min)
This is the most important OOP idea in the course. Spend time here.
Ask: 'Describe DataRecorder in one sentence.' If someone says 'It reads data AND writes it,' say: 'That\'s two things.'
Key phrase: 'If you need AND to describe what it does, it\'s two classes.'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WALKTHROUGH (5 min)
Left column: 'InstrumentManager reads AND records AND displays. Three reasons to change.'
Right column: 'Each class has one job. Sensor reads. Recorder writes. Display shows.'
Ask: 'What happens if you need to change the display format?' Left: edit InstrumentManager (risky). Right: edit Display only (safe).
This is the slide students will remember. Spend the time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(3 min)
In this course, inheritance appears once: the Adapter interface (ABC). Everything else is composition.
Ask: 'Can anyone think of an is-a relationship in instrument code?' (Answer: rarely.)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WALKTHROUGH (4 min)
Left: 'DataSystem IS a sensor? That makes no sense. What if we need two sensors?'
Right: 'DataSystem HAS a sensor, HAS a recorder. Swap either one independently.'
Key insight: 'Composition keeps options open. Inheritance locks you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METHOD (3 min)
Do this exercise live with the class.
'What are the nouns? What are the verbs? Now assign each verb to the right noun.'
This is a design heuristic, not a formal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SETUP (2 min then 25-30 min lab)
Point students to examples/messy_script.py.
Say: 'Don\'t try to make it perfect. Just find 3 responsibilities and give each one a class.'
Walk the room. Common issues: students who freeze (suggest nouns), too many classes, where main() goes.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DEBRIEF (5 min)
Ask 2-3 students to share their class names. Write them on the board.
Common good answers: InstrumentReader, DataRecorder, ReadingFormatter.
Bridge to afternoon: 'Now let\'s look at real instrument code and find the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TRANSITION (30 sec)
Post-lunch is low energy. Start with the messy driver demo.
Say: 'We\'re going to look at some truly awful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(5 min)
Show examples/messy_driver.py on screen. Scroll through slowly.
Point out: hardcoded port, serial setup mixed with formatting, scattered error handling.
Ask: 'Where would you start cleaning this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(3 min)
Define seam: 'A point where you can change behaviour without editing surrounding code.'
Analogy: 'Like a seam in clothing.'
List the four seams. Ask students to identify which seam each problem belongs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WALKTHROUGH (5 min)
Walk through each SEAM annotation.
SEAM 1: hardcoded serial. SEAM 2: hardcoded command. SEAM 3: parsing coupled to format. SEAM 4: scattered error handling.
Ask: 'If I change the instrument model, which seams do I cut?' (Potentially all, which is the problem.)
This is the key teaching slide for seams.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WALKTHROUGH (4 min)
Left: 'Everything tangled. Hardcoded port, inline command, inline parsing.'
Right: 'Transport is injectable. Parser is pure. read_temperature() just orchestrates.'
Say: 'I didn\'t change what the code does. I changed how it\'s organised.'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SETUP (2 min then 30 min lab)
Key instruction: 'Keep the FakeSerial class unchanged.'
This lab is harder than Lab 1. Allow full 30 minutes.
If students struggle, pair them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DEBRIEF (5 min)
Key insight: 'Separating transport from protocol makes everything testable.'
Bridge: 'What you just did informally has a name. It\'s called the Adapter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MOTIVATION (3 min)
Pause after: 'If your code can only run when the hardware is plugged in, your code owns you.'
Ask: 'Who has code that can only be tested with the real instrument?'
Say: 'By the end of this session, that will never be true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 (4 min)
This is the single most important slide in the course.
Draw the diagram: Application -&gt; InstrumentAdapter (interface) -&gt; Real OR Simulated.
Key phrase: 'The controller does not care whether the instrument is real or simulated.'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WALKTHROUGH (5 min)
Walk through each method of the ABC.
Ask: 'Why does read_value() take a channel parameter?' (Multiple channels.)
Ask: 'Why is is_connected a property?' (State, not action.)
This is the contract everything else depends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WALKTHROUGH (5 min)
Walk both columns. Left: simulator. Right: real hardware. Same interface.
Bottom note: 'The calling code cannot tell the difference.'
If you have a demo rig, this is the moment to show the same script on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WALKTHROUGH (4 min)
Show the factory function. 'ONE line decides real vs simulated.'
Key point: 'Architecture makes the swap possible. Configuration makes it easy.'
Preview: on Day 3, this comes from a YAML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SETUP (2 min then 30 min lab)
Students work with the labmonitor project for the first time.
Key instruction: 'Use the adapter through the interface only.'
Extension: try toggling error modes.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DEBRIEF (4 min)
Demo: same script, two adapters, identical code.
Say the mantra: 'The controller does not care.'
Ask: 'To add a third adapter for a network instrument?' (One new class. Nothing else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MOTIVATION (3 min)
Show the concept of the big if/elif chain.
Ask: 'What happens when the boss asks for a new mode?'
Same structural problem as hardcoded hardware, but for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WALKTHROUGH (5 min)
Left: 'if/elif sprawl. Adding a mode means editing core logic.'
Right: 'Strategy objects. Each mode is its own class.'
Ask: 'How many files change for BurstReadStrategy?' (One new file.)
Draw the parallel to Adapter.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WALKTHROUGH (4 min)
This is the synthesis slide.
'Controller picks strategy and adapter. Neither knows the other\'s internals.'
M strategies x N adapters, all interchangeable.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SETUP (2 min then 20 min lab)
Shorter lab. Pattern should feel familiar.
Key instruction: 'Write a run_strategy() that takes ANY strategy and ANY adapter.'
Extension: create a BurstReadStrategy.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(5 min)
Recap: messy script, objects, seams, Adapter, Strategy.
Ask each table to name one thing they learned.
Preview tomorrow: 'We wrap it all in a PySide6 desktop application.'
End on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731520" y="1463040"/>
            <a:ext cx="10698480" cy="1280160"/>
          </a:xfrm>
          <a:prstGeom prst="rect">
            <a:avLst/>
          </a:prstGeom>
          <a:noFill/>
          <a:ln/>
        </p:spPr>
        <p:txBody>
          <a:bodyPr wrap="square" rtlCol="0" anchor="ctr"/>
          <a:lstStyle/>
          <a:p>
            <a:pPr indent="0" marL="0">
              <a:buNone/>
            </a:pPr>
            <a:r>
              <a:rPr lang="en-US" sz="4400" b="1" dirty="0">
                <a:solidFill>
                  <a:srgbClr val="FFFFFF"/>
                </a:solidFill>
                <a:latin typeface="Calibri Light" pitchFamily="34" charset="0"/>
                <a:ea typeface="Calibri Light" pitchFamily="34" charset="-122"/>
                <a:cs typeface="Calibri Light" pitchFamily="34" charset="-120"/>
              </a:rPr>
              <a:t>From Scripts to Systems</a:t>
            </a:r>
            <a:endParaRPr lang="en-US" sz="4400" dirty="0"/>
          </a:p>
        </p:txBody>
      </p:sp>
      <p:sp>
        <p:nvSpPr>
          <p:cNvPr id="3" name="Text 1"/>
          <p:cNvSpPr/>
          <p:nvPr/>
        </p:nvSpPr>
        <p:spPr>
          <a:xfrm>
            <a:off x="731520" y="2743200"/>
            <a:ext cx="10698480" cy="640080"/>
          </a:xfrm>
          <a:prstGeom prst="rect">
            <a:avLst/>
          </a:prstGeom>
          <a:noFill/>
          <a:ln/>
        </p:spPr>
        <p:txBody>
          <a:bodyPr wrap="square" rtlCol="0" anchor="ctr"/>
          <a:lstStyle/>
          <a:p>
            <a:pPr indent="0" marL="0">
              <a:buNone/>
            </a:pPr>
            <a:r>
              <a:rPr lang="en-US" sz="2400" dirty="0">
                <a:solidFill>
                  <a:srgbClr val="4FC3F7"/>
                </a:solidFill>
                <a:latin typeface="Calibri" pitchFamily="34" charset="0"/>
                <a:ea typeface="Calibri" pitchFamily="34" charset="-122"/>
                <a:cs typeface="Calibri" pitchFamily="34" charset="-120"/>
              </a:rPr>
              <a:t>Day 1, From Script to Architecture</a:t>
            </a:r>
            <a:endParaRPr lang="en-US" sz="2400" dirty="0"/>
          </a:p>
        </p:txBody>
      </p:sp>
      <p:sp>
        <p:nvSpPr>
          <p:cNvPr id="4" name="Text 2"/>
          <p:cNvSpPr/>
          <p:nvPr/>
        </p:nvSpPr>
        <p:spPr>
          <a:xfrm>
            <a:off x="731520" y="3474720"/>
            <a:ext cx="10698480" cy="548640"/>
          </a:xfrm>
          <a:prstGeom prst="rect">
            <a:avLst/>
          </a:prstGeom>
          <a:noFill/>
          <a:ln/>
        </p:spPr>
        <p:txBody>
          <a:bodyPr wrap="square" rtlCol="0" anchor="ctr"/>
          <a:lstStyle/>
          <a:p>
            <a:pPr indent="0" marL="0">
              <a:buNone/>
            </a:pPr>
            <a:r>
              <a:rPr lang="en-US" sz="1600" dirty="0">
                <a:solidFill>
                  <a:srgbClr val="B0B0B0"/>
                </a:solidFill>
                <a:latin typeface="Calibri" pitchFamily="34" charset="0"/>
                <a:ea typeface="Calibri" pitchFamily="34" charset="-122"/>
                <a:cs typeface="Calibri" pitchFamily="34" charset="-120"/>
              </a:rPr>
              <a:t>Python Application Architecture for Instrument Control</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1E2E"/>
        </a:solidFill>
      </p:bgPr>
    </p:bg>
    <p:spTree>
      <p:nvGrpSpPr>
        <p:cNvPr id="1" name=""/>
        <p:cNvGrpSpPr/>
        <p:nvPr/>
      </p:nvGrpSpPr>
      <p:grpSpPr>
        <a:xfrm>
          <a:off x="0" y="0"/>
          <a:ext cx="0" cy="0"/>
          <a:chOff x="0" y="0"/>
          <a:chExt cx="0" cy="0"/>
        </a:xfrm>
      </p:grpSpPr>
      <p:sp>
        <p:nvSpPr>
          <p:cNvPr id="2" name="Text 0"/>
          <p:cNvSpPr/>
          <p:nvPr/>
        </p:nvSpPr>
        <p:spPr>
          <a:xfrm>
            <a:off x="640080" y="274320"/>
            <a:ext cx="10972800" cy="731520"/>
          </a:xfrm>
          <a:prstGeom prst="rect">
            <a:avLst/>
          </a:prstGeom>
          <a:noFill/>
          <a:ln/>
        </p:spPr>
        <p:txBody>
          <a:bodyPr wrap="square" rtlCol="0" anchor="ctr"/>
          <a:lstStyle/>
          <a:p>
            <a:pPr indent="0" marL="0">
              <a:buNone/>
            </a:pPr>
            <a:r>
              <a:rPr lang="en-US" sz="3600" b="1" dirty="0">
                <a:solidFill>
                  <a:srgbClr val="FFFFFF"/>
                </a:solidFill>
                <a:latin typeface="Calibri Light" pitchFamily="34" charset="0"/>
                <a:ea typeface="Calibri Light" pitchFamily="34" charset="-122"/>
                <a:cs typeface="Calibri Light" pitchFamily="34" charset="-120"/>
              </a:rPr>
              <a:t>About This Course</a:t>
            </a:r>
            <a:endParaRPr lang="en-US" sz="3600" dirty="0"/>
          </a:p>
        </p:txBody>
      </p:sp>
      <p:sp>
        <p:nvSpPr>
          <p:cNvPr id="3" name="Text 1"/>
          <p:cNvSpPr/>
          <p:nvPr/>
        </p:nvSpPr>
        <p:spPr>
          <a:xfrm>
            <a:off x="822960" y="1188720"/>
            <a:ext cx="10424160" cy="5029200"/>
          </a:xfrm>
          <a:prstGeom prst="rect">
            <a:avLst/>
          </a:prstGeom>
          <a:noFill/>
          <a:ln/>
        </p:spPr>
        <p:txBody>
          <a:bodyPr wrap="square" rtlCol="0" anchor="t"/>
          <a:lstStyle/>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Who: engineers who write Python for instruments and want to write better software</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What: build a working instrument-control application over 3 days</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How: simulator-first, no real hardware required for any delegate</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Every pattern appears first in simple form, then in a realistic context</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Day 1: Architecture foundations | Day 2: GUI application | Day 3: Data and performance</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1E2E"/>
        </a:solidFill>
      </p:bgPr>
    </p:bg>
    <p:spTree>
      <p:nvGrpSpPr>
        <p:cNvPr id="1" name=""/>
        <p:cNvGrpSpPr/>
        <p:nvPr/>
      </p:nvGrpSpPr>
      <p:grpSpPr>
        <a:xfrm>
          <a:off x="0" y="0"/>
          <a:ext cx="0" cy="0"/>
          <a:chOff x="0" y="0"/>
          <a:chExt cx="0" cy="0"/>
        </a:xfrm>
      </p:grpSpPr>
      <p:sp>
        <p:nvSpPr>
          <p:cNvPr id="2" name="Text 0"/>
          <p:cNvSpPr/>
          <p:nvPr/>
        </p:nvSpPr>
        <p:spPr>
          <a:xfrm>
            <a:off x="640080" y="274320"/>
            <a:ext cx="10972800" cy="731520"/>
          </a:xfrm>
          <a:prstGeom prst="rect">
            <a:avLst/>
          </a:prstGeom>
          <a:noFill/>
          <a:ln/>
        </p:spPr>
        <p:txBody>
          <a:bodyPr wrap="square" rtlCol="0" anchor="ctr"/>
          <a:lstStyle/>
          <a:p>
            <a:pPr indent="0" marL="0">
              <a:buNone/>
            </a:pPr>
            <a:r>
              <a:rPr lang="en-US" sz="3600" b="1" dirty="0">
                <a:solidFill>
                  <a:srgbClr val="FFFFFF"/>
                </a:solidFill>
                <a:latin typeface="Calibri Light" pitchFamily="34" charset="0"/>
                <a:ea typeface="Calibri Light" pitchFamily="34" charset="-122"/>
                <a:cs typeface="Calibri Light" pitchFamily="34" charset="-120"/>
              </a:rPr>
              <a:t>The Training Rig</a:t>
            </a:r>
            <a:endParaRPr lang="en-US" sz="3600" dirty="0"/>
          </a:p>
        </p:txBody>
      </p:sp>
      <p:sp>
        <p:nvSpPr>
          <p:cNvPr id="3" name="Text 1"/>
          <p:cNvSpPr/>
          <p:nvPr/>
        </p:nvSpPr>
        <p:spPr>
          <a:xfrm>
            <a:off x="822960" y="1188720"/>
            <a:ext cx="10424160" cy="5029200"/>
          </a:xfrm>
          <a:prstGeom prst="rect">
            <a:avLst/>
          </a:prstGeom>
          <a:noFill/>
          <a:ln/>
        </p:spPr>
        <p:txBody>
          <a:bodyPr wrap="square" rtlCol="0" anchor="t"/>
          <a:lstStyle/>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SimulatedInstrument generates temperature and voltage readings</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Accepts commands (READ:TEMP, SET:INTERVAL, *IDN?), returns realistic data</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Can simulate errors: timeouts, garbage responses, intermittent disconnects, drift</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Optional: one real Arduino/instrument rig on the instructor desk</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All delegates work entirely with the simulator, no hardware dependency</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1E2E"/>
        </a:solidFill>
      </p:bgPr>
    </p:bg>
    <p:spTree>
      <p:nvGrpSpPr>
        <p:cNvPr id="1" name=""/>
        <p:cNvGrpSpPr/>
        <p:nvPr/>
      </p:nvGrpSpPr>
      <p:grpSpPr>
        <a:xfrm>
          <a:off x="0" y="0"/>
          <a:ext cx="0" cy="0"/>
          <a:chOff x="0" y="0"/>
          <a:chExt cx="0" cy="0"/>
        </a:xfrm>
      </p:grpSpPr>
      <p:sp>
        <p:nvSpPr>
          <p:cNvPr id="2" name="Text 0"/>
          <p:cNvSpPr/>
          <p:nvPr/>
        </p:nvSpPr>
        <p:spPr>
          <a:xfrm>
            <a:off x="640080" y="274320"/>
            <a:ext cx="10972800" cy="731520"/>
          </a:xfrm>
          <a:prstGeom prst="rect">
            <a:avLst/>
          </a:prstGeom>
          <a:noFill/>
          <a:ln/>
        </p:spPr>
        <p:txBody>
          <a:bodyPr wrap="square" rtlCol="0" anchor="ctr"/>
          <a:lstStyle/>
          <a:p>
            <a:pPr indent="0" marL="0">
              <a:buNone/>
            </a:pPr>
            <a:r>
              <a:rPr lang="en-US" sz="3600" b="1" dirty="0">
                <a:solidFill>
                  <a:srgbClr val="FFFFFF"/>
                </a:solidFill>
                <a:latin typeface="Calibri Light" pitchFamily="34" charset="0"/>
                <a:ea typeface="Calibri Light" pitchFamily="34" charset="-122"/>
                <a:cs typeface="Calibri Light" pitchFamily="34" charset="-120"/>
              </a:rPr>
              <a:t>A Script That Works</a:t>
            </a:r>
            <a:endParaRPr lang="en-US" sz="3600" dirty="0"/>
          </a:p>
        </p:txBody>
      </p:sp>
      <p:sp>
        <p:nvSpPr>
          <p:cNvPr id="3" name="Text 1"/>
          <p:cNvSpPr/>
          <p:nvPr/>
        </p:nvSpPr>
        <p:spPr>
          <a:xfrm>
            <a:off x="822960" y="1188720"/>
            <a:ext cx="10424160" cy="5029200"/>
          </a:xfrm>
          <a:prstGeom prst="rect">
            <a:avLst/>
          </a:prstGeom>
          <a:noFill/>
          <a:ln/>
        </p:spPr>
        <p:txBody>
          <a:bodyPr wrap="square" rtlCol="0" anchor="t"/>
          <a:lstStyle/>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200-line Python script: open serial port, read values, print them, write to CSV</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It runs, it produces output, it does the job</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For a one-off measurement task, this is absolutely fine</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But what happens when the requirements change?</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1E2E"/>
        </a:solidFill>
      </p:bgPr>
    </p:bg>
    <p:spTree>
      <p:nvGrpSpPr>
        <p:cNvPr id="1" name=""/>
        <p:cNvGrpSpPr/>
        <p:nvPr/>
      </p:nvGrpSpPr>
      <p:grpSpPr>
        <a:xfrm>
          <a:off x="0" y="0"/>
          <a:ext cx="0" cy="0"/>
          <a:chOff x="0" y="0"/>
          <a:chExt cx="0" cy="0"/>
        </a:xfrm>
      </p:grpSpPr>
      <p:sp>
        <p:nvSpPr>
          <p:cNvPr id="2" name="Text 0"/>
          <p:cNvSpPr/>
          <p:nvPr/>
        </p:nvSpPr>
        <p:spPr>
          <a:xfrm>
            <a:off x="640080" y="274320"/>
            <a:ext cx="10972800" cy="731520"/>
          </a:xfrm>
          <a:prstGeom prst="rect">
            <a:avLst/>
          </a:prstGeom>
          <a:noFill/>
          <a:ln/>
        </p:spPr>
        <p:txBody>
          <a:bodyPr wrap="square" rtlCol="0" anchor="ctr"/>
          <a:lstStyle/>
          <a:p>
            <a:pPr indent="0" marL="0">
              <a:buNone/>
            </a:pPr>
            <a:r>
              <a:rPr lang="en-US" sz="3600" b="1" dirty="0">
                <a:solidFill>
                  <a:srgbClr val="FFFFFF"/>
                </a:solidFill>
                <a:latin typeface="Calibri Light" pitchFamily="34" charset="0"/>
                <a:ea typeface="Calibri Light" pitchFamily="34" charset="-122"/>
                <a:cs typeface="Calibri Light" pitchFamily="34" charset="-120"/>
              </a:rPr>
              <a:t>A Script That Breaks</a:t>
            </a:r>
            <a:endParaRPr lang="en-US" sz="3600" dirty="0"/>
          </a:p>
        </p:txBody>
      </p:sp>
      <p:sp>
        <p:nvSpPr>
          <p:cNvPr id="3" name="Text 1"/>
          <p:cNvSpPr/>
          <p:nvPr/>
        </p:nvSpPr>
        <p:spPr>
          <a:xfrm>
            <a:off x="822960" y="1188720"/>
            <a:ext cx="10424160" cy="5029200"/>
          </a:xfrm>
          <a:prstGeom prst="rect">
            <a:avLst/>
          </a:prstGeom>
          <a:noFill/>
          <a:ln/>
        </p:spPr>
        <p:txBody>
          <a:bodyPr wrap="square" rtlCol="0" anchor="t"/>
          <a:lstStyle/>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The boss wants a GUI</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The instrument changes (new model, new protocol)</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A second engineer has to maintain it</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The data format needs to change (CSV to HDF5, add metadata)</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Now add error handling, retries, timeouts...</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Discussion: what has broken YOUR scripts?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1E2E"/>
        </a:solidFill>
      </p:bgPr>
    </p:bg>
    <p:spTree>
      <p:nvGrpSpPr>
        <p:cNvPr id="1" name=""/>
        <p:cNvGrpSpPr/>
        <p:nvPr/>
      </p:nvGrpSpPr>
      <p:grpSpPr>
        <a:xfrm>
          <a:off x="0" y="0"/>
          <a:ext cx="0" cy="0"/>
          <a:chOff x="0" y="0"/>
          <a:chExt cx="0" cy="0"/>
        </a:xfrm>
      </p:grpSpPr>
      <p:sp>
        <p:nvSpPr>
          <p:cNvPr id="2" name="Text 0"/>
          <p:cNvSpPr/>
          <p:nvPr/>
        </p:nvSpPr>
        <p:spPr>
          <a:xfrm>
            <a:off x="640080" y="274320"/>
            <a:ext cx="10972800" cy="731520"/>
          </a:xfrm>
          <a:prstGeom prst="rect">
            <a:avLst/>
          </a:prstGeom>
          <a:noFill/>
          <a:ln/>
        </p:spPr>
        <p:txBody>
          <a:bodyPr wrap="square" rtlCol="0" anchor="ctr"/>
          <a:lstStyle/>
          <a:p>
            <a:pPr indent="0" marL="0">
              <a:buNone/>
            </a:pPr>
            <a:r>
              <a:rPr lang="en-US" sz="3600" b="1" dirty="0">
                <a:solidFill>
                  <a:srgbClr val="FFFFFF"/>
                </a:solidFill>
                <a:latin typeface="Calibri Light" pitchFamily="34" charset="0"/>
                <a:ea typeface="Calibri Light" pitchFamily="34" charset="-122"/>
                <a:cs typeface="Calibri Light" pitchFamily="34" charset="-120"/>
              </a:rPr>
              <a:t>Why Scripts Break</a:t>
            </a:r>
            <a:endParaRPr lang="en-US" sz="3600" dirty="0"/>
          </a:p>
        </p:txBody>
      </p:sp>
      <p:sp>
        <p:nvSpPr>
          <p:cNvPr id="3" name="Text 1"/>
          <p:cNvSpPr/>
          <p:nvPr/>
        </p:nvSpPr>
        <p:spPr>
          <a:xfrm>
            <a:off x="822960" y="1188720"/>
            <a:ext cx="10424160" cy="5029200"/>
          </a:xfrm>
          <a:prstGeom prst="rect">
            <a:avLst/>
          </a:prstGeom>
          <a:noFill/>
          <a:ln/>
        </p:spPr>
        <p:txBody>
          <a:bodyPr wrap="square" rtlCol="0" anchor="t"/>
          <a:lstStyle/>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Everything in one place, no separation of concerns</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State scattered across global variables</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Hardware details wired directly into application logic</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No way to test without plugging in real hardware</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One change ripples through the entire file</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These are structural problems that patterns solve</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1E2E"/>
        </a:solidFill>
      </p:bgPr>
    </p:bg>
    <p:spTree>
      <p:nvGrpSpPr>
        <p:cNvPr id="1" name=""/>
        <p:cNvGrpSpPr/>
        <p:nvPr/>
      </p:nvGrpSpPr>
      <p:grpSpPr>
        <a:xfrm>
          <a:off x="0" y="0"/>
          <a:ext cx="0" cy="0"/>
          <a:chOff x="0" y="0"/>
          <a:chExt cx="0" cy="0"/>
        </a:xfrm>
      </p:grpSpPr>
      <p:sp>
        <p:nvSpPr>
          <p:cNvPr id="2" name="Text 0"/>
          <p:cNvSpPr/>
          <p:nvPr/>
        </p:nvSpPr>
        <p:spPr>
          <a:xfrm>
            <a:off x="640080" y="274320"/>
            <a:ext cx="10972800" cy="731520"/>
          </a:xfrm>
          <a:prstGeom prst="rect">
            <a:avLst/>
          </a:prstGeom>
          <a:noFill/>
          <a:ln/>
        </p:spPr>
        <p:txBody>
          <a:bodyPr wrap="square" rtlCol="0" anchor="ctr"/>
          <a:lstStyle/>
          <a:p>
            <a:pPr indent="0" marL="0">
              <a:buNone/>
            </a:pPr>
            <a:r>
              <a:rPr lang="en-US" sz="3600" b="1" dirty="0">
                <a:solidFill>
                  <a:srgbClr val="FFFFFF"/>
                </a:solidFill>
                <a:latin typeface="Calibri Light" pitchFamily="34" charset="0"/>
                <a:ea typeface="Calibri Light" pitchFamily="34" charset="-122"/>
                <a:cs typeface="Calibri Light" pitchFamily="34" charset="-120"/>
              </a:rPr>
              <a:t>The Goal — Architecture That Survives Change</a:t>
            </a:r>
            <a:endParaRPr lang="en-US" sz="3600" dirty="0"/>
          </a:p>
        </p:txBody>
      </p:sp>
      <p:sp>
        <p:nvSpPr>
          <p:cNvPr id="3" name="Text 1"/>
          <p:cNvSpPr/>
          <p:nvPr/>
        </p:nvSpPr>
        <p:spPr>
          <a:xfrm>
            <a:off x="822960" y="1188720"/>
            <a:ext cx="10424160" cy="5029200"/>
          </a:xfrm>
          <a:prstGeom prst="rect">
            <a:avLst/>
          </a:prstGeom>
          <a:noFill/>
          <a:ln/>
        </p:spPr>
        <p:txBody>
          <a:bodyPr wrap="square" rtlCol="0" anchor="t"/>
          <a:lstStyle/>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Layered architecture: UI, Controller, Model, Adapter, Hardware/Simulator</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Swap the instrument? Change one adapter file</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Swap the data format? Change one sink file</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Add a GUI? The model doesn't know or care</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This is where we're heading over 3 days</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731520" y="2011680"/>
            <a:ext cx="10698480" cy="1280160"/>
          </a:xfrm>
          <a:prstGeom prst="rect">
            <a:avLst/>
          </a:prstGeom>
          <a:noFill/>
          <a:ln/>
        </p:spPr>
        <p:txBody>
          <a:bodyPr wrap="square" rtlCol="0" anchor="ctr"/>
          <a:lstStyle/>
          <a:p>
            <a:pPr algn="l" indent="0" marL="0">
              <a:buNone/>
            </a:pPr>
            <a:r>
              <a:rPr lang="en-US" sz="4400" b="1" dirty="0">
                <a:solidFill>
                  <a:srgbClr val="FFFFFF"/>
                </a:solidFill>
                <a:latin typeface="Calibri Light" pitchFamily="34" charset="0"/>
                <a:ea typeface="Calibri Light" pitchFamily="34" charset="-122"/>
                <a:cs typeface="Calibri Light" pitchFamily="34" charset="-120"/>
              </a:rPr>
              <a:t>OOP from Scratch</a:t>
            </a:r>
            <a:endParaRPr lang="en-US" sz="4400" dirty="0"/>
          </a:p>
        </p:txBody>
      </p:sp>
      <p:sp>
        <p:nvSpPr>
          <p:cNvPr id="3" name="Text 1"/>
          <p:cNvSpPr/>
          <p:nvPr/>
        </p:nvSpPr>
        <p:spPr>
          <a:xfrm>
            <a:off x="731520" y="3291840"/>
            <a:ext cx="10698480" cy="640080"/>
          </a:xfrm>
          <a:prstGeom prst="rect">
            <a:avLst/>
          </a:prstGeom>
          <a:noFill/>
          <a:ln/>
        </p:spPr>
        <p:txBody>
          <a:bodyPr wrap="square" rtlCol="0" anchor="ctr"/>
          <a:lstStyle/>
          <a:p>
            <a:pPr algn="l" indent="0" marL="0">
              <a:buNone/>
            </a:pPr>
            <a:r>
              <a:rPr lang="en-US" sz="2000" dirty="0">
                <a:solidFill>
                  <a:srgbClr val="4FC3F7"/>
                </a:solidFill>
                <a:latin typeface="Calibri" pitchFamily="34" charset="0"/>
                <a:ea typeface="Calibri" pitchFamily="34" charset="-122"/>
                <a:cs typeface="Calibri" pitchFamily="34" charset="-120"/>
              </a:rPr>
              <a:t>Classes, objects, state, and responsibility</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1E2E"/>
        </a:solidFill>
      </p:bgPr>
    </p:bg>
    <p:spTree>
      <p:nvGrpSpPr>
        <p:cNvPr id="1" name=""/>
        <p:cNvGrpSpPr/>
        <p:nvPr/>
      </p:nvGrpSpPr>
      <p:grpSpPr>
        <a:xfrm>
          <a:off x="0" y="0"/>
          <a:ext cx="0" cy="0"/>
          <a:chOff x="0" y="0"/>
          <a:chExt cx="0" cy="0"/>
        </a:xfrm>
      </p:grpSpPr>
      <p:sp>
        <p:nvSpPr>
          <p:cNvPr id="2" name="Text 0"/>
          <p:cNvSpPr/>
          <p:nvPr/>
        </p:nvSpPr>
        <p:spPr>
          <a:xfrm>
            <a:off x="640080" y="274320"/>
            <a:ext cx="10972800" cy="731520"/>
          </a:xfrm>
          <a:prstGeom prst="rect">
            <a:avLst/>
          </a:prstGeom>
          <a:noFill/>
          <a:ln/>
        </p:spPr>
        <p:txBody>
          <a:bodyPr wrap="square" rtlCol="0" anchor="ctr"/>
          <a:lstStyle/>
          <a:p>
            <a:pPr indent="0" marL="0">
              <a:buNone/>
            </a:pPr>
            <a:r>
              <a:rPr lang="en-US" sz="3600" b="1" dirty="0">
                <a:solidFill>
                  <a:srgbClr val="FFFFFF"/>
                </a:solidFill>
                <a:latin typeface="Calibri Light" pitchFamily="34" charset="0"/>
                <a:ea typeface="Calibri Light" pitchFamily="34" charset="-122"/>
                <a:cs typeface="Calibri Light" pitchFamily="34" charset="-120"/>
              </a:rPr>
              <a:t>Functions vs Classes — When to Upgrade</a:t>
            </a:r>
            <a:endParaRPr lang="en-US" sz="3600" dirty="0"/>
          </a:p>
        </p:txBody>
      </p:sp>
      <p:sp>
        <p:nvSpPr>
          <p:cNvPr id="3" name="Text 1"/>
          <p:cNvSpPr/>
          <p:nvPr/>
        </p:nvSpPr>
        <p:spPr>
          <a:xfrm>
            <a:off x="822960" y="1188720"/>
            <a:ext cx="10424160" cy="5029200"/>
          </a:xfrm>
          <a:prstGeom prst="rect">
            <a:avLst/>
          </a:prstGeom>
          <a:noFill/>
          <a:ln/>
        </p:spPr>
        <p:txBody>
          <a:bodyPr wrap="square" rtlCol="0" anchor="t"/>
          <a:lstStyle/>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Functions are great for stateless transformations: parse_reading(), format_timestamp()</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Classes are for things with state and behaviour: a connection, a recorder, a sensor</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Rule of thumb: if you pass the same 3 or 4 values between functions, you want an object</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Don't oversell OOP, functions are fine when they're enough</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1E2E"/>
        </a:solidFill>
      </p:bgPr>
    </p:bg>
    <p:spTree>
      <p:nvGrpSpPr>
        <p:cNvPr id="1" name=""/>
        <p:cNvGrpSpPr/>
        <p:nvPr/>
      </p:nvGrpSpPr>
      <p:grpSpPr>
        <a:xfrm>
          <a:off x="0" y="0"/>
          <a:ext cx="0" cy="0"/>
          <a:chOff x="0" y="0"/>
          <a:chExt cx="0" cy="0"/>
        </a:xfrm>
      </p:grpSpPr>
      <p:sp>
        <p:nvSpPr>
          <p:cNvPr id="2" name="Text 0"/>
          <p:cNvSpPr/>
          <p:nvPr/>
        </p:nvSpPr>
        <p:spPr>
          <a:xfrm>
            <a:off x="640080" y="182880"/>
            <a:ext cx="10972800" cy="594360"/>
          </a:xfrm>
          <a:prstGeom prst="rect">
            <a:avLst/>
          </a:prstGeom>
          <a:noFill/>
          <a:ln/>
        </p:spPr>
        <p:txBody>
          <a:bodyPr wrap="square" rtlCol="0" anchor="ctr"/>
          <a:lstStyle/>
          <a:p>
            <a:pPr indent="0" marL="0">
              <a:buNone/>
            </a:pPr>
            <a:r>
              <a:rPr lang="en-US" sz="3200" b="1" dirty="0">
                <a:solidFill>
                  <a:srgbClr val="FFFFFF"/>
                </a:solidFill>
                <a:latin typeface="Calibri Light" pitchFamily="34" charset="0"/>
                <a:ea typeface="Calibri Light" pitchFamily="34" charset="-122"/>
                <a:cs typeface="Calibri Light" pitchFamily="34" charset="-120"/>
              </a:rPr>
              <a:t>Functions vs Classes — Code Example</a:t>
            </a:r>
            <a:endParaRPr lang="en-US" sz="3200" dirty="0"/>
          </a:p>
        </p:txBody>
      </p:sp>
      <p:sp>
        <p:nvSpPr>
          <p:cNvPr id="3" name="Text 1"/>
          <p:cNvSpPr/>
          <p:nvPr/>
        </p:nvSpPr>
        <p:spPr>
          <a:xfrm>
            <a:off x="457200" y="868680"/>
            <a:ext cx="5394960" cy="411480"/>
          </a:xfrm>
          <a:prstGeom prst="rect">
            <a:avLst/>
          </a:prstGeom>
          <a:noFill/>
          <a:ln/>
        </p:spPr>
        <p:txBody>
          <a:bodyPr wrap="square" rtlCol="0" anchor="ctr"/>
          <a:lstStyle/>
          <a:p>
            <a:pPr indent="0" marL="0">
              <a:buNone/>
            </a:pPr>
            <a:r>
              <a:rPr lang="en-US" sz="1400" b="1" dirty="0">
                <a:solidFill>
                  <a:srgbClr val="4FC3F7"/>
                </a:solidFill>
                <a:latin typeface="Calibri" pitchFamily="34" charset="0"/>
                <a:ea typeface="Calibri" pitchFamily="34" charset="-122"/>
                <a:cs typeface="Calibri" pitchFamily="34" charset="-120"/>
              </a:rPr>
              <a:t>Function (stateless)</a:t>
            </a:r>
            <a:endParaRPr lang="en-US" sz="1400" dirty="0"/>
          </a:p>
        </p:txBody>
      </p:sp>
      <p:sp>
        <p:nvSpPr>
          <p:cNvPr id="4" name="Text 2"/>
          <p:cNvSpPr/>
          <p:nvPr/>
        </p:nvSpPr>
        <p:spPr>
          <a:xfrm>
            <a:off x="6336792" y="868680"/>
            <a:ext cx="5394960" cy="411480"/>
          </a:xfrm>
          <a:prstGeom prst="rect">
            <a:avLst/>
          </a:prstGeom>
          <a:noFill/>
          <a:ln/>
        </p:spPr>
        <p:txBody>
          <a:bodyPr wrap="square" rtlCol="0" anchor="ctr"/>
          <a:lstStyle/>
          <a:p>
            <a:pPr indent="0" marL="0">
              <a:buNone/>
            </a:pPr>
            <a:r>
              <a:rPr lang="en-US" sz="1400" b="1" dirty="0">
                <a:solidFill>
                  <a:srgbClr val="4FC3F7"/>
                </a:solidFill>
                <a:latin typeface="Calibri" pitchFamily="34" charset="0"/>
                <a:ea typeface="Calibri" pitchFamily="34" charset="-122"/>
                <a:cs typeface="Calibri" pitchFamily="34" charset="-120"/>
              </a:rPr>
              <a:t>Class (stateful)</a:t>
            </a:r>
            <a:endParaRPr lang="en-US" sz="1400" dirty="0"/>
          </a:p>
        </p:txBody>
      </p:sp>
      <p:sp>
        <p:nvSpPr>
          <p:cNvPr id="5" name="Shape 3"/>
          <p:cNvSpPr/>
          <p:nvPr/>
        </p:nvSpPr>
        <p:spPr>
          <a:xfrm>
            <a:off x="457200" y="1280160"/>
            <a:ext cx="5394960" cy="4572000"/>
          </a:xfrm>
          <a:prstGeom prst="rect">
            <a:avLst>
              <a:gd name="adj" fmla="val 2000"/>
            </a:avLst>
          </a:prstGeom>
          <a:solidFill>
            <a:srgbClr val="0D1117"/>
          </a:solidFill>
          <a:ln/>
        </p:spPr>
      </p:sp>
      <p:sp>
        <p:nvSpPr>
          <p:cNvPr id="6" name="Shape 4"/>
          <p:cNvSpPr/>
          <p:nvPr/>
        </p:nvSpPr>
        <p:spPr>
          <a:xfrm>
            <a:off x="6336792" y="1280160"/>
            <a:ext cx="5394960" cy="4572000"/>
          </a:xfrm>
          <a:prstGeom prst="rect">
            <a:avLst>
              <a:gd name="adj" fmla="val 2000"/>
            </a:avLst>
          </a:prstGeom>
          <a:solidFill>
            <a:srgbClr val="0D1117"/>
          </a:solidFill>
          <a:ln/>
        </p:spPr>
      </p:sp>
      <p:sp>
        <p:nvSpPr>
          <p:cNvPr id="7" name="Shape 5"/>
          <p:cNvSpPr/>
          <p:nvPr/>
        </p:nvSpPr>
        <p:spPr>
          <a:xfrm>
            <a:off x="6094476" y="914400"/>
            <a:ext cx="0" cy="5120640"/>
          </a:xfrm>
          <a:prstGeom prst="line">
            <a:avLst/>
          </a:prstGeom>
          <a:noFill/>
          <a:ln w="12700">
            <a:solidFill>
              <a:srgbClr val="444466"/>
            </a:solidFill>
            <a:prstDash val="solid"/>
          </a:ln>
        </p:spPr>
      </p:sp>
      <p:sp>
        <p:nvSpPr>
          <p:cNvPr id="8" name="Text 6"/>
          <p:cNvSpPr/>
          <p:nvPr/>
        </p:nvSpPr>
        <p:spPr>
          <a:xfrm>
            <a:off x="594360" y="1371600"/>
            <a:ext cx="5120640" cy="4389120"/>
          </a:xfrm>
          <a:prstGeom prst="rect">
            <a:avLst/>
          </a:prstGeom>
          <a:noFill/>
          <a:ln/>
        </p:spPr>
        <p:txBody>
          <a:bodyPr wrap="square" rtlCol="0" anchor="t"/>
          <a:lstStyle/>
          <a:p>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def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parse_reading</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raw</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str</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&gt;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float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CE9178"/>
                </a:solidFill>
                <a:latin typeface="Consolas" pitchFamily="34" charset="0"/>
                <a:ea typeface="Consolas" pitchFamily="34" charset="-122"/>
                <a:cs typeface="Consolas" pitchFamily="34" charset="-120"/>
              </a:rPr>
              <a:t>"""No state needed, just transform."""</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parts</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raw</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strip</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split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CE9178"/>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return</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float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parts</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B5CEA8"/>
                </a:solidFill>
                <a:latin typeface="Consolas" pitchFamily="34" charset="0"/>
                <a:ea typeface="Consolas" pitchFamily="34" charset="-122"/>
                <a:cs typeface="Consolas" pitchFamily="34" charset="-120"/>
              </a:rPr>
              <a:t>1</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result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parse_reading</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CE9178"/>
                </a:solidFill>
                <a:latin typeface="Consolas" pitchFamily="34" charset="0"/>
                <a:ea typeface="Consolas" pitchFamily="34" charset="-122"/>
                <a:cs typeface="Consolas" pitchFamily="34" charset="-120"/>
              </a:rPr>
              <a:t>"TEMP,23.5,C"</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endParaRPr lang="en-US" sz="1100" dirty="0"/>
          </a:p>
        </p:txBody>
      </p:sp>
      <p:sp>
        <p:nvSpPr>
          <p:cNvPr id="9" name="Text 7"/>
          <p:cNvSpPr/>
          <p:nvPr/>
        </p:nvSpPr>
        <p:spPr>
          <a:xfrm>
            <a:off x="6473952" y="1371600"/>
            <a:ext cx="5120640" cy="4389120"/>
          </a:xfrm>
          <a:prstGeom prst="rect">
            <a:avLst/>
          </a:prstGeom>
          <a:noFill/>
          <a:ln/>
        </p:spPr>
        <p:txBody>
          <a:bodyPr wrap="square" rtlCol="0" anchor="t"/>
          <a:lstStyle/>
          <a:p>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class</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4EC9B0"/>
                </a:solidFill>
                <a:latin typeface="Consolas" pitchFamily="34" charset="0"/>
                <a:ea typeface="Consolas" pitchFamily="34" charset="-122"/>
                <a:cs typeface="Consolas" pitchFamily="34" charset="-120"/>
              </a:rPr>
              <a:t>SerialConnection</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CE9178"/>
                </a:solidFill>
                <a:latin typeface="Consolas" pitchFamily="34" charset="0"/>
                <a:ea typeface="Consolas" pitchFamily="34" charset="-122"/>
                <a:cs typeface="Consolas" pitchFamily="34" charset="-120"/>
              </a:rPr>
              <a:t>"""Has state: port, baud rate, open/closed."""</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def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__init__</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port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baud_rate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B5CEA8"/>
                </a:solidFill>
                <a:latin typeface="Consolas" pitchFamily="34" charset="0"/>
                <a:ea typeface="Consolas" pitchFamily="34" charset="-122"/>
                <a:cs typeface="Consolas" pitchFamily="34" charset="-120"/>
              </a:rPr>
              <a:t>9600</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port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port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baud_rate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baud_rate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_serial</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None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def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open</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_serial</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serial</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Serial</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port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baud_rate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def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read</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&gt;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str</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return</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_serial</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readline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decode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endParaRPr lang="en-US" sz="1100" dirty="0"/>
          </a:p>
        </p:txBody>
      </p:sp>
      <p:sp>
        <p:nvSpPr>
          <p:cNvPr id="10" name="Text 8"/>
          <p:cNvSpPr/>
          <p:nvPr/>
        </p:nvSpPr>
        <p:spPr>
          <a:xfrm>
            <a:off x="640080" y="5989320"/>
            <a:ext cx="10972800" cy="548640"/>
          </a:xfrm>
          <a:prstGeom prst="rect">
            <a:avLst/>
          </a:prstGeom>
          <a:noFill/>
          <a:ln/>
        </p:spPr>
        <p:txBody>
          <a:bodyPr wrap="square" rtlCol="0" anchor="ctr"/>
          <a:lstStyle/>
          <a:p>
            <a:pPr algn="ctr" indent="0" marL="0">
              <a:buNone/>
            </a:pPr>
            <a:r>
              <a:rPr lang="en-US" sz="1300" i="1" dirty="0">
                <a:solidFill>
                  <a:srgbClr val="4FC3F7"/>
                </a:solidFill>
                <a:latin typeface="Calibri" pitchFamily="34" charset="0"/>
                <a:ea typeface="Calibri" pitchFamily="34" charset="-122"/>
                <a:cs typeface="Calibri" pitchFamily="34" charset="-120"/>
              </a:rPr>
              <a:t>Functions for transformations, classes for things with state and identity</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1E2E"/>
        </a:solidFill>
      </p:bgPr>
    </p:bg>
    <p:spTree>
      <p:nvGrpSpPr>
        <p:cNvPr id="1" name=""/>
        <p:cNvGrpSpPr/>
        <p:nvPr/>
      </p:nvGrpSpPr>
      <p:grpSpPr>
        <a:xfrm>
          <a:off x="0" y="0"/>
          <a:ext cx="0" cy="0"/>
          <a:chOff x="0" y="0"/>
          <a:chExt cx="0" cy="0"/>
        </a:xfrm>
      </p:grpSpPr>
      <p:sp>
        <p:nvSpPr>
          <p:cNvPr id="2" name="Text 0"/>
          <p:cNvSpPr/>
          <p:nvPr/>
        </p:nvSpPr>
        <p:spPr>
          <a:xfrm>
            <a:off x="640080" y="274320"/>
            <a:ext cx="10972800" cy="731520"/>
          </a:xfrm>
          <a:prstGeom prst="rect">
            <a:avLst/>
          </a:prstGeom>
          <a:noFill/>
          <a:ln/>
        </p:spPr>
        <p:txBody>
          <a:bodyPr wrap="square" rtlCol="0" anchor="ctr"/>
          <a:lstStyle/>
          <a:p>
            <a:pPr indent="0" marL="0">
              <a:buNone/>
            </a:pPr>
            <a:r>
              <a:rPr lang="en-US" sz="3600" b="1" dirty="0">
                <a:solidFill>
                  <a:srgbClr val="FFFFFF"/>
                </a:solidFill>
                <a:latin typeface="Calibri Light" pitchFamily="34" charset="0"/>
                <a:ea typeface="Calibri Light" pitchFamily="34" charset="-122"/>
                <a:cs typeface="Calibri Light" pitchFamily="34" charset="-120"/>
              </a:rPr>
              <a:t>What Is an Object</a:t>
            </a:r>
            <a:endParaRPr lang="en-US" sz="3600" dirty="0"/>
          </a:p>
        </p:txBody>
      </p:sp>
      <p:sp>
        <p:nvSpPr>
          <p:cNvPr id="3" name="Text 1"/>
          <p:cNvSpPr/>
          <p:nvPr/>
        </p:nvSpPr>
        <p:spPr>
          <a:xfrm>
            <a:off x="822960" y="1188720"/>
            <a:ext cx="10424160" cy="5029200"/>
          </a:xfrm>
          <a:prstGeom prst="rect">
            <a:avLst/>
          </a:prstGeom>
          <a:noFill/>
          <a:ln/>
        </p:spPr>
        <p:txBody>
          <a:bodyPr wrap="square" rtlCol="0" anchor="t"/>
          <a:lstStyle/>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An object combines state, behaviour, and identity</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Example: TemperatureReading has a value, a unit, a timestamp</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Example: SerialConnection has a port, a baud rate, an open/closed state</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1E2E"/>
        </a:solidFill>
      </p:bgPr>
    </p:bg>
    <p:spTree>
      <p:nvGrpSpPr>
        <p:cNvPr id="1" name=""/>
        <p:cNvGrpSpPr/>
        <p:nvPr/>
      </p:nvGrpSpPr>
      <p:grpSpPr>
        <a:xfrm>
          <a:off x="0" y="0"/>
          <a:ext cx="0" cy="0"/>
          <a:chOff x="0" y="0"/>
          <a:chExt cx="0" cy="0"/>
        </a:xfrm>
      </p:grpSpPr>
      <p:sp>
        <p:nvSpPr>
          <p:cNvPr id="2" name="Text 0"/>
          <p:cNvSpPr/>
          <p:nvPr/>
        </p:nvSpPr>
        <p:spPr>
          <a:xfrm>
            <a:off x="640080" y="182880"/>
            <a:ext cx="10972800" cy="640080"/>
          </a:xfrm>
          <a:prstGeom prst="rect">
            <a:avLst/>
          </a:prstGeom>
          <a:noFill/>
          <a:ln/>
        </p:spPr>
        <p:txBody>
          <a:bodyPr wrap="square" rtlCol="0" anchor="ctr"/>
          <a:lstStyle/>
          <a:p>
            <a:pPr indent="0" marL="0">
              <a:buNone/>
            </a:pPr>
            <a:r>
              <a:rPr lang="en-US" sz="3200" b="1" dirty="0">
                <a:solidFill>
                  <a:srgbClr val="FFFFFF"/>
                </a:solidFill>
                <a:latin typeface="Calibri Light" pitchFamily="34" charset="0"/>
                <a:ea typeface="Calibri Light" pitchFamily="34" charset="-122"/>
                <a:cs typeface="Calibri Light" pitchFamily="34" charset="-120"/>
              </a:rPr>
              <a:t>What Is an Object — Code Example</a:t>
            </a:r>
            <a:endParaRPr lang="en-US" sz="3200" dirty="0"/>
          </a:p>
        </p:txBody>
      </p:sp>
      <p:sp>
        <p:nvSpPr>
          <p:cNvPr id="3" name="Shape 1"/>
          <p:cNvSpPr/>
          <p:nvPr/>
        </p:nvSpPr>
        <p:spPr>
          <a:xfrm>
            <a:off x="457200" y="960120"/>
            <a:ext cx="11274552" cy="4846320"/>
          </a:xfrm>
          <a:prstGeom prst="rect">
            <a:avLst>
              <a:gd name="adj" fmla="val 1887"/>
            </a:avLst>
          </a:prstGeom>
          <a:solidFill>
            <a:srgbClr val="0D1117"/>
          </a:solidFill>
          <a:ln/>
        </p:spPr>
      </p:sp>
      <p:sp>
        <p:nvSpPr>
          <p:cNvPr id="4" name="Text 2"/>
          <p:cNvSpPr/>
          <p:nvPr/>
        </p:nvSpPr>
        <p:spPr>
          <a:xfrm>
            <a:off x="640080" y="1051560"/>
            <a:ext cx="10881360" cy="4663440"/>
          </a:xfrm>
          <a:prstGeom prst="rect">
            <a:avLst/>
          </a:prstGeom>
          <a:noFill/>
          <a:ln/>
        </p:spPr>
        <p:txBody>
          <a:bodyPr wrap="square" rtlCol="0" anchor="t"/>
          <a:lstStyle/>
          <a:p>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class</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4EC9B0"/>
                </a:solidFill>
                <a:latin typeface="Consolas" pitchFamily="34" charset="0"/>
                <a:ea typeface="Consolas" pitchFamily="34" charset="-122"/>
                <a:cs typeface="Consolas" pitchFamily="34" charset="-120"/>
              </a:rPr>
              <a:t>TemperatureReading</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CE9178"/>
                </a:solidFill>
                <a:latin typeface="Consolas" pitchFamily="34" charset="0"/>
                <a:ea typeface="Consolas" pitchFamily="34" charset="-122"/>
                <a:cs typeface="Consolas" pitchFamily="34" charset="-120"/>
              </a:rPr>
              <a:t>"""State: value, unit, timestamp. Behaviour: format, convert."""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def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__init__</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value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float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unit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str</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timestamp</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datetime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value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value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unit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unit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timestamp</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timestamp</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def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format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&gt;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str</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return</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CE9178"/>
                </a:solidFill>
                <a:latin typeface="Consolas" pitchFamily="34" charset="0"/>
                <a:ea typeface="Consolas" pitchFamily="34" charset="-122"/>
                <a:cs typeface="Consolas" pitchFamily="34" charset="-120"/>
              </a:rPr>
              <a:t>f"{self.value:.2f} {self.unit}"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def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to_celsius</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&gt;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float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if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unit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CE9178"/>
                </a:solidFill>
                <a:latin typeface="Consolas" pitchFamily="34" charset="0"/>
                <a:ea typeface="Consolas" pitchFamily="34" charset="-122"/>
                <a:cs typeface="Consolas" pitchFamily="34" charset="-120"/>
              </a:rPr>
              <a:t>"F"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return</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value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B5CEA8"/>
                </a:solidFill>
                <a:latin typeface="Consolas" pitchFamily="34" charset="0"/>
                <a:ea typeface="Consolas" pitchFamily="34" charset="-122"/>
                <a:cs typeface="Consolas" pitchFamily="34" charset="-120"/>
              </a:rPr>
              <a:t>32</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B5CEA8"/>
                </a:solidFill>
                <a:latin typeface="Consolas" pitchFamily="34" charset="0"/>
                <a:ea typeface="Consolas" pitchFamily="34" charset="-122"/>
                <a:cs typeface="Consolas" pitchFamily="34" charset="-120"/>
              </a:rPr>
              <a:t>5</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B5CEA8"/>
                </a:solidFill>
                <a:latin typeface="Consolas" pitchFamily="34" charset="0"/>
                <a:ea typeface="Consolas" pitchFamily="34" charset="-122"/>
                <a:cs typeface="Consolas" pitchFamily="34" charset="-120"/>
              </a:rPr>
              <a:t>9</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return</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value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6A9955"/>
                </a:solidFill>
                <a:latin typeface="Consolas" pitchFamily="34" charset="0"/>
                <a:ea typeface="Consolas" pitchFamily="34" charset="-122"/>
                <a:cs typeface="Consolas" pitchFamily="34" charset="-120"/>
              </a:rPr>
              <a:t># Create an instance — a specific reading with its own identity</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reading</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TemperatureReading</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B5CEA8"/>
                </a:solidFill>
                <a:latin typeface="Consolas" pitchFamily="34" charset="0"/>
                <a:ea typeface="Consolas" pitchFamily="34" charset="-122"/>
                <a:cs typeface="Consolas" pitchFamily="34" charset="-120"/>
              </a:rPr>
              <a:t>23.5</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CE9178"/>
                </a:solidFill>
                <a:latin typeface="Consolas" pitchFamily="34" charset="0"/>
                <a:ea typeface="Consolas" pitchFamily="34" charset="-122"/>
                <a:cs typeface="Consolas" pitchFamily="34" charset="-120"/>
              </a:rPr>
              <a:t>"C"</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datetime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now</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print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reading</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format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6A9955"/>
                </a:solidFill>
                <a:latin typeface="Consolas" pitchFamily="34" charset="0"/>
                <a:ea typeface="Consolas" pitchFamily="34" charset="-122"/>
                <a:cs typeface="Consolas" pitchFamily="34" charset="-120"/>
              </a:rPr>
              <a:t># "23.50 C"</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1E2E"/>
        </a:solidFill>
      </p:bgPr>
    </p:bg>
    <p:spTree>
      <p:nvGrpSpPr>
        <p:cNvPr id="1" name=""/>
        <p:cNvGrpSpPr/>
        <p:nvPr/>
      </p:nvGrpSpPr>
      <p:grpSpPr>
        <a:xfrm>
          <a:off x="0" y="0"/>
          <a:ext cx="0" cy="0"/>
          <a:chOff x="0" y="0"/>
          <a:chExt cx="0" cy="0"/>
        </a:xfrm>
      </p:grpSpPr>
      <p:sp>
        <p:nvSpPr>
          <p:cNvPr id="2" name="Text 0"/>
          <p:cNvSpPr/>
          <p:nvPr/>
        </p:nvSpPr>
        <p:spPr>
          <a:xfrm>
            <a:off x="640080" y="274320"/>
            <a:ext cx="10972800" cy="731520"/>
          </a:xfrm>
          <a:prstGeom prst="rect">
            <a:avLst/>
          </a:prstGeom>
          <a:noFill/>
          <a:ln/>
        </p:spPr>
        <p:txBody>
          <a:bodyPr wrap="square" rtlCol="0" anchor="ctr"/>
          <a:lstStyle/>
          <a:p>
            <a:pPr indent="0" marL="0">
              <a:buNone/>
            </a:pPr>
            <a:r>
              <a:rPr lang="en-US" sz="3600" b="1" dirty="0">
                <a:solidFill>
                  <a:srgbClr val="FFFFFF"/>
                </a:solidFill>
                <a:latin typeface="Calibri Light" pitchFamily="34" charset="0"/>
                <a:ea typeface="Calibri Light" pitchFamily="34" charset="-122"/>
                <a:cs typeface="Calibri Light" pitchFamily="34" charset="-120"/>
              </a:rPr>
              <a:t>State and Responsibility</a:t>
            </a:r>
            <a:endParaRPr lang="en-US" sz="3600" dirty="0"/>
          </a:p>
        </p:txBody>
      </p:sp>
      <p:sp>
        <p:nvSpPr>
          <p:cNvPr id="3" name="Text 1"/>
          <p:cNvSpPr/>
          <p:nvPr/>
        </p:nvSpPr>
        <p:spPr>
          <a:xfrm>
            <a:off x="822960" y="1188720"/>
            <a:ext cx="10424160" cy="5029200"/>
          </a:xfrm>
          <a:prstGeom prst="rect">
            <a:avLst/>
          </a:prstGeom>
          <a:noFill/>
          <a:ln/>
        </p:spPr>
        <p:txBody>
          <a:bodyPr wrap="square" rtlCol="0" anchor="t"/>
          <a:lstStyle/>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Every class should have one clear reason to exist</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TemperatureSensor: reads temperature from the instrument</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DataRecorder: writes readings to a file</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If a class is doing two unrelated things, split it</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Test: describe the class in one sentence. If you need "and", it's two classes</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E1E2E"/>
        </a:solidFill>
      </p:bgPr>
    </p:bg>
    <p:spTree>
      <p:nvGrpSpPr>
        <p:cNvPr id="1" name=""/>
        <p:cNvGrpSpPr/>
        <p:nvPr/>
      </p:nvGrpSpPr>
      <p:grpSpPr>
        <a:xfrm>
          <a:off x="0" y="0"/>
          <a:ext cx="0" cy="0"/>
          <a:chOff x="0" y="0"/>
          <a:chExt cx="0" cy="0"/>
        </a:xfrm>
      </p:grpSpPr>
      <p:sp>
        <p:nvSpPr>
          <p:cNvPr id="2" name="Text 0"/>
          <p:cNvSpPr/>
          <p:nvPr/>
        </p:nvSpPr>
        <p:spPr>
          <a:xfrm>
            <a:off x="640080" y="182880"/>
            <a:ext cx="10972800" cy="594360"/>
          </a:xfrm>
          <a:prstGeom prst="rect">
            <a:avLst/>
          </a:prstGeom>
          <a:noFill/>
          <a:ln/>
        </p:spPr>
        <p:txBody>
          <a:bodyPr wrap="square" rtlCol="0" anchor="ctr"/>
          <a:lstStyle/>
          <a:p>
            <a:pPr indent="0" marL="0">
              <a:buNone/>
            </a:pPr>
            <a:r>
              <a:rPr lang="en-US" sz="3200" b="1" dirty="0">
                <a:solidFill>
                  <a:srgbClr val="FFFFFF"/>
                </a:solidFill>
                <a:latin typeface="Calibri Light" pitchFamily="34" charset="0"/>
                <a:ea typeface="Calibri Light" pitchFamily="34" charset="-122"/>
                <a:cs typeface="Calibri Light" pitchFamily="34" charset="-120"/>
              </a:rPr>
              <a:t>State and Responsibility — Bad vs Good</a:t>
            </a:r>
            <a:endParaRPr lang="en-US" sz="3200" dirty="0"/>
          </a:p>
        </p:txBody>
      </p:sp>
      <p:sp>
        <p:nvSpPr>
          <p:cNvPr id="3" name="Text 1"/>
          <p:cNvSpPr/>
          <p:nvPr/>
        </p:nvSpPr>
        <p:spPr>
          <a:xfrm>
            <a:off x="457200" y="868680"/>
            <a:ext cx="5394960" cy="411480"/>
          </a:xfrm>
          <a:prstGeom prst="rect">
            <a:avLst/>
          </a:prstGeom>
          <a:noFill/>
          <a:ln/>
        </p:spPr>
        <p:txBody>
          <a:bodyPr wrap="square" rtlCol="0" anchor="ctr"/>
          <a:lstStyle/>
          <a:p>
            <a:pPr indent="0" marL="0">
              <a:buNone/>
            </a:pPr>
            <a:r>
              <a:rPr lang="en-US" sz="1400" b="1" dirty="0">
                <a:solidFill>
                  <a:srgbClr val="FF6B6B"/>
                </a:solidFill>
                <a:latin typeface="Calibri" pitchFamily="34" charset="0"/>
                <a:ea typeface="Calibri" pitchFamily="34" charset="-122"/>
                <a:cs typeface="Calibri" pitchFamily="34" charset="-120"/>
              </a:rPr>
              <a:t>Too many responsibilities</a:t>
            </a:r>
            <a:endParaRPr lang="en-US" sz="1400" dirty="0"/>
          </a:p>
        </p:txBody>
      </p:sp>
      <p:sp>
        <p:nvSpPr>
          <p:cNvPr id="4" name="Text 2"/>
          <p:cNvSpPr/>
          <p:nvPr/>
        </p:nvSpPr>
        <p:spPr>
          <a:xfrm>
            <a:off x="6336792" y="868680"/>
            <a:ext cx="5394960" cy="411480"/>
          </a:xfrm>
          <a:prstGeom prst="rect">
            <a:avLst/>
          </a:prstGeom>
          <a:noFill/>
          <a:ln/>
        </p:spPr>
        <p:txBody>
          <a:bodyPr wrap="square" rtlCol="0" anchor="ctr"/>
          <a:lstStyle/>
          <a:p>
            <a:pPr indent="0" marL="0">
              <a:buNone/>
            </a:pPr>
            <a:r>
              <a:rPr lang="en-US" sz="1400" b="1" dirty="0">
                <a:solidFill>
                  <a:srgbClr val="66BB6A"/>
                </a:solidFill>
                <a:latin typeface="Calibri" pitchFamily="34" charset="0"/>
                <a:ea typeface="Calibri" pitchFamily="34" charset="-122"/>
                <a:cs typeface="Calibri" pitchFamily="34" charset="-120"/>
              </a:rPr>
              <a:t>One job each</a:t>
            </a:r>
            <a:endParaRPr lang="en-US" sz="1400" dirty="0"/>
          </a:p>
        </p:txBody>
      </p:sp>
      <p:sp>
        <p:nvSpPr>
          <p:cNvPr id="5" name="Shape 3"/>
          <p:cNvSpPr/>
          <p:nvPr/>
        </p:nvSpPr>
        <p:spPr>
          <a:xfrm>
            <a:off x="457200" y="1280160"/>
            <a:ext cx="5394960" cy="4572000"/>
          </a:xfrm>
          <a:prstGeom prst="rect">
            <a:avLst>
              <a:gd name="adj" fmla="val 2000"/>
            </a:avLst>
          </a:prstGeom>
          <a:solidFill>
            <a:srgbClr val="0D1117"/>
          </a:solidFill>
          <a:ln/>
        </p:spPr>
      </p:sp>
      <p:sp>
        <p:nvSpPr>
          <p:cNvPr id="6" name="Shape 4"/>
          <p:cNvSpPr/>
          <p:nvPr/>
        </p:nvSpPr>
        <p:spPr>
          <a:xfrm>
            <a:off x="6336792" y="1280160"/>
            <a:ext cx="5394960" cy="4572000"/>
          </a:xfrm>
          <a:prstGeom prst="rect">
            <a:avLst>
              <a:gd name="adj" fmla="val 2000"/>
            </a:avLst>
          </a:prstGeom>
          <a:solidFill>
            <a:srgbClr val="0D1117"/>
          </a:solidFill>
          <a:ln/>
        </p:spPr>
      </p:sp>
      <p:sp>
        <p:nvSpPr>
          <p:cNvPr id="7" name="Shape 5"/>
          <p:cNvSpPr/>
          <p:nvPr/>
        </p:nvSpPr>
        <p:spPr>
          <a:xfrm>
            <a:off x="6094476" y="914400"/>
            <a:ext cx="0" cy="5120640"/>
          </a:xfrm>
          <a:prstGeom prst="line">
            <a:avLst/>
          </a:prstGeom>
          <a:noFill/>
          <a:ln w="12700">
            <a:solidFill>
              <a:srgbClr val="444466"/>
            </a:solidFill>
            <a:prstDash val="solid"/>
          </a:ln>
        </p:spPr>
      </p:sp>
      <p:sp>
        <p:nvSpPr>
          <p:cNvPr id="8" name="Text 6"/>
          <p:cNvSpPr/>
          <p:nvPr/>
        </p:nvSpPr>
        <p:spPr>
          <a:xfrm>
            <a:off x="594360" y="1371600"/>
            <a:ext cx="5120640" cy="4389120"/>
          </a:xfrm>
          <a:prstGeom prst="rect">
            <a:avLst/>
          </a:prstGeom>
          <a:noFill/>
          <a:ln/>
        </p:spPr>
        <p:txBody>
          <a:bodyPr wrap="square" rtlCol="0" anchor="t"/>
          <a:lstStyle/>
          <a:p>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class</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4EC9B0"/>
                </a:solidFill>
                <a:latin typeface="Consolas" pitchFamily="34" charset="0"/>
                <a:ea typeface="Consolas" pitchFamily="34" charset="-122"/>
                <a:cs typeface="Consolas" pitchFamily="34" charset="-120"/>
              </a:rPr>
              <a:t>InstrumentManager</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CE9178"/>
                </a:solidFill>
                <a:latin typeface="Consolas" pitchFamily="34" charset="0"/>
                <a:ea typeface="Consolas" pitchFamily="34" charset="-122"/>
                <a:cs typeface="Consolas" pitchFamily="34" charset="-120"/>
              </a:rPr>
              <a:t>"""Reads AND records AND displays."""</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def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__init__</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port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serial</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serial</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Serial</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port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csv_file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open</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CE9178"/>
                </a:solidFill>
                <a:latin typeface="Consolas" pitchFamily="34" charset="0"/>
                <a:ea typeface="Consolas" pitchFamily="34" charset="-122"/>
                <a:cs typeface="Consolas" pitchFamily="34" charset="-120"/>
              </a:rPr>
              <a:t>"data.csv"</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CE9178"/>
                </a:solidFill>
                <a:latin typeface="Consolas" pitchFamily="34" charset="0"/>
                <a:ea typeface="Consolas" pitchFamily="34" charset="-122"/>
                <a:cs typeface="Consolas" pitchFamily="34" charset="-120"/>
              </a:rPr>
              <a:t>"w"</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label</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QLabel</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def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do_everything</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raw</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serial</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readline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value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float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raw</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split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b</a:t>
            </a:r>
            <a:pPr indent="0" marL="0">
              <a:lnSpc>
                <a:spcPct val="105000"/>
              </a:lnSpc>
              <a:buNone/>
            </a:pPr>
            <a:r>
              <a:rPr lang="en-US" sz="1100" dirty="0">
                <a:solidFill>
                  <a:srgbClr val="CE9178"/>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B5CEA8"/>
                </a:solidFill>
                <a:latin typeface="Consolas" pitchFamily="34" charset="0"/>
                <a:ea typeface="Consolas" pitchFamily="34" charset="-122"/>
                <a:cs typeface="Consolas" pitchFamily="34" charset="-120"/>
              </a:rPr>
              <a:t>1</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csv_file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write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CE9178"/>
                </a:solidFill>
                <a:latin typeface="Consolas" pitchFamily="34" charset="0"/>
                <a:ea typeface="Consolas" pitchFamily="34" charset="-122"/>
                <a:cs typeface="Consolas" pitchFamily="34" charset="-120"/>
              </a:rPr>
              <a:t>f"{value}\n"</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label</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setText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CE9178"/>
                </a:solidFill>
                <a:latin typeface="Consolas" pitchFamily="34" charset="0"/>
                <a:ea typeface="Consolas" pitchFamily="34" charset="-122"/>
                <a:cs typeface="Consolas" pitchFamily="34" charset="-120"/>
              </a:rPr>
              <a:t>f"{value:.2f}"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endParaRPr lang="en-US" sz="1100" dirty="0"/>
          </a:p>
        </p:txBody>
      </p:sp>
      <p:sp>
        <p:nvSpPr>
          <p:cNvPr id="9" name="Text 7"/>
          <p:cNvSpPr/>
          <p:nvPr/>
        </p:nvSpPr>
        <p:spPr>
          <a:xfrm>
            <a:off x="6473952" y="1371600"/>
            <a:ext cx="5120640" cy="4389120"/>
          </a:xfrm>
          <a:prstGeom prst="rect">
            <a:avLst/>
          </a:prstGeom>
          <a:noFill/>
          <a:ln/>
        </p:spPr>
        <p:txBody>
          <a:bodyPr wrap="square" rtlCol="0" anchor="t"/>
          <a:lstStyle/>
          <a:p>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class</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4EC9B0"/>
                </a:solidFill>
                <a:latin typeface="Consolas" pitchFamily="34" charset="0"/>
                <a:ea typeface="Consolas" pitchFamily="34" charset="-122"/>
                <a:cs typeface="Consolas" pitchFamily="34" charset="-120"/>
              </a:rPr>
              <a:t>Sensor</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CE9178"/>
                </a:solidFill>
                <a:latin typeface="Consolas" pitchFamily="34" charset="0"/>
                <a:ea typeface="Consolas" pitchFamily="34" charset="-122"/>
                <a:cs typeface="Consolas" pitchFamily="34" charset="-120"/>
              </a:rPr>
              <a:t>"""Reads from instrument."""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def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read</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&gt;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float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class</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4EC9B0"/>
                </a:solidFill>
                <a:latin typeface="Consolas" pitchFamily="34" charset="0"/>
                <a:ea typeface="Consolas" pitchFamily="34" charset="-122"/>
                <a:cs typeface="Consolas" pitchFamily="34" charset="-120"/>
              </a:rPr>
              <a:t>Recorder</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CE9178"/>
                </a:solidFill>
                <a:latin typeface="Consolas" pitchFamily="34" charset="0"/>
                <a:ea typeface="Consolas" pitchFamily="34" charset="-122"/>
                <a:cs typeface="Consolas" pitchFamily="34" charset="-120"/>
              </a:rPr>
              <a:t>"""Writes to file."""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def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write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value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float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class</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4EC9B0"/>
                </a:solidFill>
                <a:latin typeface="Consolas" pitchFamily="34" charset="0"/>
                <a:ea typeface="Consolas" pitchFamily="34" charset="-122"/>
                <a:cs typeface="Consolas" pitchFamily="34" charset="-120"/>
              </a:rPr>
              <a:t>Display</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CE9178"/>
                </a:solidFill>
                <a:latin typeface="Consolas" pitchFamily="34" charset="0"/>
                <a:ea typeface="Consolas" pitchFamily="34" charset="-122"/>
                <a:cs typeface="Consolas" pitchFamily="34" charset="-120"/>
              </a:rPr>
              <a:t>"""Shows to user."""</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def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update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value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float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6A9955"/>
                </a:solidFill>
                <a:latin typeface="Consolas" pitchFamily="34" charset="0"/>
                <a:ea typeface="Consolas" pitchFamily="34" charset="-122"/>
                <a:cs typeface="Consolas" pitchFamily="34" charset="-120"/>
              </a:rPr>
              <a:t># Each can change independently</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1E2E"/>
        </a:solidFill>
      </p:bgPr>
    </p:bg>
    <p:spTree>
      <p:nvGrpSpPr>
        <p:cNvPr id="1" name=""/>
        <p:cNvGrpSpPr/>
        <p:nvPr/>
      </p:nvGrpSpPr>
      <p:grpSpPr>
        <a:xfrm>
          <a:off x="0" y="0"/>
          <a:ext cx="0" cy="0"/>
          <a:chOff x="0" y="0"/>
          <a:chExt cx="0" cy="0"/>
        </a:xfrm>
      </p:grpSpPr>
      <p:sp>
        <p:nvSpPr>
          <p:cNvPr id="2" name="Text 0"/>
          <p:cNvSpPr/>
          <p:nvPr/>
        </p:nvSpPr>
        <p:spPr>
          <a:xfrm>
            <a:off x="640080" y="274320"/>
            <a:ext cx="10972800" cy="731520"/>
          </a:xfrm>
          <a:prstGeom prst="rect">
            <a:avLst/>
          </a:prstGeom>
          <a:noFill/>
          <a:ln/>
        </p:spPr>
        <p:txBody>
          <a:bodyPr wrap="square" rtlCol="0" anchor="ctr"/>
          <a:lstStyle/>
          <a:p>
            <a:pPr indent="0" marL="0">
              <a:buNone/>
            </a:pPr>
            <a:r>
              <a:rPr lang="en-US" sz="3600" b="1" dirty="0">
                <a:solidFill>
                  <a:srgbClr val="FFFFFF"/>
                </a:solidFill>
                <a:latin typeface="Calibri Light" pitchFamily="34" charset="0"/>
                <a:ea typeface="Calibri Light" pitchFamily="34" charset="-122"/>
                <a:cs typeface="Calibri Light" pitchFamily="34" charset="-120"/>
              </a:rPr>
              <a:t>Composition vs Inheritance</a:t>
            </a:r>
            <a:endParaRPr lang="en-US" sz="3600" dirty="0"/>
          </a:p>
        </p:txBody>
      </p:sp>
      <p:sp>
        <p:nvSpPr>
          <p:cNvPr id="3" name="Text 1"/>
          <p:cNvSpPr/>
          <p:nvPr/>
        </p:nvSpPr>
        <p:spPr>
          <a:xfrm>
            <a:off x="822960" y="1188720"/>
            <a:ext cx="10424160" cy="5029200"/>
          </a:xfrm>
          <a:prstGeom prst="rect">
            <a:avLst/>
          </a:prstGeom>
          <a:noFill/>
          <a:ln/>
        </p:spPr>
        <p:txBody>
          <a:bodyPr wrap="square" rtlCol="0" anchor="t"/>
          <a:lstStyle/>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Inheritance ("is a"): use sparingly, mainly for the adapter interface</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Composition ("has a"): use by default, most instrument code benefits from this</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DataAcquisitionSystem HAS a sensor, HAS a recorder, HAS a display</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It is NOT a sensor, NOT a recorder, NOT a display</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In instrument code, composition wins almost always</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E1E2E"/>
        </a:solidFill>
      </p:bgPr>
    </p:bg>
    <p:spTree>
      <p:nvGrpSpPr>
        <p:cNvPr id="1" name=""/>
        <p:cNvGrpSpPr/>
        <p:nvPr/>
      </p:nvGrpSpPr>
      <p:grpSpPr>
        <a:xfrm>
          <a:off x="0" y="0"/>
          <a:ext cx="0" cy="0"/>
          <a:chOff x="0" y="0"/>
          <a:chExt cx="0" cy="0"/>
        </a:xfrm>
      </p:grpSpPr>
      <p:sp>
        <p:nvSpPr>
          <p:cNvPr id="2" name="Text 0"/>
          <p:cNvSpPr/>
          <p:nvPr/>
        </p:nvSpPr>
        <p:spPr>
          <a:xfrm>
            <a:off x="640080" y="182880"/>
            <a:ext cx="10972800" cy="594360"/>
          </a:xfrm>
          <a:prstGeom prst="rect">
            <a:avLst/>
          </a:prstGeom>
          <a:noFill/>
          <a:ln/>
        </p:spPr>
        <p:txBody>
          <a:bodyPr wrap="square" rtlCol="0" anchor="ctr"/>
          <a:lstStyle/>
          <a:p>
            <a:pPr indent="0" marL="0">
              <a:buNone/>
            </a:pPr>
            <a:r>
              <a:rPr lang="en-US" sz="3200" b="1" dirty="0">
                <a:solidFill>
                  <a:srgbClr val="FFFFFF"/>
                </a:solidFill>
                <a:latin typeface="Calibri Light" pitchFamily="34" charset="0"/>
                <a:ea typeface="Calibri Light" pitchFamily="34" charset="-122"/>
                <a:cs typeface="Calibri Light" pitchFamily="34" charset="-120"/>
              </a:rPr>
              <a:t>Composition vs Inheritance — Code</a:t>
            </a:r>
            <a:endParaRPr lang="en-US" sz="3200" dirty="0"/>
          </a:p>
        </p:txBody>
      </p:sp>
      <p:sp>
        <p:nvSpPr>
          <p:cNvPr id="3" name="Text 1"/>
          <p:cNvSpPr/>
          <p:nvPr/>
        </p:nvSpPr>
        <p:spPr>
          <a:xfrm>
            <a:off x="457200" y="868680"/>
            <a:ext cx="5394960" cy="411480"/>
          </a:xfrm>
          <a:prstGeom prst="rect">
            <a:avLst/>
          </a:prstGeom>
          <a:noFill/>
          <a:ln/>
        </p:spPr>
        <p:txBody>
          <a:bodyPr wrap="square" rtlCol="0" anchor="ctr"/>
          <a:lstStyle/>
          <a:p>
            <a:pPr indent="0" marL="0">
              <a:buNone/>
            </a:pPr>
            <a:r>
              <a:rPr lang="en-US" sz="1400" b="1" dirty="0">
                <a:solidFill>
                  <a:srgbClr val="FF6B6B"/>
                </a:solidFill>
                <a:latin typeface="Calibri" pitchFamily="34" charset="0"/>
                <a:ea typeface="Calibri" pitchFamily="34" charset="-122"/>
                <a:cs typeface="Calibri" pitchFamily="34" charset="-120"/>
              </a:rPr>
              <a:t>Inheritance (fragile)</a:t>
            </a:r>
            <a:endParaRPr lang="en-US" sz="1400" dirty="0"/>
          </a:p>
        </p:txBody>
      </p:sp>
      <p:sp>
        <p:nvSpPr>
          <p:cNvPr id="4" name="Text 2"/>
          <p:cNvSpPr/>
          <p:nvPr/>
        </p:nvSpPr>
        <p:spPr>
          <a:xfrm>
            <a:off x="6336792" y="868680"/>
            <a:ext cx="5394960" cy="411480"/>
          </a:xfrm>
          <a:prstGeom prst="rect">
            <a:avLst/>
          </a:prstGeom>
          <a:noFill/>
          <a:ln/>
        </p:spPr>
        <p:txBody>
          <a:bodyPr wrap="square" rtlCol="0" anchor="ctr"/>
          <a:lstStyle/>
          <a:p>
            <a:pPr indent="0" marL="0">
              <a:buNone/>
            </a:pPr>
            <a:r>
              <a:rPr lang="en-US" sz="1400" b="1" dirty="0">
                <a:solidFill>
                  <a:srgbClr val="66BB6A"/>
                </a:solidFill>
                <a:latin typeface="Calibri" pitchFamily="34" charset="0"/>
                <a:ea typeface="Calibri" pitchFamily="34" charset="-122"/>
                <a:cs typeface="Calibri" pitchFamily="34" charset="-120"/>
              </a:rPr>
              <a:t>Composition (flexible)</a:t>
            </a:r>
            <a:endParaRPr lang="en-US" sz="1400" dirty="0"/>
          </a:p>
        </p:txBody>
      </p:sp>
      <p:sp>
        <p:nvSpPr>
          <p:cNvPr id="5" name="Shape 3"/>
          <p:cNvSpPr/>
          <p:nvPr/>
        </p:nvSpPr>
        <p:spPr>
          <a:xfrm>
            <a:off x="457200" y="1280160"/>
            <a:ext cx="5394960" cy="4572000"/>
          </a:xfrm>
          <a:prstGeom prst="rect">
            <a:avLst>
              <a:gd name="adj" fmla="val 2000"/>
            </a:avLst>
          </a:prstGeom>
          <a:solidFill>
            <a:srgbClr val="0D1117"/>
          </a:solidFill>
          <a:ln/>
        </p:spPr>
      </p:sp>
      <p:sp>
        <p:nvSpPr>
          <p:cNvPr id="6" name="Shape 4"/>
          <p:cNvSpPr/>
          <p:nvPr/>
        </p:nvSpPr>
        <p:spPr>
          <a:xfrm>
            <a:off x="6336792" y="1280160"/>
            <a:ext cx="5394960" cy="4572000"/>
          </a:xfrm>
          <a:prstGeom prst="rect">
            <a:avLst>
              <a:gd name="adj" fmla="val 2000"/>
            </a:avLst>
          </a:prstGeom>
          <a:solidFill>
            <a:srgbClr val="0D1117"/>
          </a:solidFill>
          <a:ln/>
        </p:spPr>
      </p:sp>
      <p:sp>
        <p:nvSpPr>
          <p:cNvPr id="7" name="Shape 5"/>
          <p:cNvSpPr/>
          <p:nvPr/>
        </p:nvSpPr>
        <p:spPr>
          <a:xfrm>
            <a:off x="6094476" y="914400"/>
            <a:ext cx="0" cy="5120640"/>
          </a:xfrm>
          <a:prstGeom prst="line">
            <a:avLst/>
          </a:prstGeom>
          <a:noFill/>
          <a:ln w="12700">
            <a:solidFill>
              <a:srgbClr val="444466"/>
            </a:solidFill>
            <a:prstDash val="solid"/>
          </a:ln>
        </p:spPr>
      </p:sp>
      <p:sp>
        <p:nvSpPr>
          <p:cNvPr id="8" name="Text 6"/>
          <p:cNvSpPr/>
          <p:nvPr/>
        </p:nvSpPr>
        <p:spPr>
          <a:xfrm>
            <a:off x="594360" y="1371600"/>
            <a:ext cx="5120640" cy="4389120"/>
          </a:xfrm>
          <a:prstGeom prst="rect">
            <a:avLst/>
          </a:prstGeom>
          <a:noFill/>
          <a:ln/>
        </p:spPr>
        <p:txBody>
          <a:bodyPr wrap="square" rtlCol="0" anchor="t"/>
          <a:lstStyle/>
          <a:p>
            <a:pPr indent="0" marL="0">
              <a:lnSpc>
                <a:spcPct val="105000"/>
              </a:lnSpc>
              <a:buNone/>
            </a:pPr>
            <a:r>
              <a:rPr lang="en-US" sz="1100" dirty="0">
                <a:solidFill>
                  <a:srgbClr val="6A9955"/>
                </a:solidFill>
                <a:latin typeface="Consolas" pitchFamily="34" charset="0"/>
                <a:ea typeface="Consolas" pitchFamily="34" charset="-122"/>
                <a:cs typeface="Consolas" pitchFamily="34" charset="-120"/>
              </a:rPr>
              <a:t># Inheriting from the sensor? Really?</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class</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DataSystem</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4EC9B0"/>
                </a:solidFill>
                <a:latin typeface="Consolas" pitchFamily="34" charset="0"/>
                <a:ea typeface="Consolas" pitchFamily="34" charset="-122"/>
                <a:cs typeface="Consolas" pitchFamily="34" charset="-120"/>
              </a:rPr>
              <a:t>TemperatureSensor</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CE9178"/>
                </a:solidFill>
                <a:latin typeface="Consolas" pitchFamily="34" charset="0"/>
                <a:ea typeface="Consolas" pitchFamily="34" charset="-122"/>
                <a:cs typeface="Consolas" pitchFamily="34" charset="-120"/>
              </a:rPr>
              <a:t>"""IS a sensor... but also records</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and</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displays</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CE9178"/>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def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record</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def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display</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6A9955"/>
                </a:solidFill>
                <a:latin typeface="Consolas" pitchFamily="34" charset="0"/>
                <a:ea typeface="Consolas" pitchFamily="34" charset="-122"/>
                <a:cs typeface="Consolas" pitchFamily="34" charset="-120"/>
              </a:rPr>
              <a:t># What if we need two sensors?</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6A9955"/>
                </a:solidFill>
                <a:latin typeface="Consolas" pitchFamily="34" charset="0"/>
                <a:ea typeface="Consolas" pitchFamily="34" charset="-122"/>
                <a:cs typeface="Consolas" pitchFamily="34" charset="-120"/>
              </a:rPr>
              <a:t># What if we swap the sensor type?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6A9955"/>
                </a:solidFill>
                <a:latin typeface="Consolas" pitchFamily="34" charset="0"/>
                <a:ea typeface="Consolas" pitchFamily="34" charset="-122"/>
                <a:cs typeface="Consolas" pitchFamily="34" charset="-120"/>
              </a:rPr>
              <a:t># Inheritance locks us in.</a:t>
            </a:r>
            <a:endParaRPr lang="en-US" sz="1100" dirty="0"/>
          </a:p>
        </p:txBody>
      </p:sp>
      <p:sp>
        <p:nvSpPr>
          <p:cNvPr id="9" name="Text 7"/>
          <p:cNvSpPr/>
          <p:nvPr/>
        </p:nvSpPr>
        <p:spPr>
          <a:xfrm>
            <a:off x="6473952" y="1371600"/>
            <a:ext cx="5120640" cy="4389120"/>
          </a:xfrm>
          <a:prstGeom prst="rect">
            <a:avLst/>
          </a:prstGeom>
          <a:noFill/>
          <a:ln/>
        </p:spPr>
        <p:txBody>
          <a:bodyPr wrap="square" rtlCol="0" anchor="t"/>
          <a:lstStyle/>
          <a:p>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class</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4EC9B0"/>
                </a:solidFill>
                <a:latin typeface="Consolas" pitchFamily="34" charset="0"/>
                <a:ea typeface="Consolas" pitchFamily="34" charset="-122"/>
                <a:cs typeface="Consolas" pitchFamily="34" charset="-120"/>
              </a:rPr>
              <a:t>DataSystem</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CE9178"/>
                </a:solidFill>
                <a:latin typeface="Consolas" pitchFamily="34" charset="0"/>
                <a:ea typeface="Consolas" pitchFamily="34" charset="-122"/>
                <a:cs typeface="Consolas" pitchFamily="34" charset="-120"/>
              </a:rPr>
              <a:t>"""HAS a sensor, HAS a recorder."""</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def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__init__</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sensor</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recorder</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sensor</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sensor</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6A9955"/>
                </a:solidFill>
                <a:latin typeface="Consolas" pitchFamily="34" charset="0"/>
                <a:ea typeface="Consolas" pitchFamily="34" charset="-122"/>
                <a:cs typeface="Consolas" pitchFamily="34" charset="-120"/>
              </a:rPr>
              <a:t># injected</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recorder</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recorder</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6A9955"/>
                </a:solidFill>
                <a:latin typeface="Consolas" pitchFamily="34" charset="0"/>
                <a:ea typeface="Consolas" pitchFamily="34" charset="-122"/>
                <a:cs typeface="Consolas" pitchFamily="34" charset="-120"/>
              </a:rPr>
              <a:t># injected</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def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acquire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reading</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sensor</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read</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recorder</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write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reading</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6A9955"/>
                </a:solidFill>
                <a:latin typeface="Consolas" pitchFamily="34" charset="0"/>
                <a:ea typeface="Consolas" pitchFamily="34" charset="-122"/>
                <a:cs typeface="Consolas" pitchFamily="34" charset="-120"/>
              </a:rPr>
              <a:t># Swap sensor? Pass a different one.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6A9955"/>
                </a:solidFill>
                <a:latin typeface="Consolas" pitchFamily="34" charset="0"/>
                <a:ea typeface="Consolas" pitchFamily="34" charset="-122"/>
                <a:cs typeface="Consolas" pitchFamily="34" charset="-120"/>
              </a:rPr>
              <a:t># Add a second sensor? Add another field.</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6A9955"/>
                </a:solidFill>
                <a:latin typeface="Consolas" pitchFamily="34" charset="0"/>
                <a:ea typeface="Consolas" pitchFamily="34" charset="-122"/>
                <a:cs typeface="Consolas" pitchFamily="34" charset="-120"/>
              </a:rPr>
              <a:t># Composition keeps options open.</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E1E2E"/>
        </a:solidFill>
      </p:bgPr>
    </p:bg>
    <p:spTree>
      <p:nvGrpSpPr>
        <p:cNvPr id="1" name=""/>
        <p:cNvGrpSpPr/>
        <p:nvPr/>
      </p:nvGrpSpPr>
      <p:grpSpPr>
        <a:xfrm>
          <a:off x="0" y="0"/>
          <a:ext cx="0" cy="0"/>
          <a:chOff x="0" y="0"/>
          <a:chExt cx="0" cy="0"/>
        </a:xfrm>
      </p:grpSpPr>
      <p:sp>
        <p:nvSpPr>
          <p:cNvPr id="2" name="Text 0"/>
          <p:cNvSpPr/>
          <p:nvPr/>
        </p:nvSpPr>
        <p:spPr>
          <a:xfrm>
            <a:off x="640080" y="274320"/>
            <a:ext cx="10972800" cy="731520"/>
          </a:xfrm>
          <a:prstGeom prst="rect">
            <a:avLst/>
          </a:prstGeom>
          <a:noFill/>
          <a:ln/>
        </p:spPr>
        <p:txBody>
          <a:bodyPr wrap="square" rtlCol="0" anchor="ctr"/>
          <a:lstStyle/>
          <a:p>
            <a:pPr indent="0" marL="0">
              <a:buNone/>
            </a:pPr>
            <a:r>
              <a:rPr lang="en-US" sz="3600" b="1" dirty="0">
                <a:solidFill>
                  <a:srgbClr val="FFFFFF"/>
                </a:solidFill>
                <a:latin typeface="Calibri Light" pitchFamily="34" charset="0"/>
                <a:ea typeface="Calibri Light" pitchFamily="34" charset="-122"/>
                <a:cs typeface="Calibri Light" pitchFamily="34" charset="-120"/>
              </a:rPr>
              <a:t>How to Slice Logic into Small Units</a:t>
            </a:r>
            <a:endParaRPr lang="en-US" sz="3600" dirty="0"/>
          </a:p>
        </p:txBody>
      </p:sp>
      <p:sp>
        <p:nvSpPr>
          <p:cNvPr id="3" name="Text 1"/>
          <p:cNvSpPr/>
          <p:nvPr/>
        </p:nvSpPr>
        <p:spPr>
          <a:xfrm>
            <a:off x="822960" y="1188720"/>
            <a:ext cx="10424160" cy="5029200"/>
          </a:xfrm>
          <a:prstGeom prst="rect">
            <a:avLst/>
          </a:prstGeom>
          <a:noFill/>
          <a:ln/>
        </p:spPr>
        <p:txBody>
          <a:bodyPr wrap="square" rtlCol="0" anchor="t"/>
          <a:lstStyle/>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Find the nouns: instrument, reading, recorder, config, display</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Find the verbs: connect, read, record, display, configure</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Assign each verb to the right noun</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If a noun has too many verbs, split it into two nouns</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E1E2E"/>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4FC3F7"/>
          </a:solidFill>
          <a:ln/>
        </p:spPr>
      </p:sp>
      <p:sp>
        <p:nvSpPr>
          <p:cNvPr id="3" name="Text 1"/>
          <p:cNvSpPr/>
          <p:nvPr/>
        </p:nvSpPr>
        <p:spPr>
          <a:xfrm>
            <a:off x="640080" y="274320"/>
            <a:ext cx="10972800" cy="731520"/>
          </a:xfrm>
          <a:prstGeom prst="rect">
            <a:avLst/>
          </a:prstGeom>
          <a:noFill/>
          <a:ln/>
        </p:spPr>
        <p:txBody>
          <a:bodyPr wrap="square" rtlCol="0" anchor="ctr"/>
          <a:lstStyle/>
          <a:p>
            <a:pPr indent="0" marL="0">
              <a:buNone/>
            </a:pPr>
            <a:r>
              <a:rPr lang="en-US" sz="3600" b="1" dirty="0">
                <a:solidFill>
                  <a:srgbClr val="4FC3F7"/>
                </a:solidFill>
                <a:latin typeface="Calibri Light" pitchFamily="34" charset="0"/>
                <a:ea typeface="Calibri Light" pitchFamily="34" charset="-122"/>
                <a:cs typeface="Calibri Light" pitchFamily="34" charset="-120"/>
              </a:rPr>
              <a:t>Lab 1 — From Script to Classes</a:t>
            </a:r>
            <a:endParaRPr lang="en-US" sz="3600" dirty="0"/>
          </a:p>
        </p:txBody>
      </p:sp>
      <p:sp>
        <p:nvSpPr>
          <p:cNvPr id="4" name="Text 2"/>
          <p:cNvSpPr/>
          <p:nvPr/>
        </p:nvSpPr>
        <p:spPr>
          <a:xfrm>
            <a:off x="822960" y="1188720"/>
            <a:ext cx="10424160" cy="5029200"/>
          </a:xfrm>
          <a:prstGeom prst="rect">
            <a:avLst/>
          </a:prstGeom>
          <a:noFill/>
          <a:ln/>
        </p:spPr>
        <p:txBody>
          <a:bodyPr wrap="square" rtlCol="0" anchor="t"/>
          <a:lstStyle/>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You will receive a messy 200-line script (examples/messy_script.py)</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Read through it and identify at least 3 distinct responsibilities</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Create a class for each responsibility</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Refactor main() so it creates instances and calls methods, no globals</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The refactored version should produce the same output</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Time: 25 to 30 minutes</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E1E2E"/>
        </a:solidFill>
      </p:bgPr>
    </p:bg>
    <p:spTree>
      <p:nvGrpSpPr>
        <p:cNvPr id="1" name=""/>
        <p:cNvGrpSpPr/>
        <p:nvPr/>
      </p:nvGrpSpPr>
      <p:grpSpPr>
        <a:xfrm>
          <a:off x="0" y="0"/>
          <a:ext cx="0" cy="0"/>
          <a:chOff x="0" y="0"/>
          <a:chExt cx="0" cy="0"/>
        </a:xfrm>
      </p:grpSpPr>
      <p:sp>
        <p:nvSpPr>
          <p:cNvPr id="2" name="Text 0"/>
          <p:cNvSpPr/>
          <p:nvPr/>
        </p:nvSpPr>
        <p:spPr>
          <a:xfrm>
            <a:off x="640080" y="274320"/>
            <a:ext cx="10972800" cy="731520"/>
          </a:xfrm>
          <a:prstGeom prst="rect">
            <a:avLst/>
          </a:prstGeom>
          <a:noFill/>
          <a:ln/>
        </p:spPr>
        <p:txBody>
          <a:bodyPr wrap="square" rtlCol="0" anchor="ctr"/>
          <a:lstStyle/>
          <a:p>
            <a:pPr indent="0" marL="0">
              <a:buNone/>
            </a:pPr>
            <a:r>
              <a:rPr lang="en-US" sz="3600" b="1" dirty="0">
                <a:solidFill>
                  <a:srgbClr val="FFFFFF"/>
                </a:solidFill>
                <a:latin typeface="Calibri Light" pitchFamily="34" charset="0"/>
                <a:ea typeface="Calibri Light" pitchFamily="34" charset="-122"/>
                <a:cs typeface="Calibri Light" pitchFamily="34" charset="-120"/>
              </a:rPr>
              <a:t>Lab 1 Debrief</a:t>
            </a:r>
            <a:endParaRPr lang="en-US" sz="3600" dirty="0"/>
          </a:p>
        </p:txBody>
      </p:sp>
      <p:sp>
        <p:nvSpPr>
          <p:cNvPr id="3" name="Text 1"/>
          <p:cNvSpPr/>
          <p:nvPr/>
        </p:nvSpPr>
        <p:spPr>
          <a:xfrm>
            <a:off x="822960" y="1188720"/>
            <a:ext cx="10424160" cy="5029200"/>
          </a:xfrm>
          <a:prstGeom prst="rect">
            <a:avLst/>
          </a:prstGeom>
          <a:noFill/>
          <a:ln/>
        </p:spPr>
        <p:txBody>
          <a:bodyPr wrap="square" rtlCol="0" anchor="t"/>
          <a:lstStyle/>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What classes did you create?</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Good answers: InstrumentReader, DataRecorder, ReadingFormatter</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Common mistake: creating classes that are just namespaces (no state)</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Common mistake: making one giant class that does everything</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There's no single right answer, but some splits are clearly better</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731520" y="2011680"/>
            <a:ext cx="10698480" cy="1280160"/>
          </a:xfrm>
          <a:prstGeom prst="rect">
            <a:avLst/>
          </a:prstGeom>
          <a:noFill/>
          <a:ln/>
        </p:spPr>
        <p:txBody>
          <a:bodyPr wrap="square" rtlCol="0" anchor="ctr"/>
          <a:lstStyle/>
          <a:p>
            <a:pPr algn="l" indent="0" marL="0">
              <a:buNone/>
            </a:pPr>
            <a:r>
              <a:rPr lang="en-US" sz="4400" b="1" dirty="0">
                <a:solidFill>
                  <a:srgbClr val="FFFFFF"/>
                </a:solidFill>
                <a:latin typeface="Calibri Light" pitchFamily="34" charset="0"/>
                <a:ea typeface="Calibri Light" pitchFamily="34" charset="-122"/>
                <a:cs typeface="Calibri Light" pitchFamily="34" charset="-120"/>
              </a:rPr>
              <a:t>Patterns in Instrument Programming</a:t>
            </a:r>
            <a:endParaRPr lang="en-US" sz="4400" dirty="0"/>
          </a:p>
        </p:txBody>
      </p:sp>
      <p:sp>
        <p:nvSpPr>
          <p:cNvPr id="3" name="Text 1"/>
          <p:cNvSpPr/>
          <p:nvPr/>
        </p:nvSpPr>
        <p:spPr>
          <a:xfrm>
            <a:off x="731520" y="3291840"/>
            <a:ext cx="10698480" cy="640080"/>
          </a:xfrm>
          <a:prstGeom prst="rect">
            <a:avLst/>
          </a:prstGeom>
          <a:noFill/>
          <a:ln/>
        </p:spPr>
        <p:txBody>
          <a:bodyPr wrap="square" rtlCol="0" anchor="ctr"/>
          <a:lstStyle/>
          <a:p>
            <a:pPr algn="l" indent="0" marL="0">
              <a:buNone/>
            </a:pPr>
            <a:r>
              <a:rPr lang="en-US" sz="2000" dirty="0">
                <a:solidFill>
                  <a:srgbClr val="4FC3F7"/>
                </a:solidFill>
                <a:latin typeface="Calibri" pitchFamily="34" charset="0"/>
                <a:ea typeface="Calibri" pitchFamily="34" charset="-122"/>
                <a:cs typeface="Calibri" pitchFamily="34" charset="-120"/>
              </a:rPr>
              <a:t>Seams, adapters, and strategies</a:t>
            </a: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E1E2E"/>
        </a:solidFill>
      </p:bgPr>
    </p:bg>
    <p:spTree>
      <p:nvGrpSpPr>
        <p:cNvPr id="1" name=""/>
        <p:cNvGrpSpPr/>
        <p:nvPr/>
      </p:nvGrpSpPr>
      <p:grpSpPr>
        <a:xfrm>
          <a:off x="0" y="0"/>
          <a:ext cx="0" cy="0"/>
          <a:chOff x="0" y="0"/>
          <a:chExt cx="0" cy="0"/>
        </a:xfrm>
      </p:grpSpPr>
      <p:sp>
        <p:nvSpPr>
          <p:cNvPr id="2" name="Text 0"/>
          <p:cNvSpPr/>
          <p:nvPr/>
        </p:nvSpPr>
        <p:spPr>
          <a:xfrm>
            <a:off x="640080" y="274320"/>
            <a:ext cx="10972800" cy="731520"/>
          </a:xfrm>
          <a:prstGeom prst="rect">
            <a:avLst/>
          </a:prstGeom>
          <a:noFill/>
          <a:ln/>
        </p:spPr>
        <p:txBody>
          <a:bodyPr wrap="square" rtlCol="0" anchor="ctr"/>
          <a:lstStyle/>
          <a:p>
            <a:pPr indent="0" marL="0">
              <a:buNone/>
            </a:pPr>
            <a:r>
              <a:rPr lang="en-US" sz="3600" b="1" dirty="0">
                <a:solidFill>
                  <a:srgbClr val="FFFFFF"/>
                </a:solidFill>
                <a:latin typeface="Calibri Light" pitchFamily="34" charset="0"/>
                <a:ea typeface="Calibri Light" pitchFamily="34" charset="-122"/>
                <a:cs typeface="Calibri Light" pitchFamily="34" charset="-120"/>
              </a:rPr>
              <a:t>The Messy Driver</a:t>
            </a:r>
            <a:endParaRPr lang="en-US" sz="3600" dirty="0"/>
          </a:p>
        </p:txBody>
      </p:sp>
      <p:sp>
        <p:nvSpPr>
          <p:cNvPr id="3" name="Text 1"/>
          <p:cNvSpPr/>
          <p:nvPr/>
        </p:nvSpPr>
        <p:spPr>
          <a:xfrm>
            <a:off x="822960" y="1188720"/>
            <a:ext cx="10424160" cy="5029200"/>
          </a:xfrm>
          <a:prstGeom prst="rect">
            <a:avLst/>
          </a:prstGeom>
          <a:noFill/>
          <a:ln/>
        </p:spPr>
        <p:txBody>
          <a:bodyPr wrap="square" rtlCol="0" anchor="t"/>
          <a:lstStyle/>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150-line instrument driver (examples/messy_driver.py)</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Mixed concerns: serial setup, command formatting, response parsing, error handling</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Hardcoded port, baud rate, command strings</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It works, but changing anything is risky</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E1E2E"/>
        </a:solidFill>
      </p:bgPr>
    </p:bg>
    <p:spTree>
      <p:nvGrpSpPr>
        <p:cNvPr id="1" name=""/>
        <p:cNvGrpSpPr/>
        <p:nvPr/>
      </p:nvGrpSpPr>
      <p:grpSpPr>
        <a:xfrm>
          <a:off x="0" y="0"/>
          <a:ext cx="0" cy="0"/>
          <a:chOff x="0" y="0"/>
          <a:chExt cx="0" cy="0"/>
        </a:xfrm>
      </p:grpSpPr>
      <p:sp>
        <p:nvSpPr>
          <p:cNvPr id="2" name="Text 0"/>
          <p:cNvSpPr/>
          <p:nvPr/>
        </p:nvSpPr>
        <p:spPr>
          <a:xfrm>
            <a:off x="640080" y="274320"/>
            <a:ext cx="10972800" cy="731520"/>
          </a:xfrm>
          <a:prstGeom prst="rect">
            <a:avLst/>
          </a:prstGeom>
          <a:noFill/>
          <a:ln/>
        </p:spPr>
        <p:txBody>
          <a:bodyPr wrap="square" rtlCol="0" anchor="ctr"/>
          <a:lstStyle/>
          <a:p>
            <a:pPr indent="0" marL="0">
              <a:buNone/>
            </a:pPr>
            <a:r>
              <a:rPr lang="en-US" sz="3600" b="1" dirty="0">
                <a:solidFill>
                  <a:srgbClr val="FFFFFF"/>
                </a:solidFill>
                <a:latin typeface="Calibri Light" pitchFamily="34" charset="0"/>
                <a:ea typeface="Calibri Light" pitchFamily="34" charset="-122"/>
                <a:cs typeface="Calibri Light" pitchFamily="34" charset="-120"/>
              </a:rPr>
              <a:t>What Is a Seam</a:t>
            </a:r>
            <a:endParaRPr lang="en-US" sz="3600" dirty="0"/>
          </a:p>
        </p:txBody>
      </p:sp>
      <p:sp>
        <p:nvSpPr>
          <p:cNvPr id="3" name="Text 1"/>
          <p:cNvSpPr/>
          <p:nvPr/>
        </p:nvSpPr>
        <p:spPr>
          <a:xfrm>
            <a:off x="822960" y="1188720"/>
            <a:ext cx="10424160" cy="5029200"/>
          </a:xfrm>
          <a:prstGeom prst="rect">
            <a:avLst/>
          </a:prstGeom>
          <a:noFill/>
          <a:ln/>
        </p:spPr>
        <p:txBody>
          <a:bodyPr wrap="square" rtlCol="0" anchor="t"/>
          <a:lstStyle/>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A seam is a point where you can change behaviour without editing surrounding code</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In instrument code, seams are at: the transport layer, the command format, the response parser, and the error handler</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The seams tell you where to cut</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E1E2E"/>
        </a:solidFill>
      </p:bgPr>
    </p:bg>
    <p:spTree>
      <p:nvGrpSpPr>
        <p:cNvPr id="1" name=""/>
        <p:cNvGrpSpPr/>
        <p:nvPr/>
      </p:nvGrpSpPr>
      <p:grpSpPr>
        <a:xfrm>
          <a:off x="0" y="0"/>
          <a:ext cx="0" cy="0"/>
          <a:chOff x="0" y="0"/>
          <a:chExt cx="0" cy="0"/>
        </a:xfrm>
      </p:grpSpPr>
      <p:sp>
        <p:nvSpPr>
          <p:cNvPr id="2" name="Text 0"/>
          <p:cNvSpPr/>
          <p:nvPr/>
        </p:nvSpPr>
        <p:spPr>
          <a:xfrm>
            <a:off x="640080" y="182880"/>
            <a:ext cx="10972800" cy="640080"/>
          </a:xfrm>
          <a:prstGeom prst="rect">
            <a:avLst/>
          </a:prstGeom>
          <a:noFill/>
          <a:ln/>
        </p:spPr>
        <p:txBody>
          <a:bodyPr wrap="square" rtlCol="0" anchor="ctr"/>
          <a:lstStyle/>
          <a:p>
            <a:pPr indent="0" marL="0">
              <a:buNone/>
            </a:pPr>
            <a:r>
              <a:rPr lang="en-US" sz="3200" b="1" dirty="0">
                <a:solidFill>
                  <a:srgbClr val="FFFFFF"/>
                </a:solidFill>
                <a:latin typeface="Calibri Light" pitchFamily="34" charset="0"/>
                <a:ea typeface="Calibri Light" pitchFamily="34" charset="-122"/>
                <a:cs typeface="Calibri Light" pitchFamily="34" charset="-120"/>
              </a:rPr>
              <a:t>Finding Seams — Code Example</a:t>
            </a:r>
            <a:endParaRPr lang="en-US" sz="3200" dirty="0"/>
          </a:p>
        </p:txBody>
      </p:sp>
      <p:sp>
        <p:nvSpPr>
          <p:cNvPr id="3" name="Shape 1"/>
          <p:cNvSpPr/>
          <p:nvPr/>
        </p:nvSpPr>
        <p:spPr>
          <a:xfrm>
            <a:off x="457200" y="960120"/>
            <a:ext cx="11274552" cy="4846320"/>
          </a:xfrm>
          <a:prstGeom prst="rect">
            <a:avLst>
              <a:gd name="adj" fmla="val 1887"/>
            </a:avLst>
          </a:prstGeom>
          <a:solidFill>
            <a:srgbClr val="0D1117"/>
          </a:solidFill>
          <a:ln/>
        </p:spPr>
      </p:sp>
      <p:sp>
        <p:nvSpPr>
          <p:cNvPr id="4" name="Text 2"/>
          <p:cNvSpPr/>
          <p:nvPr/>
        </p:nvSpPr>
        <p:spPr>
          <a:xfrm>
            <a:off x="640080" y="1051560"/>
            <a:ext cx="10881360" cy="4663440"/>
          </a:xfrm>
          <a:prstGeom prst="rect">
            <a:avLst/>
          </a:prstGeom>
          <a:noFill/>
          <a:ln/>
        </p:spPr>
        <p:txBody>
          <a:bodyPr wrap="square" rtlCol="0" anchor="t"/>
          <a:lstStyle/>
          <a:p>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def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read_temperature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6A9955"/>
                </a:solidFill>
                <a:latin typeface="Consolas" pitchFamily="34" charset="0"/>
                <a:ea typeface="Consolas" pitchFamily="34" charset="-122"/>
                <a:cs typeface="Consolas" pitchFamily="34" charset="-120"/>
              </a:rPr>
              <a:t># SEAM 1: Transport — hardcoded serial setup</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ser</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serial</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Serial</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CE9178"/>
                </a:solidFill>
                <a:latin typeface="Consolas" pitchFamily="34" charset="0"/>
                <a:ea typeface="Consolas" pitchFamily="34" charset="-122"/>
                <a:cs typeface="Consolas" pitchFamily="34" charset="-120"/>
              </a:rPr>
              <a:t>'/dev/ttyUSB0'</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B5CEA8"/>
                </a:solidFill>
                <a:latin typeface="Consolas" pitchFamily="34" charset="0"/>
                <a:ea typeface="Consolas" pitchFamily="34" charset="-122"/>
                <a:cs typeface="Consolas" pitchFamily="34" charset="-120"/>
              </a:rPr>
              <a:t>9600</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6A9955"/>
                </a:solidFill>
                <a:latin typeface="Consolas" pitchFamily="34" charset="0"/>
                <a:ea typeface="Consolas" pitchFamily="34" charset="-122"/>
                <a:cs typeface="Consolas" pitchFamily="34" charset="-120"/>
              </a:rPr>
              <a:t># SEAM 2: Protocol — hardcoded command format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ser</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write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b</a:t>
            </a:r>
            <a:pPr indent="0" marL="0">
              <a:lnSpc>
                <a:spcPct val="108000"/>
              </a:lnSpc>
              <a:buNone/>
            </a:pPr>
            <a:r>
              <a:rPr lang="en-US" sz="1100" dirty="0">
                <a:solidFill>
                  <a:srgbClr val="CE9178"/>
                </a:solidFill>
                <a:latin typeface="Consolas" pitchFamily="34" charset="0"/>
                <a:ea typeface="Consolas" pitchFamily="34" charset="-122"/>
                <a:cs typeface="Consolas" pitchFamily="34" charset="-120"/>
              </a:rPr>
              <a:t>'READ:TEMP\n'</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6A9955"/>
                </a:solidFill>
                <a:latin typeface="Consolas" pitchFamily="34" charset="0"/>
                <a:ea typeface="Consolas" pitchFamily="34" charset="-122"/>
                <a:cs typeface="Consolas" pitchFamily="34" charset="-120"/>
              </a:rPr>
              <a:t># SEAM 3: Parsing — coupled to response format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response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ser</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readline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decode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value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float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response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split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CE9178"/>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B5CEA8"/>
                </a:solidFill>
                <a:latin typeface="Consolas" pitchFamily="34" charset="0"/>
                <a:ea typeface="Consolas" pitchFamily="34" charset="-122"/>
                <a:cs typeface="Consolas" pitchFamily="34" charset="-120"/>
              </a:rPr>
              <a:t>1</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6A9955"/>
                </a:solidFill>
                <a:latin typeface="Consolas" pitchFamily="34" charset="0"/>
                <a:ea typeface="Consolas" pitchFamily="34" charset="-122"/>
                <a:cs typeface="Consolas" pitchFamily="34" charset="-120"/>
              </a:rPr>
              <a:t># SEAM 4: Error handling — scattered</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if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value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&lt;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B5CEA8"/>
                </a:solidFill>
                <a:latin typeface="Consolas" pitchFamily="34" charset="0"/>
                <a:ea typeface="Consolas" pitchFamily="34" charset="-122"/>
                <a:cs typeface="Consolas" pitchFamily="34" charset="-120"/>
              </a:rPr>
              <a:t>50</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or</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value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&gt;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B5CEA8"/>
                </a:solidFill>
                <a:latin typeface="Consolas" pitchFamily="34" charset="0"/>
                <a:ea typeface="Consolas" pitchFamily="34" charset="-122"/>
                <a:cs typeface="Consolas" pitchFamily="34" charset="-120"/>
              </a:rPr>
              <a:t>150</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print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CE9178"/>
                </a:solidFill>
                <a:latin typeface="Consolas" pitchFamily="34" charset="0"/>
                <a:ea typeface="Consolas" pitchFamily="34" charset="-122"/>
                <a:cs typeface="Consolas" pitchFamily="34" charset="-120"/>
              </a:rPr>
              <a:t>"WARNING: suspect reading"</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return</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value</a:t>
            </a:r>
            <a:endParaRPr lang="en-US" sz="1100" dirty="0"/>
          </a:p>
        </p:txBody>
      </p:sp>
      <p:sp>
        <p:nvSpPr>
          <p:cNvPr id="5" name="Text 3"/>
          <p:cNvSpPr/>
          <p:nvPr/>
        </p:nvSpPr>
        <p:spPr>
          <a:xfrm>
            <a:off x="640080" y="5989320"/>
            <a:ext cx="10972800" cy="548640"/>
          </a:xfrm>
          <a:prstGeom prst="rect">
            <a:avLst/>
          </a:prstGeom>
          <a:noFill/>
          <a:ln/>
        </p:spPr>
        <p:txBody>
          <a:bodyPr wrap="square" rtlCol="0" anchor="ctr"/>
          <a:lstStyle/>
          <a:p>
            <a:pPr algn="ctr" indent="0" marL="0">
              <a:buNone/>
            </a:pPr>
            <a:r>
              <a:rPr lang="en-US" sz="1300" i="1" dirty="0">
                <a:solidFill>
                  <a:srgbClr val="4FC3F7"/>
                </a:solidFill>
                <a:latin typeface="Calibri" pitchFamily="34" charset="0"/>
                <a:ea typeface="Calibri" pitchFamily="34" charset="-122"/>
                <a:cs typeface="Calibri" pitchFamily="34" charset="-120"/>
              </a:rPr>
              <a:t>Four seams in one function. Each is a reason to change. Each should be its own concern.</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E1E2E"/>
        </a:solidFill>
      </p:bgPr>
    </p:bg>
    <p:spTree>
      <p:nvGrpSpPr>
        <p:cNvPr id="1" name=""/>
        <p:cNvGrpSpPr/>
        <p:nvPr/>
      </p:nvGrpSpPr>
      <p:grpSpPr>
        <a:xfrm>
          <a:off x="0" y="0"/>
          <a:ext cx="0" cy="0"/>
          <a:chOff x="0" y="0"/>
          <a:chExt cx="0" cy="0"/>
        </a:xfrm>
      </p:grpSpPr>
      <p:sp>
        <p:nvSpPr>
          <p:cNvPr id="2" name="Text 0"/>
          <p:cNvSpPr/>
          <p:nvPr/>
        </p:nvSpPr>
        <p:spPr>
          <a:xfrm>
            <a:off x="640080" y="182880"/>
            <a:ext cx="10972800" cy="594360"/>
          </a:xfrm>
          <a:prstGeom prst="rect">
            <a:avLst/>
          </a:prstGeom>
          <a:noFill/>
          <a:ln/>
        </p:spPr>
        <p:txBody>
          <a:bodyPr wrap="square" rtlCol="0" anchor="ctr"/>
          <a:lstStyle/>
          <a:p>
            <a:pPr indent="0" marL="0">
              <a:buNone/>
            </a:pPr>
            <a:r>
              <a:rPr lang="en-US" sz="3200" b="1" dirty="0">
                <a:solidFill>
                  <a:srgbClr val="FFFFFF"/>
                </a:solidFill>
                <a:latin typeface="Calibri Light" pitchFamily="34" charset="0"/>
                <a:ea typeface="Calibri Light" pitchFamily="34" charset="-122"/>
                <a:cs typeface="Calibri Light" pitchFamily="34" charset="-120"/>
              </a:rPr>
              <a:t>Refactoring Toward Clarity</a:t>
            </a:r>
            <a:endParaRPr lang="en-US" sz="3200" dirty="0"/>
          </a:p>
        </p:txBody>
      </p:sp>
      <p:sp>
        <p:nvSpPr>
          <p:cNvPr id="3" name="Text 1"/>
          <p:cNvSpPr/>
          <p:nvPr/>
        </p:nvSpPr>
        <p:spPr>
          <a:xfrm>
            <a:off x="457200" y="868680"/>
            <a:ext cx="5394960" cy="411480"/>
          </a:xfrm>
          <a:prstGeom prst="rect">
            <a:avLst/>
          </a:prstGeom>
          <a:noFill/>
          <a:ln/>
        </p:spPr>
        <p:txBody>
          <a:bodyPr wrap="square" rtlCol="0" anchor="ctr"/>
          <a:lstStyle/>
          <a:p>
            <a:pPr indent="0" marL="0">
              <a:buNone/>
            </a:pPr>
            <a:r>
              <a:rPr lang="en-US" sz="1400" b="1" dirty="0">
                <a:solidFill>
                  <a:srgbClr val="FF6B6B"/>
                </a:solidFill>
                <a:latin typeface="Calibri" pitchFamily="34" charset="0"/>
                <a:ea typeface="Calibri" pitchFamily="34" charset="-122"/>
                <a:cs typeface="Calibri" pitchFamily="34" charset="-120"/>
              </a:rPr>
              <a:t>Before: everything tangled</a:t>
            </a:r>
            <a:endParaRPr lang="en-US" sz="1400" dirty="0"/>
          </a:p>
        </p:txBody>
      </p:sp>
      <p:sp>
        <p:nvSpPr>
          <p:cNvPr id="4" name="Text 2"/>
          <p:cNvSpPr/>
          <p:nvPr/>
        </p:nvSpPr>
        <p:spPr>
          <a:xfrm>
            <a:off x="6336792" y="868680"/>
            <a:ext cx="5394960" cy="411480"/>
          </a:xfrm>
          <a:prstGeom prst="rect">
            <a:avLst/>
          </a:prstGeom>
          <a:noFill/>
          <a:ln/>
        </p:spPr>
        <p:txBody>
          <a:bodyPr wrap="square" rtlCol="0" anchor="ctr"/>
          <a:lstStyle/>
          <a:p>
            <a:pPr indent="0" marL="0">
              <a:buNone/>
            </a:pPr>
            <a:r>
              <a:rPr lang="en-US" sz="1400" b="1" dirty="0">
                <a:solidFill>
                  <a:srgbClr val="66BB6A"/>
                </a:solidFill>
                <a:latin typeface="Calibri" pitchFamily="34" charset="0"/>
                <a:ea typeface="Calibri" pitchFamily="34" charset="-122"/>
                <a:cs typeface="Calibri" pitchFamily="34" charset="-120"/>
              </a:rPr>
              <a:t>After: seams separated</a:t>
            </a:r>
            <a:endParaRPr lang="en-US" sz="1400" dirty="0"/>
          </a:p>
        </p:txBody>
      </p:sp>
      <p:sp>
        <p:nvSpPr>
          <p:cNvPr id="5" name="Shape 3"/>
          <p:cNvSpPr/>
          <p:nvPr/>
        </p:nvSpPr>
        <p:spPr>
          <a:xfrm>
            <a:off x="457200" y="1280160"/>
            <a:ext cx="5394960" cy="4572000"/>
          </a:xfrm>
          <a:prstGeom prst="rect">
            <a:avLst>
              <a:gd name="adj" fmla="val 2000"/>
            </a:avLst>
          </a:prstGeom>
          <a:solidFill>
            <a:srgbClr val="0D1117"/>
          </a:solidFill>
          <a:ln/>
        </p:spPr>
      </p:sp>
      <p:sp>
        <p:nvSpPr>
          <p:cNvPr id="6" name="Shape 4"/>
          <p:cNvSpPr/>
          <p:nvPr/>
        </p:nvSpPr>
        <p:spPr>
          <a:xfrm>
            <a:off x="6336792" y="1280160"/>
            <a:ext cx="5394960" cy="4572000"/>
          </a:xfrm>
          <a:prstGeom prst="rect">
            <a:avLst>
              <a:gd name="adj" fmla="val 2000"/>
            </a:avLst>
          </a:prstGeom>
          <a:solidFill>
            <a:srgbClr val="0D1117"/>
          </a:solidFill>
          <a:ln/>
        </p:spPr>
      </p:sp>
      <p:sp>
        <p:nvSpPr>
          <p:cNvPr id="7" name="Shape 5"/>
          <p:cNvSpPr/>
          <p:nvPr/>
        </p:nvSpPr>
        <p:spPr>
          <a:xfrm>
            <a:off x="6094476" y="914400"/>
            <a:ext cx="0" cy="5120640"/>
          </a:xfrm>
          <a:prstGeom prst="line">
            <a:avLst/>
          </a:prstGeom>
          <a:noFill/>
          <a:ln w="12700">
            <a:solidFill>
              <a:srgbClr val="444466"/>
            </a:solidFill>
            <a:prstDash val="solid"/>
          </a:ln>
        </p:spPr>
      </p:sp>
      <p:sp>
        <p:nvSpPr>
          <p:cNvPr id="8" name="Text 6"/>
          <p:cNvSpPr/>
          <p:nvPr/>
        </p:nvSpPr>
        <p:spPr>
          <a:xfrm>
            <a:off x="594360" y="1371600"/>
            <a:ext cx="5120640" cy="4389120"/>
          </a:xfrm>
          <a:prstGeom prst="rect">
            <a:avLst/>
          </a:prstGeom>
          <a:noFill/>
          <a:ln/>
        </p:spPr>
        <p:txBody>
          <a:bodyPr wrap="square" rtlCol="0" anchor="t"/>
          <a:lstStyle/>
          <a:p>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def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read_temperature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ser</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serial</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Serial</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CE9178"/>
                </a:solidFill>
                <a:latin typeface="Consolas" pitchFamily="34" charset="0"/>
                <a:ea typeface="Consolas" pitchFamily="34" charset="-122"/>
                <a:cs typeface="Consolas" pitchFamily="34" charset="-120"/>
              </a:rPr>
              <a:t>'/dev/ttyUSB0'</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B5CEA8"/>
                </a:solidFill>
                <a:latin typeface="Consolas" pitchFamily="34" charset="0"/>
                <a:ea typeface="Consolas" pitchFamily="34" charset="-122"/>
                <a:cs typeface="Consolas" pitchFamily="34" charset="-120"/>
              </a:rPr>
              <a:t>9600</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ser</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write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b</a:t>
            </a:r>
            <a:pPr indent="0" marL="0">
              <a:lnSpc>
                <a:spcPct val="105000"/>
              </a:lnSpc>
              <a:buNone/>
            </a:pPr>
            <a:r>
              <a:rPr lang="en-US" sz="1100" dirty="0">
                <a:solidFill>
                  <a:srgbClr val="CE9178"/>
                </a:solidFill>
                <a:latin typeface="Consolas" pitchFamily="34" charset="0"/>
                <a:ea typeface="Consolas" pitchFamily="34" charset="-122"/>
                <a:cs typeface="Consolas" pitchFamily="34" charset="-120"/>
              </a:rPr>
              <a:t>'READ:TEMP\n'</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raw</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ser</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readline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decode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value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float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raw</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split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CE9178"/>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B5CEA8"/>
                </a:solidFill>
                <a:latin typeface="Consolas" pitchFamily="34" charset="0"/>
                <a:ea typeface="Consolas" pitchFamily="34" charset="-122"/>
                <a:cs typeface="Consolas" pitchFamily="34" charset="-120"/>
              </a:rPr>
              <a:t>1</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return</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value</a:t>
            </a:r>
            <a:endParaRPr lang="en-US" sz="1100" dirty="0"/>
          </a:p>
        </p:txBody>
      </p:sp>
      <p:sp>
        <p:nvSpPr>
          <p:cNvPr id="9" name="Text 7"/>
          <p:cNvSpPr/>
          <p:nvPr/>
        </p:nvSpPr>
        <p:spPr>
          <a:xfrm>
            <a:off x="6473952" y="1371600"/>
            <a:ext cx="5120640" cy="4389120"/>
          </a:xfrm>
          <a:prstGeom prst="rect">
            <a:avLst/>
          </a:prstGeom>
          <a:noFill/>
          <a:ln/>
        </p:spPr>
        <p:txBody>
          <a:bodyPr wrap="square" rtlCol="0" anchor="t"/>
          <a:lstStyle/>
          <a:p>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def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read_temperature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raw</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transport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send</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CE9178"/>
                </a:solidFill>
                <a:latin typeface="Consolas" pitchFamily="34" charset="0"/>
                <a:ea typeface="Consolas" pitchFamily="34" charset="-122"/>
                <a:cs typeface="Consolas" pitchFamily="34" charset="-120"/>
              </a:rPr>
              <a:t>'READ:TEMP'</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return</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parser</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extract_value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raw</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6A9955"/>
                </a:solidFill>
                <a:latin typeface="Consolas" pitchFamily="34" charset="0"/>
                <a:ea typeface="Consolas" pitchFamily="34" charset="-122"/>
                <a:cs typeface="Consolas" pitchFamily="34" charset="-120"/>
              </a:rPr>
              <a:t># Transport is injectable (real or fake)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6A9955"/>
                </a:solidFill>
                <a:latin typeface="Consolas" pitchFamily="34" charset="0"/>
                <a:ea typeface="Consolas" pitchFamily="34" charset="-122"/>
                <a:cs typeface="Consolas" pitchFamily="34" charset="-120"/>
              </a:rPr>
              <a:t># Parser is a pure function (testable)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6A9955"/>
                </a:solidFill>
                <a:latin typeface="Consolas" pitchFamily="34" charset="0"/>
                <a:ea typeface="Consolas" pitchFamily="34" charset="-122"/>
                <a:cs typeface="Consolas" pitchFamily="34" charset="-120"/>
              </a:rPr>
              <a:t># read_temperature() just orchestrates</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E1E2E"/>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4FC3F7"/>
          </a:solidFill>
          <a:ln/>
        </p:spPr>
      </p:sp>
      <p:sp>
        <p:nvSpPr>
          <p:cNvPr id="3" name="Text 1"/>
          <p:cNvSpPr/>
          <p:nvPr/>
        </p:nvSpPr>
        <p:spPr>
          <a:xfrm>
            <a:off x="640080" y="274320"/>
            <a:ext cx="10972800" cy="731520"/>
          </a:xfrm>
          <a:prstGeom prst="rect">
            <a:avLst/>
          </a:prstGeom>
          <a:noFill/>
          <a:ln/>
        </p:spPr>
        <p:txBody>
          <a:bodyPr wrap="square" rtlCol="0" anchor="ctr"/>
          <a:lstStyle/>
          <a:p>
            <a:pPr indent="0" marL="0">
              <a:buNone/>
            </a:pPr>
            <a:r>
              <a:rPr lang="en-US" sz="3600" b="1" dirty="0">
                <a:solidFill>
                  <a:srgbClr val="4FC3F7"/>
                </a:solidFill>
                <a:latin typeface="Calibri Light" pitchFamily="34" charset="0"/>
                <a:ea typeface="Calibri Light" pitchFamily="34" charset="-122"/>
                <a:cs typeface="Calibri Light" pitchFamily="34" charset="-120"/>
              </a:rPr>
              <a:t>Lab 2 — Refactor the Messy Driver</a:t>
            </a:r>
            <a:endParaRPr lang="en-US" sz="3600" dirty="0"/>
          </a:p>
        </p:txBody>
      </p:sp>
      <p:sp>
        <p:nvSpPr>
          <p:cNvPr id="4" name="Text 2"/>
          <p:cNvSpPr/>
          <p:nvPr/>
        </p:nvSpPr>
        <p:spPr>
          <a:xfrm>
            <a:off x="822960" y="1188720"/>
            <a:ext cx="10424160" cy="5029200"/>
          </a:xfrm>
          <a:prstGeom prst="rect">
            <a:avLst/>
          </a:prstGeom>
          <a:noFill/>
          <a:ln/>
        </p:spPr>
        <p:txBody>
          <a:bodyPr wrap="square" rtlCol="0" anchor="t"/>
          <a:lstStyle/>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Receive the messy driver (examples/messy_driver.py)</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Identify the seams (transitions between concerns)</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Extract at least the transport layer and parsing logic</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Goal: the driver should be testable without a real serial port</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Keep the FakeSerial class unchanged, it simulates the port</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Time: 30 minutes</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E1E2E"/>
        </a:solidFill>
      </p:bgPr>
    </p:bg>
    <p:spTree>
      <p:nvGrpSpPr>
        <p:cNvPr id="1" name=""/>
        <p:cNvGrpSpPr/>
        <p:nvPr/>
      </p:nvGrpSpPr>
      <p:grpSpPr>
        <a:xfrm>
          <a:off x="0" y="0"/>
          <a:ext cx="0" cy="0"/>
          <a:chOff x="0" y="0"/>
          <a:chExt cx="0" cy="0"/>
        </a:xfrm>
      </p:grpSpPr>
      <p:sp>
        <p:nvSpPr>
          <p:cNvPr id="2" name="Text 0"/>
          <p:cNvSpPr/>
          <p:nvPr/>
        </p:nvSpPr>
        <p:spPr>
          <a:xfrm>
            <a:off x="640080" y="274320"/>
            <a:ext cx="10972800" cy="731520"/>
          </a:xfrm>
          <a:prstGeom prst="rect">
            <a:avLst/>
          </a:prstGeom>
          <a:noFill/>
          <a:ln/>
        </p:spPr>
        <p:txBody>
          <a:bodyPr wrap="square" rtlCol="0" anchor="ctr"/>
          <a:lstStyle/>
          <a:p>
            <a:pPr indent="0" marL="0">
              <a:buNone/>
            </a:pPr>
            <a:r>
              <a:rPr lang="en-US" sz="3600" b="1" dirty="0">
                <a:solidFill>
                  <a:srgbClr val="FFFFFF"/>
                </a:solidFill>
                <a:latin typeface="Calibri Light" pitchFamily="34" charset="0"/>
                <a:ea typeface="Calibri Light" pitchFamily="34" charset="-122"/>
                <a:cs typeface="Calibri Light" pitchFamily="34" charset="-120"/>
              </a:rPr>
              <a:t>Lab 2 Debrief</a:t>
            </a:r>
            <a:endParaRPr lang="en-US" sz="3600" dirty="0"/>
          </a:p>
        </p:txBody>
      </p:sp>
      <p:sp>
        <p:nvSpPr>
          <p:cNvPr id="3" name="Text 1"/>
          <p:cNvSpPr/>
          <p:nvPr/>
        </p:nvSpPr>
        <p:spPr>
          <a:xfrm>
            <a:off x="822960" y="1188720"/>
            <a:ext cx="10424160" cy="5029200"/>
          </a:xfrm>
          <a:prstGeom prst="rect">
            <a:avLst/>
          </a:prstGeom>
          <a:noFill/>
          <a:ln/>
        </p:spPr>
        <p:txBody>
          <a:bodyPr wrap="square" rtlCol="0" anchor="t"/>
          <a:lstStyle/>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Key insight: separating transport from protocol makes everything testable</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The Transport class can accept any serial-like object (real or fake)</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Pure parsing functions can be tested with simple string inputs</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This separation is the foundation for the Adapter pattern, up next</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E1E2E"/>
        </a:solidFill>
      </p:bgPr>
    </p:bg>
    <p:spTree>
      <p:nvGrpSpPr>
        <p:cNvPr id="1" name=""/>
        <p:cNvGrpSpPr/>
        <p:nvPr/>
      </p:nvGrpSpPr>
      <p:grpSpPr>
        <a:xfrm>
          <a:off x="0" y="0"/>
          <a:ext cx="0" cy="0"/>
          <a:chOff x="0" y="0"/>
          <a:chExt cx="0" cy="0"/>
        </a:xfrm>
      </p:grpSpPr>
      <p:sp>
        <p:nvSpPr>
          <p:cNvPr id="2" name="Text 0"/>
          <p:cNvSpPr/>
          <p:nvPr/>
        </p:nvSpPr>
        <p:spPr>
          <a:xfrm>
            <a:off x="640080" y="274320"/>
            <a:ext cx="10972800" cy="731520"/>
          </a:xfrm>
          <a:prstGeom prst="rect">
            <a:avLst/>
          </a:prstGeom>
          <a:noFill/>
          <a:ln/>
        </p:spPr>
        <p:txBody>
          <a:bodyPr wrap="square" rtlCol="0" anchor="ctr"/>
          <a:lstStyle/>
          <a:p>
            <a:pPr indent="0" marL="0">
              <a:buNone/>
            </a:pPr>
            <a:r>
              <a:rPr lang="en-US" sz="3600" b="1" dirty="0">
                <a:solidFill>
                  <a:srgbClr val="FFFFFF"/>
                </a:solidFill>
                <a:latin typeface="Calibri Light" pitchFamily="34" charset="0"/>
                <a:ea typeface="Calibri Light" pitchFamily="34" charset="-122"/>
                <a:cs typeface="Calibri Light" pitchFamily="34" charset="-120"/>
              </a:rPr>
              <a:t>Code Married to Hardware</a:t>
            </a:r>
            <a:endParaRPr lang="en-US" sz="3600" dirty="0"/>
          </a:p>
        </p:txBody>
      </p:sp>
      <p:sp>
        <p:nvSpPr>
          <p:cNvPr id="3" name="Text 1"/>
          <p:cNvSpPr/>
          <p:nvPr/>
        </p:nvSpPr>
        <p:spPr>
          <a:xfrm>
            <a:off x="822960" y="1188720"/>
            <a:ext cx="10424160" cy="5029200"/>
          </a:xfrm>
          <a:prstGeom prst="rect">
            <a:avLst/>
          </a:prstGeom>
          <a:noFill/>
          <a:ln/>
        </p:spPr>
        <p:txBody>
          <a:bodyPr wrap="square" rtlCol="0" anchor="t"/>
          <a:lstStyle/>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serial.Serial('/dev/ttyUSB0', 9600) appears in 47 places</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Change the instrument? Rewrite everything</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Test without hardware? Impossible</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One serial timeout crashes the entire GUI</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If your code can only run when the hardware is plugged in, your code owns you</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E1E2E"/>
        </a:solidFill>
      </p:bgPr>
    </p:bg>
    <p:spTree>
      <p:nvGrpSpPr>
        <p:cNvPr id="1" name=""/>
        <p:cNvGrpSpPr/>
        <p:nvPr/>
      </p:nvGrpSpPr>
      <p:grpSpPr>
        <a:xfrm>
          <a:off x="0" y="0"/>
          <a:ext cx="0" cy="0"/>
          <a:chOff x="0" y="0"/>
          <a:chExt cx="0" cy="0"/>
        </a:xfrm>
      </p:grpSpPr>
      <p:sp>
        <p:nvSpPr>
          <p:cNvPr id="2" name="Text 0"/>
          <p:cNvSpPr/>
          <p:nvPr/>
        </p:nvSpPr>
        <p:spPr>
          <a:xfrm>
            <a:off x="640080" y="274320"/>
            <a:ext cx="10972800" cy="731520"/>
          </a:xfrm>
          <a:prstGeom prst="rect">
            <a:avLst/>
          </a:prstGeom>
          <a:noFill/>
          <a:ln/>
        </p:spPr>
        <p:txBody>
          <a:bodyPr wrap="square" rtlCol="0" anchor="ctr"/>
          <a:lstStyle/>
          <a:p>
            <a:pPr indent="0" marL="0">
              <a:buNone/>
            </a:pPr>
            <a:r>
              <a:rPr lang="en-US" sz="3600" b="1" dirty="0">
                <a:solidFill>
                  <a:srgbClr val="FFFFFF"/>
                </a:solidFill>
                <a:latin typeface="Calibri Light" pitchFamily="34" charset="0"/>
                <a:ea typeface="Calibri Light" pitchFamily="34" charset="-122"/>
                <a:cs typeface="Calibri Light" pitchFamily="34" charset="-120"/>
              </a:rPr>
              <a:t>The Adapter Pattern</a:t>
            </a:r>
            <a:endParaRPr lang="en-US" sz="3600" dirty="0"/>
          </a:p>
        </p:txBody>
      </p:sp>
      <p:sp>
        <p:nvSpPr>
          <p:cNvPr id="3" name="Text 1"/>
          <p:cNvSpPr/>
          <p:nvPr/>
        </p:nvSpPr>
        <p:spPr>
          <a:xfrm>
            <a:off x="822960" y="1188720"/>
            <a:ext cx="10424160" cy="5029200"/>
          </a:xfrm>
          <a:prstGeom prst="rect">
            <a:avLst/>
          </a:prstGeom>
          <a:noFill/>
          <a:ln/>
        </p:spPr>
        <p:txBody>
          <a:bodyPr wrap="square" rtlCol="0" anchor="t"/>
          <a:lstStyle/>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Define an interface (the port): connect(), read_value(), send_command(), disconnect()</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Implement it twice: RealInstrumentAdapter and SimulatedInstrumentAdapter</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The rest of your code talks only to the interface, never to serial.Serial directly</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This is the single most important pattern in the course</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E1E2E"/>
        </a:solidFill>
      </p:bgPr>
    </p:bg>
    <p:spTree>
      <p:nvGrpSpPr>
        <p:cNvPr id="1" name=""/>
        <p:cNvGrpSpPr/>
        <p:nvPr/>
      </p:nvGrpSpPr>
      <p:grpSpPr>
        <a:xfrm>
          <a:off x="0" y="0"/>
          <a:ext cx="0" cy="0"/>
          <a:chOff x="0" y="0"/>
          <a:chExt cx="0" cy="0"/>
        </a:xfrm>
      </p:grpSpPr>
      <p:sp>
        <p:nvSpPr>
          <p:cNvPr id="2" name="Text 0"/>
          <p:cNvSpPr/>
          <p:nvPr/>
        </p:nvSpPr>
        <p:spPr>
          <a:xfrm>
            <a:off x="640080" y="182880"/>
            <a:ext cx="10972800" cy="640080"/>
          </a:xfrm>
          <a:prstGeom prst="rect">
            <a:avLst/>
          </a:prstGeom>
          <a:noFill/>
          <a:ln/>
        </p:spPr>
        <p:txBody>
          <a:bodyPr wrap="square" rtlCol="0" anchor="ctr"/>
          <a:lstStyle/>
          <a:p>
            <a:pPr indent="0" marL="0">
              <a:buNone/>
            </a:pPr>
            <a:r>
              <a:rPr lang="en-US" sz="3200" b="1" dirty="0">
                <a:solidFill>
                  <a:srgbClr val="FFFFFF"/>
                </a:solidFill>
                <a:latin typeface="Calibri Light" pitchFamily="34" charset="0"/>
                <a:ea typeface="Calibri Light" pitchFamily="34" charset="-122"/>
                <a:cs typeface="Calibri Light" pitchFamily="34" charset="-120"/>
              </a:rPr>
              <a:t>The Adapter Interface — ABC</a:t>
            </a:r>
            <a:endParaRPr lang="en-US" sz="3200" dirty="0"/>
          </a:p>
        </p:txBody>
      </p:sp>
      <p:sp>
        <p:nvSpPr>
          <p:cNvPr id="3" name="Shape 1"/>
          <p:cNvSpPr/>
          <p:nvPr/>
        </p:nvSpPr>
        <p:spPr>
          <a:xfrm>
            <a:off x="457200" y="960120"/>
            <a:ext cx="11274552" cy="4846320"/>
          </a:xfrm>
          <a:prstGeom prst="rect">
            <a:avLst>
              <a:gd name="adj" fmla="val 1887"/>
            </a:avLst>
          </a:prstGeom>
          <a:solidFill>
            <a:srgbClr val="0D1117"/>
          </a:solidFill>
          <a:ln/>
        </p:spPr>
      </p:sp>
      <p:sp>
        <p:nvSpPr>
          <p:cNvPr id="4" name="Text 2"/>
          <p:cNvSpPr/>
          <p:nvPr/>
        </p:nvSpPr>
        <p:spPr>
          <a:xfrm>
            <a:off x="640080" y="1051560"/>
            <a:ext cx="10881360" cy="4663440"/>
          </a:xfrm>
          <a:prstGeom prst="rect">
            <a:avLst/>
          </a:prstGeom>
          <a:noFill/>
          <a:ln/>
        </p:spPr>
        <p:txBody>
          <a:bodyPr wrap="square" rtlCol="0" anchor="t"/>
          <a:lstStyle/>
          <a:p>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from</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abc</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import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4EC9B0"/>
                </a:solidFill>
                <a:latin typeface="Consolas" pitchFamily="34" charset="0"/>
                <a:ea typeface="Consolas" pitchFamily="34" charset="-122"/>
                <a:cs typeface="Consolas" pitchFamily="34" charset="-120"/>
              </a:rPr>
              <a:t>ABC</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abstractmethod</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class</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InstrumentAdapter</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4EC9B0"/>
                </a:solidFill>
                <a:latin typeface="Consolas" pitchFamily="34" charset="0"/>
                <a:ea typeface="Consolas" pitchFamily="34" charset="-122"/>
                <a:cs typeface="Consolas" pitchFamily="34" charset="-120"/>
              </a:rPr>
              <a:t>ABC</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CE9178"/>
                </a:solidFill>
                <a:latin typeface="Consolas" pitchFamily="34" charset="0"/>
                <a:ea typeface="Consolas" pitchFamily="34" charset="-122"/>
                <a:cs typeface="Consolas" pitchFamily="34" charset="-120"/>
              </a:rPr>
              <a:t>"""The contract. Any instrument must implement these."""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@abstractmethod</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def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connect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&gt;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None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@abstractmethod</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def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disconnect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&gt;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None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@abstractmethod</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def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read_value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channel</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str</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&gt;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CE9178"/>
                </a:solidFill>
                <a:latin typeface="Consolas" pitchFamily="34" charset="0"/>
                <a:ea typeface="Consolas" pitchFamily="34" charset="-122"/>
                <a:cs typeface="Consolas" pitchFamily="34" charset="-120"/>
              </a:rPr>
              <a:t>'Reading'</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@abstractmethod</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def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send_command</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command</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str</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&gt;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str</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@property</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@abstractmethod</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def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is_connected</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&gt;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bool</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endParaRPr lang="en-US" sz="1100" dirty="0"/>
          </a:p>
        </p:txBody>
      </p:sp>
      <p:sp>
        <p:nvSpPr>
          <p:cNvPr id="5" name="Text 3"/>
          <p:cNvSpPr/>
          <p:nvPr/>
        </p:nvSpPr>
        <p:spPr>
          <a:xfrm>
            <a:off x="640080" y="5989320"/>
            <a:ext cx="10972800" cy="548640"/>
          </a:xfrm>
          <a:prstGeom prst="rect">
            <a:avLst/>
          </a:prstGeom>
          <a:noFill/>
          <a:ln/>
        </p:spPr>
        <p:txBody>
          <a:bodyPr wrap="square" rtlCol="0" anchor="ctr"/>
          <a:lstStyle/>
          <a:p>
            <a:pPr algn="ctr" indent="0" marL="0">
              <a:buNone/>
            </a:pPr>
            <a:r>
              <a:rPr lang="en-US" sz="1300" i="1" dirty="0">
                <a:solidFill>
                  <a:srgbClr val="4FC3F7"/>
                </a:solidFill>
                <a:latin typeface="Calibri" pitchFamily="34" charset="0"/>
                <a:ea typeface="Calibri" pitchFamily="34" charset="-122"/>
                <a:cs typeface="Calibri" pitchFamily="34" charset="-120"/>
              </a:rPr>
              <a:t>Five methods. That's the entire contract. Any class implementing these can be used as an instrument.</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E1E2E"/>
        </a:solidFill>
      </p:bgPr>
    </p:bg>
    <p:spTree>
      <p:nvGrpSpPr>
        <p:cNvPr id="1" name=""/>
        <p:cNvGrpSpPr/>
        <p:nvPr/>
      </p:nvGrpSpPr>
      <p:grpSpPr>
        <a:xfrm>
          <a:off x="0" y="0"/>
          <a:ext cx="0" cy="0"/>
          <a:chOff x="0" y="0"/>
          <a:chExt cx="0" cy="0"/>
        </a:xfrm>
      </p:grpSpPr>
      <p:sp>
        <p:nvSpPr>
          <p:cNvPr id="2" name="Text 0"/>
          <p:cNvSpPr/>
          <p:nvPr/>
        </p:nvSpPr>
        <p:spPr>
          <a:xfrm>
            <a:off x="640080" y="182880"/>
            <a:ext cx="10972800" cy="594360"/>
          </a:xfrm>
          <a:prstGeom prst="rect">
            <a:avLst/>
          </a:prstGeom>
          <a:noFill/>
          <a:ln/>
        </p:spPr>
        <p:txBody>
          <a:bodyPr wrap="square" rtlCol="0" anchor="ctr"/>
          <a:lstStyle/>
          <a:p>
            <a:pPr indent="0" marL="0">
              <a:buNone/>
            </a:pPr>
            <a:r>
              <a:rPr lang="en-US" sz="3200" b="1" dirty="0">
                <a:solidFill>
                  <a:srgbClr val="FFFFFF"/>
                </a:solidFill>
                <a:latin typeface="Calibri Light" pitchFamily="34" charset="0"/>
                <a:ea typeface="Calibri Light" pitchFamily="34" charset="-122"/>
                <a:cs typeface="Calibri Light" pitchFamily="34" charset="-120"/>
              </a:rPr>
              <a:t>Simulated vs Real Adapter</a:t>
            </a:r>
            <a:endParaRPr lang="en-US" sz="3200" dirty="0"/>
          </a:p>
        </p:txBody>
      </p:sp>
      <p:sp>
        <p:nvSpPr>
          <p:cNvPr id="3" name="Text 1"/>
          <p:cNvSpPr/>
          <p:nvPr/>
        </p:nvSpPr>
        <p:spPr>
          <a:xfrm>
            <a:off x="457200" y="868680"/>
            <a:ext cx="5394960" cy="411480"/>
          </a:xfrm>
          <a:prstGeom prst="rect">
            <a:avLst/>
          </a:prstGeom>
          <a:noFill/>
          <a:ln/>
        </p:spPr>
        <p:txBody>
          <a:bodyPr wrap="square" rtlCol="0" anchor="ctr"/>
          <a:lstStyle/>
          <a:p>
            <a:pPr indent="0" marL="0">
              <a:buNone/>
            </a:pPr>
            <a:r>
              <a:rPr lang="en-US" sz="1400" b="1" dirty="0">
                <a:solidFill>
                  <a:srgbClr val="4FC3F7"/>
                </a:solidFill>
                <a:latin typeface="Calibri" pitchFamily="34" charset="0"/>
                <a:ea typeface="Calibri" pitchFamily="34" charset="-122"/>
                <a:cs typeface="Calibri" pitchFamily="34" charset="-120"/>
              </a:rPr>
              <a:t>SimulatedInstrumentAdapter</a:t>
            </a:r>
            <a:endParaRPr lang="en-US" sz="1400" dirty="0"/>
          </a:p>
        </p:txBody>
      </p:sp>
      <p:sp>
        <p:nvSpPr>
          <p:cNvPr id="4" name="Text 2"/>
          <p:cNvSpPr/>
          <p:nvPr/>
        </p:nvSpPr>
        <p:spPr>
          <a:xfrm>
            <a:off x="6336792" y="868680"/>
            <a:ext cx="5394960" cy="411480"/>
          </a:xfrm>
          <a:prstGeom prst="rect">
            <a:avLst/>
          </a:prstGeom>
          <a:noFill/>
          <a:ln/>
        </p:spPr>
        <p:txBody>
          <a:bodyPr wrap="square" rtlCol="0" anchor="ctr"/>
          <a:lstStyle/>
          <a:p>
            <a:pPr indent="0" marL="0">
              <a:buNone/>
            </a:pPr>
            <a:r>
              <a:rPr lang="en-US" sz="1400" b="1" dirty="0">
                <a:solidFill>
                  <a:srgbClr val="4FC3F7"/>
                </a:solidFill>
                <a:latin typeface="Calibri" pitchFamily="34" charset="0"/>
                <a:ea typeface="Calibri" pitchFamily="34" charset="-122"/>
                <a:cs typeface="Calibri" pitchFamily="34" charset="-120"/>
              </a:rPr>
              <a:t>RealInstrumentAdapter</a:t>
            </a:r>
            <a:endParaRPr lang="en-US" sz="1400" dirty="0"/>
          </a:p>
        </p:txBody>
      </p:sp>
      <p:sp>
        <p:nvSpPr>
          <p:cNvPr id="5" name="Shape 3"/>
          <p:cNvSpPr/>
          <p:nvPr/>
        </p:nvSpPr>
        <p:spPr>
          <a:xfrm>
            <a:off x="457200" y="1280160"/>
            <a:ext cx="5394960" cy="4572000"/>
          </a:xfrm>
          <a:prstGeom prst="rect">
            <a:avLst>
              <a:gd name="adj" fmla="val 2000"/>
            </a:avLst>
          </a:prstGeom>
          <a:solidFill>
            <a:srgbClr val="0D1117"/>
          </a:solidFill>
          <a:ln/>
        </p:spPr>
      </p:sp>
      <p:sp>
        <p:nvSpPr>
          <p:cNvPr id="6" name="Shape 4"/>
          <p:cNvSpPr/>
          <p:nvPr/>
        </p:nvSpPr>
        <p:spPr>
          <a:xfrm>
            <a:off x="6336792" y="1280160"/>
            <a:ext cx="5394960" cy="4572000"/>
          </a:xfrm>
          <a:prstGeom prst="rect">
            <a:avLst>
              <a:gd name="adj" fmla="val 2000"/>
            </a:avLst>
          </a:prstGeom>
          <a:solidFill>
            <a:srgbClr val="0D1117"/>
          </a:solidFill>
          <a:ln/>
        </p:spPr>
      </p:sp>
      <p:sp>
        <p:nvSpPr>
          <p:cNvPr id="7" name="Shape 5"/>
          <p:cNvSpPr/>
          <p:nvPr/>
        </p:nvSpPr>
        <p:spPr>
          <a:xfrm>
            <a:off x="6094476" y="914400"/>
            <a:ext cx="0" cy="5120640"/>
          </a:xfrm>
          <a:prstGeom prst="line">
            <a:avLst/>
          </a:prstGeom>
          <a:noFill/>
          <a:ln w="12700">
            <a:solidFill>
              <a:srgbClr val="444466"/>
            </a:solidFill>
            <a:prstDash val="solid"/>
          </a:ln>
        </p:spPr>
      </p:sp>
      <p:sp>
        <p:nvSpPr>
          <p:cNvPr id="8" name="Text 6"/>
          <p:cNvSpPr/>
          <p:nvPr/>
        </p:nvSpPr>
        <p:spPr>
          <a:xfrm>
            <a:off x="594360" y="1371600"/>
            <a:ext cx="5120640" cy="4389120"/>
          </a:xfrm>
          <a:prstGeom prst="rect">
            <a:avLst/>
          </a:prstGeom>
          <a:noFill/>
          <a:ln/>
        </p:spPr>
        <p:txBody>
          <a:bodyPr wrap="square" rtlCol="0" anchor="t"/>
          <a:lstStyle/>
          <a:p>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class</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SimulatedInstrumentAdapter</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4EC9B0"/>
                </a:solidFill>
                <a:latin typeface="Consolas" pitchFamily="34" charset="0"/>
                <a:ea typeface="Consolas" pitchFamily="34" charset="-122"/>
                <a:cs typeface="Consolas" pitchFamily="34" charset="-120"/>
              </a:rPr>
              <a:t>InstrumentAdapter</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def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connect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_connected</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True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6A9955"/>
                </a:solidFill>
                <a:latin typeface="Consolas" pitchFamily="34" charset="0"/>
                <a:ea typeface="Consolas" pitchFamily="34" charset="-122"/>
                <a:cs typeface="Consolas" pitchFamily="34" charset="-120"/>
              </a:rPr>
              <a:t># instant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def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read_value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channel</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6A9955"/>
                </a:solidFill>
                <a:latin typeface="Consolas" pitchFamily="34" charset="0"/>
                <a:ea typeface="Consolas" pitchFamily="34" charset="-122"/>
                <a:cs typeface="Consolas" pitchFamily="34" charset="-120"/>
              </a:rPr>
              <a:t># Sine wave + noise, no hardware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time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time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value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B5CEA8"/>
                </a:solidFill>
                <a:latin typeface="Consolas" pitchFamily="34" charset="0"/>
                <a:ea typeface="Consolas" pitchFamily="34" charset="-122"/>
                <a:cs typeface="Consolas" pitchFamily="34" charset="-120"/>
              </a:rPr>
              <a:t>22</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B5CEA8"/>
                </a:solidFill>
                <a:latin typeface="Consolas" pitchFamily="34" charset="0"/>
                <a:ea typeface="Consolas" pitchFamily="34" charset="-122"/>
                <a:cs typeface="Consolas" pitchFamily="34" charset="-120"/>
              </a:rPr>
              <a:t>3</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math</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sin</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B5CEA8"/>
                </a:solidFill>
                <a:latin typeface="Consolas" pitchFamily="34" charset="0"/>
                <a:ea typeface="Consolas" pitchFamily="34" charset="-122"/>
                <a:cs typeface="Consolas" pitchFamily="34" charset="-120"/>
              </a:rPr>
              <a:t>10</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value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random</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gauss</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B5CEA8"/>
                </a:solidFill>
                <a:latin typeface="Consolas" pitchFamily="34" charset="0"/>
                <a:ea typeface="Consolas" pitchFamily="34" charset="-122"/>
                <a:cs typeface="Consolas" pitchFamily="34" charset="-120"/>
              </a:rPr>
              <a:t>0</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B5CEA8"/>
                </a:solidFill>
                <a:latin typeface="Consolas" pitchFamily="34" charset="0"/>
                <a:ea typeface="Consolas" pitchFamily="34" charset="-122"/>
                <a:cs typeface="Consolas" pitchFamily="34" charset="-120"/>
              </a:rPr>
              <a:t>0.1</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return</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Reading</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value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CE9178"/>
                </a:solidFill>
                <a:latin typeface="Consolas" pitchFamily="34" charset="0"/>
                <a:ea typeface="Consolas" pitchFamily="34" charset="-122"/>
                <a:cs typeface="Consolas" pitchFamily="34" charset="-120"/>
              </a:rPr>
              <a:t>"degC"</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channel</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def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disconnect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_connected</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False</a:t>
            </a:r>
            <a:endParaRPr lang="en-US" sz="1100" dirty="0"/>
          </a:p>
        </p:txBody>
      </p:sp>
      <p:sp>
        <p:nvSpPr>
          <p:cNvPr id="9" name="Text 7"/>
          <p:cNvSpPr/>
          <p:nvPr/>
        </p:nvSpPr>
        <p:spPr>
          <a:xfrm>
            <a:off x="6473952" y="1371600"/>
            <a:ext cx="5120640" cy="4389120"/>
          </a:xfrm>
          <a:prstGeom prst="rect">
            <a:avLst/>
          </a:prstGeom>
          <a:noFill/>
          <a:ln/>
        </p:spPr>
        <p:txBody>
          <a:bodyPr wrap="square" rtlCol="0" anchor="t"/>
          <a:lstStyle/>
          <a:p>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class</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RealInstrumentAdapter</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4EC9B0"/>
                </a:solidFill>
                <a:latin typeface="Consolas" pitchFamily="34" charset="0"/>
                <a:ea typeface="Consolas" pitchFamily="34" charset="-122"/>
                <a:cs typeface="Consolas" pitchFamily="34" charset="-120"/>
              </a:rPr>
              <a:t>InstrumentAdapter</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def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connect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_serial</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serial</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Serial</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_port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_baud_rate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def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read_value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channel</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_serial</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write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CE9178"/>
                </a:solidFill>
                <a:latin typeface="Consolas" pitchFamily="34" charset="0"/>
                <a:ea typeface="Consolas" pitchFamily="34" charset="-122"/>
                <a:cs typeface="Consolas" pitchFamily="34" charset="-120"/>
              </a:rPr>
              <a:t>f"READ:{channel}\n"</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encode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raw</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_serial</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readline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decode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return</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_parse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raw</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def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disconnect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_serial</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close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endParaRPr lang="en-US" sz="1100" dirty="0"/>
          </a:p>
        </p:txBody>
      </p:sp>
      <p:sp>
        <p:nvSpPr>
          <p:cNvPr id="10" name="Text 8"/>
          <p:cNvSpPr/>
          <p:nvPr/>
        </p:nvSpPr>
        <p:spPr>
          <a:xfrm>
            <a:off x="640080" y="5989320"/>
            <a:ext cx="10972800" cy="548640"/>
          </a:xfrm>
          <a:prstGeom prst="rect">
            <a:avLst/>
          </a:prstGeom>
          <a:noFill/>
          <a:ln/>
        </p:spPr>
        <p:txBody>
          <a:bodyPr wrap="square" rtlCol="0" anchor="ctr"/>
          <a:lstStyle/>
          <a:p>
            <a:pPr algn="ctr" indent="0" marL="0">
              <a:buNone/>
            </a:pPr>
            <a:r>
              <a:rPr lang="en-US" sz="1300" i="1" dirty="0">
                <a:solidFill>
                  <a:srgbClr val="4FC3F7"/>
                </a:solidFill>
                <a:latin typeface="Calibri" pitchFamily="34" charset="0"/>
                <a:ea typeface="Calibri" pitchFamily="34" charset="-122"/>
                <a:cs typeface="Calibri" pitchFamily="34" charset="-120"/>
              </a:rPr>
              <a:t>Same interface, completely different internals. The calling code cannot tell the difference.</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E1E2E"/>
        </a:solidFill>
      </p:bgPr>
    </p:bg>
    <p:spTree>
      <p:nvGrpSpPr>
        <p:cNvPr id="1" name=""/>
        <p:cNvGrpSpPr/>
        <p:nvPr/>
      </p:nvGrpSpPr>
      <p:grpSpPr>
        <a:xfrm>
          <a:off x="0" y="0"/>
          <a:ext cx="0" cy="0"/>
          <a:chOff x="0" y="0"/>
          <a:chExt cx="0" cy="0"/>
        </a:xfrm>
      </p:grpSpPr>
      <p:sp>
        <p:nvSpPr>
          <p:cNvPr id="2" name="Text 0"/>
          <p:cNvSpPr/>
          <p:nvPr/>
        </p:nvSpPr>
        <p:spPr>
          <a:xfrm>
            <a:off x="640080" y="182880"/>
            <a:ext cx="10972800" cy="640080"/>
          </a:xfrm>
          <a:prstGeom prst="rect">
            <a:avLst/>
          </a:prstGeom>
          <a:noFill/>
          <a:ln/>
        </p:spPr>
        <p:txBody>
          <a:bodyPr wrap="square" rtlCol="0" anchor="ctr"/>
          <a:lstStyle/>
          <a:p>
            <a:pPr indent="0" marL="0">
              <a:buNone/>
            </a:pPr>
            <a:r>
              <a:rPr lang="en-US" sz="3200" b="1" dirty="0">
                <a:solidFill>
                  <a:srgbClr val="FFFFFF"/>
                </a:solidFill>
                <a:latin typeface="Calibri Light" pitchFamily="34" charset="0"/>
                <a:ea typeface="Calibri Light" pitchFamily="34" charset="-122"/>
                <a:cs typeface="Calibri Light" pitchFamily="34" charset="-120"/>
              </a:rPr>
              <a:t>Swapping at Startup</a:t>
            </a:r>
            <a:endParaRPr lang="en-US" sz="3200" dirty="0"/>
          </a:p>
        </p:txBody>
      </p:sp>
      <p:sp>
        <p:nvSpPr>
          <p:cNvPr id="3" name="Shape 1"/>
          <p:cNvSpPr/>
          <p:nvPr/>
        </p:nvSpPr>
        <p:spPr>
          <a:xfrm>
            <a:off x="457200" y="960120"/>
            <a:ext cx="11274552" cy="4846320"/>
          </a:xfrm>
          <a:prstGeom prst="rect">
            <a:avLst>
              <a:gd name="adj" fmla="val 1887"/>
            </a:avLst>
          </a:prstGeom>
          <a:solidFill>
            <a:srgbClr val="0D1117"/>
          </a:solidFill>
          <a:ln/>
        </p:spPr>
      </p:sp>
      <p:sp>
        <p:nvSpPr>
          <p:cNvPr id="4" name="Text 2"/>
          <p:cNvSpPr/>
          <p:nvPr/>
        </p:nvSpPr>
        <p:spPr>
          <a:xfrm>
            <a:off x="640080" y="1051560"/>
            <a:ext cx="10881360" cy="4663440"/>
          </a:xfrm>
          <a:prstGeom prst="rect">
            <a:avLst/>
          </a:prstGeom>
          <a:noFill/>
          <a:ln/>
        </p:spPr>
        <p:txBody>
          <a:bodyPr wrap="square" rtlCol="0" anchor="t"/>
          <a:lstStyle/>
          <a:p>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def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create_adapter</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config</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dict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&gt;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4EC9B0"/>
                </a:solidFill>
                <a:latin typeface="Consolas" pitchFamily="34" charset="0"/>
                <a:ea typeface="Consolas" pitchFamily="34" charset="-122"/>
                <a:cs typeface="Consolas" pitchFamily="34" charset="-120"/>
              </a:rPr>
              <a:t>InstrumentAdapter</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CE9178"/>
                </a:solidFill>
                <a:latin typeface="Consolas" pitchFamily="34" charset="0"/>
                <a:ea typeface="Consolas" pitchFamily="34" charset="-122"/>
                <a:cs typeface="Consolas" pitchFamily="34" charset="-120"/>
              </a:rPr>
              <a:t>"""Factory: config chooses the adapter, app doesn't care."""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device_type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config</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CE9178"/>
                </a:solidFill>
                <a:latin typeface="Consolas" pitchFamily="34" charset="0"/>
                <a:ea typeface="Consolas" pitchFamily="34" charset="-122"/>
                <a:cs typeface="Consolas" pitchFamily="34" charset="-120"/>
              </a:rPr>
              <a:t>'device'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CE9178"/>
                </a:solidFill>
                <a:latin typeface="Consolas" pitchFamily="34" charset="0"/>
                <a:ea typeface="Consolas" pitchFamily="34" charset="-122"/>
                <a:cs typeface="Consolas" pitchFamily="34" charset="-120"/>
              </a:rPr>
              <a:t>'type'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if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device_type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CE9178"/>
                </a:solidFill>
                <a:latin typeface="Consolas" pitchFamily="34" charset="0"/>
                <a:ea typeface="Consolas" pitchFamily="34" charset="-122"/>
                <a:cs typeface="Consolas" pitchFamily="34" charset="-120"/>
              </a:rPr>
              <a:t>'simulated'</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return</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SimulatedInstrumentAdapter</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elif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device_type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CE9178"/>
                </a:solidFill>
                <a:latin typeface="Consolas" pitchFamily="34" charset="0"/>
                <a:ea typeface="Consolas" pitchFamily="34" charset="-122"/>
                <a:cs typeface="Consolas" pitchFamily="34" charset="-120"/>
              </a:rPr>
              <a:t>'serial'</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return</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RealInstrumentAdapter</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port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config</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CE9178"/>
                </a:solidFill>
                <a:latin typeface="Consolas" pitchFamily="34" charset="0"/>
                <a:ea typeface="Consolas" pitchFamily="34" charset="-122"/>
                <a:cs typeface="Consolas" pitchFamily="34" charset="-120"/>
              </a:rPr>
              <a:t>'device'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CE9178"/>
                </a:solidFill>
                <a:latin typeface="Consolas" pitchFamily="34" charset="0"/>
                <a:ea typeface="Consolas" pitchFamily="34" charset="-122"/>
                <a:cs typeface="Consolas" pitchFamily="34" charset="-120"/>
              </a:rPr>
              <a:t>'port'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baud_rate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config</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CE9178"/>
                </a:solidFill>
                <a:latin typeface="Consolas" pitchFamily="34" charset="0"/>
                <a:ea typeface="Consolas" pitchFamily="34" charset="-122"/>
                <a:cs typeface="Consolas" pitchFamily="34" charset="-120"/>
              </a:rPr>
              <a:t>'device'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CE9178"/>
                </a:solidFill>
                <a:latin typeface="Consolas" pitchFamily="34" charset="0"/>
                <a:ea typeface="Consolas" pitchFamily="34" charset="-122"/>
                <a:cs typeface="Consolas" pitchFamily="34" charset="-120"/>
              </a:rPr>
              <a:t>'baud_rate'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else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raise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ValueError</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CE9178"/>
                </a:solidFill>
                <a:latin typeface="Consolas" pitchFamily="34" charset="0"/>
                <a:ea typeface="Consolas" pitchFamily="34" charset="-122"/>
                <a:cs typeface="Consolas" pitchFamily="34" charset="-120"/>
              </a:rPr>
              <a:t>f"Unknown device type: {device_type}"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6A9955"/>
                </a:solidFill>
                <a:latin typeface="Consolas" pitchFamily="34" charset="0"/>
                <a:ea typeface="Consolas" pitchFamily="34" charset="-122"/>
                <a:cs typeface="Consolas" pitchFamily="34" charset="-120"/>
              </a:rPr>
              <a:t># In main.py — ONE line decides real vs simulated</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adapter</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create_adapter</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config</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6A9955"/>
                </a:solidFill>
                <a:latin typeface="Consolas" pitchFamily="34" charset="0"/>
                <a:ea typeface="Consolas" pitchFamily="34" charset="-122"/>
                <a:cs typeface="Consolas" pitchFamily="34" charset="-120"/>
              </a:rPr>
              <a:t># Everything below this line is identical</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6A9955"/>
                </a:solidFill>
                <a:latin typeface="Consolas" pitchFamily="34" charset="0"/>
                <a:ea typeface="Consolas" pitchFamily="34" charset="-122"/>
                <a:cs typeface="Consolas" pitchFamily="34" charset="-120"/>
              </a:rPr>
              <a:t># regardless of which adapter was created</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adapter</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connect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reading</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adapter</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read_value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CE9178"/>
                </a:solidFill>
                <a:latin typeface="Consolas" pitchFamily="34" charset="0"/>
                <a:ea typeface="Consolas" pitchFamily="34" charset="-122"/>
                <a:cs typeface="Consolas" pitchFamily="34" charset="-120"/>
              </a:rPr>
              <a:t>"temperature"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E1E2E"/>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4FC3F7"/>
          </a:solidFill>
          <a:ln/>
        </p:spPr>
      </p:sp>
      <p:sp>
        <p:nvSpPr>
          <p:cNvPr id="3" name="Text 1"/>
          <p:cNvSpPr/>
          <p:nvPr/>
        </p:nvSpPr>
        <p:spPr>
          <a:xfrm>
            <a:off x="640080" y="274320"/>
            <a:ext cx="10972800" cy="731520"/>
          </a:xfrm>
          <a:prstGeom prst="rect">
            <a:avLst/>
          </a:prstGeom>
          <a:noFill/>
          <a:ln/>
        </p:spPr>
        <p:txBody>
          <a:bodyPr wrap="square" rtlCol="0" anchor="ctr"/>
          <a:lstStyle/>
          <a:p>
            <a:pPr indent="0" marL="0">
              <a:buNone/>
            </a:pPr>
            <a:r>
              <a:rPr lang="en-US" sz="3600" b="1" dirty="0">
                <a:solidFill>
                  <a:srgbClr val="4FC3F7"/>
                </a:solidFill>
                <a:latin typeface="Calibri Light" pitchFamily="34" charset="0"/>
                <a:ea typeface="Calibri Light" pitchFamily="34" charset="-122"/>
                <a:cs typeface="Calibri Light" pitchFamily="34" charset="-120"/>
              </a:rPr>
              <a:t>Lab 3 — Build the Adapter</a:t>
            </a:r>
            <a:endParaRPr lang="en-US" sz="3600" dirty="0"/>
          </a:p>
        </p:txBody>
      </p:sp>
      <p:sp>
        <p:nvSpPr>
          <p:cNvPr id="4" name="Text 2"/>
          <p:cNvSpPr/>
          <p:nvPr/>
        </p:nvSpPr>
        <p:spPr>
          <a:xfrm>
            <a:off x="822960" y="1188720"/>
            <a:ext cx="10424160" cy="5029200"/>
          </a:xfrm>
          <a:prstGeom prst="rect">
            <a:avLst/>
          </a:prstGeom>
          <a:noFill/>
          <a:ln/>
        </p:spPr>
        <p:txBody>
          <a:bodyPr wrap="square" rtlCol="0" anchor="t"/>
          <a:lstStyle/>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Review the InstrumentAdapter ABC in labmonitor/core/adapter_interface.py</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Review SimulatedInstrumentAdapter in labmonitor/drivers/simulated.py</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Write a test script that creates the adapter, connects, reads 10 values, disconnects</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Verify: isinstance(adapter, InstrumentAdapter) is True</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Extension: try toggling error modes</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Time: 30 minutes</a:t>
            </a:r>
            <a:endParaRPr lang="en-US" sz="15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E1E2E"/>
        </a:solidFill>
      </p:bgPr>
    </p:bg>
    <p:spTree>
      <p:nvGrpSpPr>
        <p:cNvPr id="1" name=""/>
        <p:cNvGrpSpPr/>
        <p:nvPr/>
      </p:nvGrpSpPr>
      <p:grpSpPr>
        <a:xfrm>
          <a:off x="0" y="0"/>
          <a:ext cx="0" cy="0"/>
          <a:chOff x="0" y="0"/>
          <a:chExt cx="0" cy="0"/>
        </a:xfrm>
      </p:grpSpPr>
      <p:sp>
        <p:nvSpPr>
          <p:cNvPr id="2" name="Text 0"/>
          <p:cNvSpPr/>
          <p:nvPr/>
        </p:nvSpPr>
        <p:spPr>
          <a:xfrm>
            <a:off x="640080" y="274320"/>
            <a:ext cx="10972800" cy="731520"/>
          </a:xfrm>
          <a:prstGeom prst="rect">
            <a:avLst/>
          </a:prstGeom>
          <a:noFill/>
          <a:ln/>
        </p:spPr>
        <p:txBody>
          <a:bodyPr wrap="square" rtlCol="0" anchor="ctr"/>
          <a:lstStyle/>
          <a:p>
            <a:pPr indent="0" marL="0">
              <a:buNone/>
            </a:pPr>
            <a:r>
              <a:rPr lang="en-US" sz="3600" b="1" dirty="0">
                <a:solidFill>
                  <a:srgbClr val="FFFFFF"/>
                </a:solidFill>
                <a:latin typeface="Calibri Light" pitchFamily="34" charset="0"/>
                <a:ea typeface="Calibri Light" pitchFamily="34" charset="-122"/>
                <a:cs typeface="Calibri Light" pitchFamily="34" charset="-120"/>
              </a:rPr>
              <a:t>Lab 3 Debrief</a:t>
            </a:r>
            <a:endParaRPr lang="en-US" sz="3600" dirty="0"/>
          </a:p>
        </p:txBody>
      </p:sp>
      <p:sp>
        <p:nvSpPr>
          <p:cNvPr id="3" name="Text 1"/>
          <p:cNvSpPr/>
          <p:nvPr/>
        </p:nvSpPr>
        <p:spPr>
          <a:xfrm>
            <a:off x="822960" y="1188720"/>
            <a:ext cx="10424160" cy="5029200"/>
          </a:xfrm>
          <a:prstGeom prst="rect">
            <a:avLst/>
          </a:prstGeom>
          <a:noFill/>
          <a:ln/>
        </p:spPr>
        <p:txBody>
          <a:bodyPr wrap="square" rtlCol="0" anchor="t"/>
          <a:lstStyle/>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Demo: same script, two different adapters, identical calling code</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The key insight: the calling code does not know or care which adapter is behind it</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"The controller does not care."</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This phrase is the architectural mantra of the entire course</a:t>
            </a:r>
            <a:endParaRPr lang="en-US" sz="15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E1E2E"/>
        </a:solidFill>
      </p:bgPr>
    </p:bg>
    <p:spTree>
      <p:nvGrpSpPr>
        <p:cNvPr id="1" name=""/>
        <p:cNvGrpSpPr/>
        <p:nvPr/>
      </p:nvGrpSpPr>
      <p:grpSpPr>
        <a:xfrm>
          <a:off x="0" y="0"/>
          <a:ext cx="0" cy="0"/>
          <a:chOff x="0" y="0"/>
          <a:chExt cx="0" cy="0"/>
        </a:xfrm>
      </p:grpSpPr>
      <p:sp>
        <p:nvSpPr>
          <p:cNvPr id="2" name="Text 0"/>
          <p:cNvSpPr/>
          <p:nvPr/>
        </p:nvSpPr>
        <p:spPr>
          <a:xfrm>
            <a:off x="640080" y="274320"/>
            <a:ext cx="10972800" cy="731520"/>
          </a:xfrm>
          <a:prstGeom prst="rect">
            <a:avLst/>
          </a:prstGeom>
          <a:noFill/>
          <a:ln/>
        </p:spPr>
        <p:txBody>
          <a:bodyPr wrap="square" rtlCol="0" anchor="ctr"/>
          <a:lstStyle/>
          <a:p>
            <a:pPr indent="0" marL="0">
              <a:buNone/>
            </a:pPr>
            <a:r>
              <a:rPr lang="en-US" sz="3600" b="1" dirty="0">
                <a:solidFill>
                  <a:srgbClr val="FFFFFF"/>
                </a:solidFill>
                <a:latin typeface="Calibri Light" pitchFamily="34" charset="0"/>
                <a:ea typeface="Calibri Light" pitchFamily="34" charset="-122"/>
                <a:cs typeface="Calibri Light" pitchFamily="34" charset="-120"/>
              </a:rPr>
              <a:t>The Problem — Measurement Modes</a:t>
            </a:r>
            <a:endParaRPr lang="en-US" sz="3600" dirty="0"/>
          </a:p>
        </p:txBody>
      </p:sp>
      <p:sp>
        <p:nvSpPr>
          <p:cNvPr id="3" name="Text 1"/>
          <p:cNvSpPr/>
          <p:nvPr/>
        </p:nvSpPr>
        <p:spPr>
          <a:xfrm>
            <a:off x="822960" y="1188720"/>
            <a:ext cx="10424160" cy="5029200"/>
          </a:xfrm>
          <a:prstGeom prst="rect">
            <a:avLst/>
          </a:prstGeom>
          <a:noFill/>
          <a:ln/>
        </p:spPr>
        <p:txBody>
          <a:bodyPr wrap="square" rtlCol="0" anchor="t"/>
          <a:lstStyle/>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Your instrument supports: single reading, continuous, burst, averaging</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Without the Strategy pattern: massive if/elif chain</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Adding a new mode means editing the core logic, risky and ugly</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Every time you see a big if/elif for different modes, you're looking at a Strategy opportunity</a:t>
            </a:r>
            <a:endParaRPr lang="en-US" sz="15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E1E2E"/>
        </a:solidFill>
      </p:bgPr>
    </p:bg>
    <p:spTree>
      <p:nvGrpSpPr>
        <p:cNvPr id="1" name=""/>
        <p:cNvGrpSpPr/>
        <p:nvPr/>
      </p:nvGrpSpPr>
      <p:grpSpPr>
        <a:xfrm>
          <a:off x="0" y="0"/>
          <a:ext cx="0" cy="0"/>
          <a:chOff x="0" y="0"/>
          <a:chExt cx="0" cy="0"/>
        </a:xfrm>
      </p:grpSpPr>
      <p:sp>
        <p:nvSpPr>
          <p:cNvPr id="2" name="Text 0"/>
          <p:cNvSpPr/>
          <p:nvPr/>
        </p:nvSpPr>
        <p:spPr>
          <a:xfrm>
            <a:off x="640080" y="182880"/>
            <a:ext cx="10972800" cy="594360"/>
          </a:xfrm>
          <a:prstGeom prst="rect">
            <a:avLst/>
          </a:prstGeom>
          <a:noFill/>
          <a:ln/>
        </p:spPr>
        <p:txBody>
          <a:bodyPr wrap="square" rtlCol="0" anchor="ctr"/>
          <a:lstStyle/>
          <a:p>
            <a:pPr indent="0" marL="0">
              <a:buNone/>
            </a:pPr>
            <a:r>
              <a:rPr lang="en-US" sz="3200" b="1" dirty="0">
                <a:solidFill>
                  <a:srgbClr val="FFFFFF"/>
                </a:solidFill>
                <a:latin typeface="Calibri Light" pitchFamily="34" charset="0"/>
                <a:ea typeface="Calibri Light" pitchFamily="34" charset="-122"/>
                <a:cs typeface="Calibri Light" pitchFamily="34" charset="-120"/>
              </a:rPr>
              <a:t>The Strategy Pattern — Bad vs Good</a:t>
            </a:r>
            <a:endParaRPr lang="en-US" sz="3200" dirty="0"/>
          </a:p>
        </p:txBody>
      </p:sp>
      <p:sp>
        <p:nvSpPr>
          <p:cNvPr id="3" name="Text 1"/>
          <p:cNvSpPr/>
          <p:nvPr/>
        </p:nvSpPr>
        <p:spPr>
          <a:xfrm>
            <a:off x="457200" y="868680"/>
            <a:ext cx="5394960" cy="411480"/>
          </a:xfrm>
          <a:prstGeom prst="rect">
            <a:avLst/>
          </a:prstGeom>
          <a:noFill/>
          <a:ln/>
        </p:spPr>
        <p:txBody>
          <a:bodyPr wrap="square" rtlCol="0" anchor="ctr"/>
          <a:lstStyle/>
          <a:p>
            <a:pPr indent="0" marL="0">
              <a:buNone/>
            </a:pPr>
            <a:r>
              <a:rPr lang="en-US" sz="1400" b="1" dirty="0">
                <a:solidFill>
                  <a:srgbClr val="FF6B6B"/>
                </a:solidFill>
                <a:latin typeface="Calibri" pitchFamily="34" charset="0"/>
                <a:ea typeface="Calibri" pitchFamily="34" charset="-122"/>
                <a:cs typeface="Calibri" pitchFamily="34" charset="-120"/>
              </a:rPr>
              <a:t>if/elif sprawl</a:t>
            </a:r>
            <a:endParaRPr lang="en-US" sz="1400" dirty="0"/>
          </a:p>
        </p:txBody>
      </p:sp>
      <p:sp>
        <p:nvSpPr>
          <p:cNvPr id="4" name="Text 2"/>
          <p:cNvSpPr/>
          <p:nvPr/>
        </p:nvSpPr>
        <p:spPr>
          <a:xfrm>
            <a:off x="6336792" y="868680"/>
            <a:ext cx="5394960" cy="411480"/>
          </a:xfrm>
          <a:prstGeom prst="rect">
            <a:avLst/>
          </a:prstGeom>
          <a:noFill/>
          <a:ln/>
        </p:spPr>
        <p:txBody>
          <a:bodyPr wrap="square" rtlCol="0" anchor="ctr"/>
          <a:lstStyle/>
          <a:p>
            <a:pPr indent="0" marL="0">
              <a:buNone/>
            </a:pPr>
            <a:r>
              <a:rPr lang="en-US" sz="1400" b="1" dirty="0">
                <a:solidFill>
                  <a:srgbClr val="66BB6A"/>
                </a:solidFill>
                <a:latin typeface="Calibri" pitchFamily="34" charset="0"/>
                <a:ea typeface="Calibri" pitchFamily="34" charset="-122"/>
                <a:cs typeface="Calibri" pitchFamily="34" charset="-120"/>
              </a:rPr>
              <a:t>Strategy objects</a:t>
            </a:r>
            <a:endParaRPr lang="en-US" sz="1400" dirty="0"/>
          </a:p>
        </p:txBody>
      </p:sp>
      <p:sp>
        <p:nvSpPr>
          <p:cNvPr id="5" name="Shape 3"/>
          <p:cNvSpPr/>
          <p:nvPr/>
        </p:nvSpPr>
        <p:spPr>
          <a:xfrm>
            <a:off x="457200" y="1280160"/>
            <a:ext cx="5394960" cy="4572000"/>
          </a:xfrm>
          <a:prstGeom prst="rect">
            <a:avLst>
              <a:gd name="adj" fmla="val 2000"/>
            </a:avLst>
          </a:prstGeom>
          <a:solidFill>
            <a:srgbClr val="0D1117"/>
          </a:solidFill>
          <a:ln/>
        </p:spPr>
      </p:sp>
      <p:sp>
        <p:nvSpPr>
          <p:cNvPr id="6" name="Shape 4"/>
          <p:cNvSpPr/>
          <p:nvPr/>
        </p:nvSpPr>
        <p:spPr>
          <a:xfrm>
            <a:off x="6336792" y="1280160"/>
            <a:ext cx="5394960" cy="4572000"/>
          </a:xfrm>
          <a:prstGeom prst="rect">
            <a:avLst>
              <a:gd name="adj" fmla="val 2000"/>
            </a:avLst>
          </a:prstGeom>
          <a:solidFill>
            <a:srgbClr val="0D1117"/>
          </a:solidFill>
          <a:ln/>
        </p:spPr>
      </p:sp>
      <p:sp>
        <p:nvSpPr>
          <p:cNvPr id="7" name="Shape 5"/>
          <p:cNvSpPr/>
          <p:nvPr/>
        </p:nvSpPr>
        <p:spPr>
          <a:xfrm>
            <a:off x="6094476" y="914400"/>
            <a:ext cx="0" cy="5120640"/>
          </a:xfrm>
          <a:prstGeom prst="line">
            <a:avLst/>
          </a:prstGeom>
          <a:noFill/>
          <a:ln w="12700">
            <a:solidFill>
              <a:srgbClr val="444466"/>
            </a:solidFill>
            <a:prstDash val="solid"/>
          </a:ln>
        </p:spPr>
      </p:sp>
      <p:sp>
        <p:nvSpPr>
          <p:cNvPr id="8" name="Text 6"/>
          <p:cNvSpPr/>
          <p:nvPr/>
        </p:nvSpPr>
        <p:spPr>
          <a:xfrm>
            <a:off x="594360" y="1371600"/>
            <a:ext cx="5120640" cy="4389120"/>
          </a:xfrm>
          <a:prstGeom prst="rect">
            <a:avLst/>
          </a:prstGeom>
          <a:noFill/>
          <a:ln/>
        </p:spPr>
        <p:txBody>
          <a:bodyPr wrap="square" rtlCol="0" anchor="t"/>
          <a:lstStyle/>
          <a:p>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def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measure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mode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adapter</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if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mode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CE9178"/>
                </a:solidFill>
                <a:latin typeface="Consolas" pitchFamily="34" charset="0"/>
                <a:ea typeface="Consolas" pitchFamily="34" charset="-122"/>
                <a:cs typeface="Consolas" pitchFamily="34" charset="-120"/>
              </a:rPr>
              <a:t>'single'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return</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adapter</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read_value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CE9178"/>
                </a:solidFill>
                <a:latin typeface="Consolas" pitchFamily="34" charset="0"/>
                <a:ea typeface="Consolas" pitchFamily="34" charset="-122"/>
                <a:cs typeface="Consolas" pitchFamily="34" charset="-120"/>
              </a:rPr>
              <a:t>'temp'</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elif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mode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CE9178"/>
                </a:solidFill>
                <a:latin typeface="Consolas" pitchFamily="34" charset="0"/>
                <a:ea typeface="Consolas" pitchFamily="34" charset="-122"/>
                <a:cs typeface="Consolas" pitchFamily="34" charset="-120"/>
              </a:rPr>
              <a:t>'continuous'</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results</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for</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_</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in</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range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n_readings</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results</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append</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adapter</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read_value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CE9178"/>
                </a:solidFill>
                <a:latin typeface="Consolas" pitchFamily="34" charset="0"/>
                <a:ea typeface="Consolas" pitchFamily="34" charset="-122"/>
                <a:cs typeface="Consolas" pitchFamily="34" charset="-120"/>
              </a:rPr>
              <a:t>'temp'</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time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sleep</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interval</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return</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results</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elif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mode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CE9178"/>
                </a:solidFill>
                <a:latin typeface="Consolas" pitchFamily="34" charset="0"/>
                <a:ea typeface="Consolas" pitchFamily="34" charset="-122"/>
                <a:cs typeface="Consolas" pitchFamily="34" charset="-120"/>
              </a:rPr>
              <a:t>'averaging'</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values</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adapter</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read_value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CE9178"/>
                </a:solidFill>
                <a:latin typeface="Consolas" pitchFamily="34" charset="0"/>
                <a:ea typeface="Consolas" pitchFamily="34" charset="-122"/>
                <a:cs typeface="Consolas" pitchFamily="34" charset="-120"/>
              </a:rPr>
              <a:t>'temp'</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for</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_</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in</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range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n_samples</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avg</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sum</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v</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value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for</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v</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in</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values</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avg</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len</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values</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return</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Reading</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avg</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CE9178"/>
                </a:solidFill>
                <a:latin typeface="Consolas" pitchFamily="34" charset="0"/>
                <a:ea typeface="Consolas" pitchFamily="34" charset="-122"/>
                <a:cs typeface="Consolas" pitchFamily="34" charset="-120"/>
              </a:rPr>
              <a:t>'degC'</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CE9178"/>
                </a:solidFill>
                <a:latin typeface="Consolas" pitchFamily="34" charset="0"/>
                <a:ea typeface="Consolas" pitchFamily="34" charset="-122"/>
                <a:cs typeface="Consolas" pitchFamily="34" charset="-120"/>
              </a:rPr>
              <a:t>'temp'</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6A9955"/>
                </a:solidFill>
                <a:latin typeface="Consolas" pitchFamily="34" charset="0"/>
                <a:ea typeface="Consolas" pitchFamily="34" charset="-122"/>
                <a:cs typeface="Consolas" pitchFamily="34" charset="-120"/>
              </a:rPr>
              <a:t># Adding a new mode? Edit here.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6A9955"/>
                </a:solidFill>
                <a:latin typeface="Consolas" pitchFamily="34" charset="0"/>
                <a:ea typeface="Consolas" pitchFamily="34" charset="-122"/>
                <a:cs typeface="Consolas" pitchFamily="34" charset="-120"/>
              </a:rPr>
              <a:t># Hope nothing breaks.</a:t>
            </a:r>
            <a:endParaRPr lang="en-US" sz="1100" dirty="0"/>
          </a:p>
        </p:txBody>
      </p:sp>
      <p:sp>
        <p:nvSpPr>
          <p:cNvPr id="9" name="Text 7"/>
          <p:cNvSpPr/>
          <p:nvPr/>
        </p:nvSpPr>
        <p:spPr>
          <a:xfrm>
            <a:off x="6473952" y="1371600"/>
            <a:ext cx="5120640" cy="4389120"/>
          </a:xfrm>
          <a:prstGeom prst="rect">
            <a:avLst/>
          </a:prstGeom>
          <a:noFill/>
          <a:ln/>
        </p:spPr>
        <p:txBody>
          <a:bodyPr wrap="square" rtlCol="0" anchor="t"/>
          <a:lstStyle/>
          <a:p>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class</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MeasurementStrategy</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4EC9B0"/>
                </a:solidFill>
                <a:latin typeface="Consolas" pitchFamily="34" charset="0"/>
                <a:ea typeface="Consolas" pitchFamily="34" charset="-122"/>
                <a:cs typeface="Consolas" pitchFamily="34" charset="-120"/>
              </a:rPr>
              <a:t>ABC</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@abstractmethod</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def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execute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adapter</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&gt;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list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class</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SingleRead</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4EC9B0"/>
                </a:solidFill>
                <a:latin typeface="Consolas" pitchFamily="34" charset="0"/>
                <a:ea typeface="Consolas" pitchFamily="34" charset="-122"/>
                <a:cs typeface="Consolas" pitchFamily="34" charset="-120"/>
              </a:rPr>
              <a:t>MeasurementStrategy</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def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execute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adapter</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return</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adapter</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read_value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CE9178"/>
                </a:solidFill>
                <a:latin typeface="Consolas" pitchFamily="34" charset="0"/>
                <a:ea typeface="Consolas" pitchFamily="34" charset="-122"/>
                <a:cs typeface="Consolas" pitchFamily="34" charset="-120"/>
              </a:rPr>
              <a:t>'temp'</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class</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Averaging</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4EC9B0"/>
                </a:solidFill>
                <a:latin typeface="Consolas" pitchFamily="34" charset="0"/>
                <a:ea typeface="Consolas" pitchFamily="34" charset="-122"/>
                <a:cs typeface="Consolas" pitchFamily="34" charset="-120"/>
              </a:rPr>
              <a:t>MeasurementStrategy</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def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execute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adapter</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vals</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adapter</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read_value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CE9178"/>
                </a:solidFill>
                <a:latin typeface="Consolas" pitchFamily="34" charset="0"/>
                <a:ea typeface="Consolas" pitchFamily="34" charset="-122"/>
                <a:cs typeface="Consolas" pitchFamily="34" charset="-120"/>
              </a:rPr>
              <a:t>'temp'</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for</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_</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in</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range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n</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avg</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sum</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v</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value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for</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v</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in</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vals</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avg</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len</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vals</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return</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Reading</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avg</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CE9178"/>
                </a:solidFill>
                <a:latin typeface="Consolas" pitchFamily="34" charset="0"/>
                <a:ea typeface="Consolas" pitchFamily="34" charset="-122"/>
                <a:cs typeface="Consolas" pitchFamily="34" charset="-120"/>
              </a:rPr>
              <a:t>'degC'</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CE9178"/>
                </a:solidFill>
                <a:latin typeface="Consolas" pitchFamily="34" charset="0"/>
                <a:ea typeface="Consolas" pitchFamily="34" charset="-122"/>
                <a:cs typeface="Consolas" pitchFamily="34" charset="-120"/>
              </a:rPr>
              <a:t>'temp'</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6A9955"/>
                </a:solidFill>
                <a:latin typeface="Consolas" pitchFamily="34" charset="0"/>
                <a:ea typeface="Consolas" pitchFamily="34" charset="-122"/>
                <a:cs typeface="Consolas" pitchFamily="34" charset="-120"/>
              </a:rPr>
              <a:t># Adding a new mode? New class. Done.</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E1E2E"/>
        </a:solidFill>
      </p:bgPr>
    </p:bg>
    <p:spTree>
      <p:nvGrpSpPr>
        <p:cNvPr id="1" name=""/>
        <p:cNvGrpSpPr/>
        <p:nvPr/>
      </p:nvGrpSpPr>
      <p:grpSpPr>
        <a:xfrm>
          <a:off x="0" y="0"/>
          <a:ext cx="0" cy="0"/>
          <a:chOff x="0" y="0"/>
          <a:chExt cx="0" cy="0"/>
        </a:xfrm>
      </p:grpSpPr>
      <p:sp>
        <p:nvSpPr>
          <p:cNvPr id="2" name="Text 0"/>
          <p:cNvSpPr/>
          <p:nvPr/>
        </p:nvSpPr>
        <p:spPr>
          <a:xfrm>
            <a:off x="640080" y="182880"/>
            <a:ext cx="10972800" cy="640080"/>
          </a:xfrm>
          <a:prstGeom prst="rect">
            <a:avLst/>
          </a:prstGeom>
          <a:noFill/>
          <a:ln/>
        </p:spPr>
        <p:txBody>
          <a:bodyPr wrap="square" rtlCol="0" anchor="ctr"/>
          <a:lstStyle/>
          <a:p>
            <a:pPr indent="0" marL="0">
              <a:buNone/>
            </a:pPr>
            <a:r>
              <a:rPr lang="en-US" sz="3200" b="1" dirty="0">
                <a:solidFill>
                  <a:srgbClr val="FFFFFF"/>
                </a:solidFill>
                <a:latin typeface="Calibri Light" pitchFamily="34" charset="0"/>
                <a:ea typeface="Calibri Light" pitchFamily="34" charset="-122"/>
                <a:cs typeface="Calibri Light" pitchFamily="34" charset="-120"/>
              </a:rPr>
              <a:t>Combining Adapter + Strategy</a:t>
            </a:r>
            <a:endParaRPr lang="en-US" sz="3200" dirty="0"/>
          </a:p>
        </p:txBody>
      </p:sp>
      <p:sp>
        <p:nvSpPr>
          <p:cNvPr id="3" name="Shape 1"/>
          <p:cNvSpPr/>
          <p:nvPr/>
        </p:nvSpPr>
        <p:spPr>
          <a:xfrm>
            <a:off x="457200" y="960120"/>
            <a:ext cx="11274552" cy="4846320"/>
          </a:xfrm>
          <a:prstGeom prst="rect">
            <a:avLst>
              <a:gd name="adj" fmla="val 1887"/>
            </a:avLst>
          </a:prstGeom>
          <a:solidFill>
            <a:srgbClr val="0D1117"/>
          </a:solidFill>
          <a:ln/>
        </p:spPr>
      </p:sp>
      <p:sp>
        <p:nvSpPr>
          <p:cNvPr id="4" name="Text 2"/>
          <p:cNvSpPr/>
          <p:nvPr/>
        </p:nvSpPr>
        <p:spPr>
          <a:xfrm>
            <a:off x="640080" y="1051560"/>
            <a:ext cx="10881360" cy="4663440"/>
          </a:xfrm>
          <a:prstGeom prst="rect">
            <a:avLst/>
          </a:prstGeom>
          <a:noFill/>
          <a:ln/>
        </p:spPr>
        <p:txBody>
          <a:bodyPr wrap="square" rtlCol="0" anchor="t"/>
          <a:lstStyle/>
          <a:p>
            <a:pPr indent="0" marL="0">
              <a:lnSpc>
                <a:spcPct val="108000"/>
              </a:lnSpc>
              <a:buNone/>
            </a:pPr>
            <a:r>
              <a:rPr lang="en-US" sz="1100" dirty="0">
                <a:solidFill>
                  <a:srgbClr val="6A9955"/>
                </a:solidFill>
                <a:latin typeface="Consolas" pitchFamily="34" charset="0"/>
                <a:ea typeface="Consolas" pitchFamily="34" charset="-122"/>
                <a:cs typeface="Consolas" pitchFamily="34" charset="-120"/>
              </a:rPr>
              <a:t># The controller picks a strategy and an adapter.</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6A9955"/>
                </a:solidFill>
                <a:latin typeface="Consolas" pitchFamily="34" charset="0"/>
                <a:ea typeface="Consolas" pitchFamily="34" charset="-122"/>
                <a:cs typeface="Consolas" pitchFamily="34" charset="-120"/>
              </a:rPr>
              <a:t># Neither knows the other's internals.</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adapter</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create_adapter</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config</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6A9955"/>
                </a:solidFill>
                <a:latin typeface="Consolas" pitchFamily="34" charset="0"/>
                <a:ea typeface="Consolas" pitchFamily="34" charset="-122"/>
                <a:cs typeface="Consolas" pitchFamily="34" charset="-120"/>
              </a:rPr>
              <a:t># could be real or simulated</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strategy</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create_strategy</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config</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6A9955"/>
                </a:solidFill>
                <a:latin typeface="Consolas" pitchFamily="34" charset="0"/>
                <a:ea typeface="Consolas" pitchFamily="34" charset="-122"/>
                <a:cs typeface="Consolas" pitchFamily="34" charset="-120"/>
              </a:rPr>
              <a:t># could be single, continuous, averaging</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adapter</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connect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readings</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strategy</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execute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adapter</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6A9955"/>
                </a:solidFill>
                <a:latin typeface="Consolas" pitchFamily="34" charset="0"/>
                <a:ea typeface="Consolas" pitchFamily="34" charset="-122"/>
                <a:cs typeface="Consolas" pitchFamily="34" charset="-120"/>
              </a:rPr>
              <a:t># strategy uses adapter</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adapter</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disconnect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6A9955"/>
                </a:solidFill>
                <a:latin typeface="Consolas" pitchFamily="34" charset="0"/>
                <a:ea typeface="Consolas" pitchFamily="34" charset="-122"/>
                <a:cs typeface="Consolas" pitchFamily="34" charset="-120"/>
              </a:rPr>
              <a:t># New device? New adapter class. Strategy unchanged.</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6A9955"/>
                </a:solidFill>
                <a:latin typeface="Consolas" pitchFamily="34" charset="0"/>
                <a:ea typeface="Consolas" pitchFamily="34" charset="-122"/>
                <a:cs typeface="Consolas" pitchFamily="34" charset="-120"/>
              </a:rPr>
              <a:t># New mode?   New strategy class. Adapter unchanged.</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6A9955"/>
                </a:solidFill>
                <a:latin typeface="Consolas" pitchFamily="34" charset="0"/>
                <a:ea typeface="Consolas" pitchFamily="34" charset="-122"/>
                <a:cs typeface="Consolas" pitchFamily="34" charset="-120"/>
              </a:rPr>
              <a:t># M strategies x N adapters, all interchangeable.</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E1E2E"/>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4FC3F7"/>
          </a:solidFill>
          <a:ln/>
        </p:spPr>
      </p:sp>
      <p:sp>
        <p:nvSpPr>
          <p:cNvPr id="3" name="Text 1"/>
          <p:cNvSpPr/>
          <p:nvPr/>
        </p:nvSpPr>
        <p:spPr>
          <a:xfrm>
            <a:off x="640080" y="274320"/>
            <a:ext cx="10972800" cy="731520"/>
          </a:xfrm>
          <a:prstGeom prst="rect">
            <a:avLst/>
          </a:prstGeom>
          <a:noFill/>
          <a:ln/>
        </p:spPr>
        <p:txBody>
          <a:bodyPr wrap="square" rtlCol="0" anchor="ctr"/>
          <a:lstStyle/>
          <a:p>
            <a:pPr indent="0" marL="0">
              <a:buNone/>
            </a:pPr>
            <a:r>
              <a:rPr lang="en-US" sz="3600" b="1" dirty="0">
                <a:solidFill>
                  <a:srgbClr val="4FC3F7"/>
                </a:solidFill>
                <a:latin typeface="Calibri Light" pitchFamily="34" charset="0"/>
                <a:ea typeface="Calibri Light" pitchFamily="34" charset="-122"/>
                <a:cs typeface="Calibri Light" pitchFamily="34" charset="-120"/>
              </a:rPr>
              <a:t>Lab 4 — Implement Strategies</a:t>
            </a:r>
            <a:endParaRPr lang="en-US" sz="3600" dirty="0"/>
          </a:p>
        </p:txBody>
      </p:sp>
      <p:sp>
        <p:nvSpPr>
          <p:cNvPr id="4" name="Text 2"/>
          <p:cNvSpPr/>
          <p:nvPr/>
        </p:nvSpPr>
        <p:spPr>
          <a:xfrm>
            <a:off x="822960" y="1188720"/>
            <a:ext cx="10424160" cy="5029200"/>
          </a:xfrm>
          <a:prstGeom prst="rect">
            <a:avLst/>
          </a:prstGeom>
          <a:noFill/>
          <a:ln/>
        </p:spPr>
        <p:txBody>
          <a:bodyPr wrap="square" rtlCol="0" anchor="t"/>
          <a:lstStyle/>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Review the strategy implementations in labmonitor/core/strategies.py</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Write a script that creates all three strategies</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Run each strategy on the same SimulatedInstrumentAdapter</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Show that strategies are interchangeable: write a run_strategy() function</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Extension: create a BurstReadStrategy or FilteredStrategy</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Time: 20 minutes</a:t>
            </a:r>
            <a:endParaRPr lang="en-US" sz="15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640080" y="274320"/>
            <a:ext cx="10972800" cy="731520"/>
          </a:xfrm>
          <a:prstGeom prst="rect">
            <a:avLst/>
          </a:prstGeom>
          <a:noFill/>
          <a:ln/>
        </p:spPr>
        <p:txBody>
          <a:bodyPr wrap="square" rtlCol="0" anchor="ctr"/>
          <a:lstStyle/>
          <a:p>
            <a:pPr indent="0" marL="0">
              <a:buNone/>
            </a:pPr>
            <a:r>
              <a:rPr lang="en-US" sz="3600" b="1" dirty="0">
                <a:solidFill>
                  <a:srgbClr val="FFFFFF"/>
                </a:solidFill>
                <a:latin typeface="Calibri Light" pitchFamily="34" charset="0"/>
                <a:ea typeface="Calibri Light" pitchFamily="34" charset="-122"/>
                <a:cs typeface="Calibri Light" pitchFamily="34" charset="-120"/>
              </a:rPr>
              <a:t>Day 1 Recap</a:t>
            </a:r>
            <a:endParaRPr lang="en-US" sz="3600" dirty="0"/>
          </a:p>
        </p:txBody>
      </p:sp>
      <p:sp>
        <p:nvSpPr>
          <p:cNvPr id="3" name="Text 1"/>
          <p:cNvSpPr/>
          <p:nvPr/>
        </p:nvSpPr>
        <p:spPr>
          <a:xfrm>
            <a:off x="822960" y="1188720"/>
            <a:ext cx="10424160" cy="5029200"/>
          </a:xfrm>
          <a:prstGeom prst="rect">
            <a:avLst/>
          </a:prstGeom>
          <a:noFill/>
          <a:ln/>
        </p:spPr>
        <p:txBody>
          <a:bodyPr wrap="square" rtlCol="0" anchor="t"/>
          <a:lstStyle/>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Started with a messy script, identified why it breaks</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Learned OOP: objects, state, responsibility, composition</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Identified seams in a messy driver and refactored toward clarity</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Built an Adapter to abstract hardware (real vs simulated)</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Built Strategies to abstract measurement behaviour</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Tomorrow: wrap all of this in a real PySide6 desktop application</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Day 1 - From Script to Architecture</dc:subject>
  <dc:creator>National Labs Training</dc:creator>
  <cp:lastModifiedBy>National Labs Training</cp:lastModifiedBy>
  <cp:revision>1</cp:revision>
  <dcterms:created xsi:type="dcterms:W3CDTF">2026-03-24T13:19:27Z</dcterms:created>
  <dcterms:modified xsi:type="dcterms:W3CDTF">2026-03-24T13:19:27Z</dcterms:modified>
</cp:coreProperties>
</file>