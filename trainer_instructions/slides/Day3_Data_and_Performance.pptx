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(2 min)
Welcome to Day 3. Final day.
'Yesterday you had a working app. Today we answer: where does the data go? And how do we keep it fast?'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 PREVIEW (3 min)
Ask: 'What's the mantra?' Students should say: 'The controller does not care.'
'Today we apply that same principle to data output.'
Preview: DataSink, writer thread, config, units, performance, live plotting.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TRANSITION (30 sec)
'Same idea as Adapter, but for output instead of input.'
If students are confident with Adapter by now, this section will go quickly.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(3 min)
Draw the parallel: Adapter abstracts input (hardware). DataSink abstracts output (files).
Ask: 'Where have we seen this pattern before?' (Adapter, Strategy, same idea, different context.)
'This is deliberate repetition. The same architectural idea solves the same structural problem everywhere.'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CODE WALKTHROUGH (4 min)
Walk through the ABC. Three methods: open, write, close.
'That\'s it. Adding a new output format means adding one class.'
Ask: 'What does open() receive?' (Metadata dict.) 'What does write() receive?' (A Reading object.)
Contrast with the messy approach: open + write header + write row + close all mixed into the acquisition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CODE WALKTHROUGH (5 min)
Left: 'CsvSink opens a file, writes headers, appends rows. Simple and universally readable.'
Right: 'JsonMetadataSink writes experiment context: who, what, when, which instrument, which config.'
Key point: 'Every dataset should have a metadata file. Six months from now, you\'ll look at data_20260324.csv and ask: what was this?'
Ask: 'What metadata do you wish your current data files had?'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CODE WALKTHROUGH (4 min)
Show CompositeSink: holds a list of sinks, delegates write() to all.
Analogy: 'Like the Unix tee command.'
Ask: 'What if one sink fails?' (CompositeSink should catch the exception and continue with others.)
Bottom: 'Add Hdf5Sink later, no other code changes.' Same extensibility as Adapter.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SETUP (2 min then 30 min lab)
Key instruction: 'Create a CompositeSink with CSV + JSON metadata. Generate 20 readings. Verify both files.'
Common issues: forgetting to call open() or close(), confused about metadata dict.
Extension: implement Hdf5Sink using h5py.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TRANSITION (30 sec)
'What happens when file I/O is too slow for the acquisition rate?'
Ask: 'Has anyone had a data acquisition system that missed readings because it was busy writing to disk?'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(3 min)
Explain the problem: acquisition waits for disk write, misses readings.
Draw the timeline: [read][write....][read][write....] with gaps.
Solution: decouple with a queue. Next slide shows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CODE WALKTHROUGH (5 min)
Left: 'Acquisition writes to disk in the loop. If disk is slow, we miss readings.'
Right: 'queue.put(reading) is instant. Writer runs independently at its own pace.'
Bottom note: 'The queue absorbs bursts. If disk is temporarily slow, readings buffer in the queue.'
Ask: 'What\'s the advantage of a queue over direct writing?' (Acquisition never waits for disk.)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CODE WALKTHROUGH (5 min)
Walk through WriterThread. Key points:
'queue.get() blocks until data arrives, so the writer sleeps when idle.'
'None is the sentinel: put None on queue to signal shutdown.'
'writer.join() waits for the writer to finish, so no data is lost.'
Common misconception: 'I need a lock.' No, queue.Queue handles locking internally.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SETUP (2 min then 20 min lab)
Shorter lab, the concept is simple after Lab 5.
Key instruction: 'Use None as a sentinel for shutdown.'
Common issues: forgetting the sentinel, not joining the writer thread.
Timing: 15-20 minutes. Reinforcement of the threading pattern from Day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TRANSITION (30 sec)
'Three topics that separately seem small, but together make the difference between a script and a professional tool.'
These three topics can be brisk, 15-20 minutes total.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CODE WALKTHROUGH (4 min)
Live demo in REPL alongside the slide.
'Attach units to values. No more guessing whether it\'s Celsius or Fahrenheit.'
Ask: 'Where should unit conversion happen?' (At the boundary. Adapter attaches. Sink writes. View formats.)
Common misconception: 'I\'ll just use floats and remember.' Counter: 'Mars Climate Orbiter.'
Keep practical: Pint is optional in labs but valuable in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(3 min)
Ask: 'Have you ever found a data file and couldn\'t figure out what instrument produced it?'
Key point: 'If you can\'t reproduce the experiment from the metadata, the data is an orphan.'
This is professional discipline, especially important in regulated environments.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CODE WALKTHROUGH (5 min)
Left column: walk through the YAML structure. Point out each configurable parameter.
Right column: show how Python loads and uses it.
Demo: change device.type from simulated to serial. 'No code changes.'
Key point: 'Configuration turns code changes into settings changes. Safer, faster, auditable.'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SETUP (2 min then 20 min lab)
The real learning is experimentation: 'Change device.type in YAML. Re-run. What changed?'
Common issue: students who edit Python code instead of YAML. Redirect: 'The whole point is that you DON\'T edit code.'
Quick lab, mostly experimentation.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TRANSITION (30 sec)
Ask: 'Who\'s had a GUI that froze, stuttered, or couldn\'t keep up with data?'
'We\'re going to diagnose the six most common problems and fix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(4 min)
Walk through each. Ask: 'Have we already solved this one?'
1. Event loop blocking: Solved, worker thread. 2. Too many GUI updates: Not yet. 3. Wrong-thread updates: Solved, signals. 4. Slow file I/O: Solved, writer thread. 5. Slow parsing: Not yet. 6. No buffering: Not yet.
Key insight: 'Three of six are already solved by our architecture. Good architecture IS performance engineering.'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CODE WALKTHROUGH (4 min)
Show diagnostic techniques: time.perf_counter(), queue.qsize().
Walk through the checklist: three already solved, three remaining.
'We\'ll focus on GUI throttling, it\'s the most impactful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CODE WALKTHROUGH (5 min)
This is one of the most impactful performance fixes in the course.
Top: 'BAD: update view on every signal. 100 setText() calls per second.'
Bottom: 'GOOD: QTimer at 30 Hz. Store latest reading. Refresh at display rate.'
Ask: 'Why 30 Hz?' (Human perception. Can\'t see updates faster than ~25 Hz. 30 Hz is smooth. 1000 Hz is wasteful.)
Bottom note: 'One change: 100 redraws/sec drops to 30. Jerky becomes silky smooth.'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TRANSITION (30 sec)
Ask: 'Who\'s tried real-time plotting with Matplotlib?' (Groans.) 'There\'s a better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(3 min)
'Matplotlib: excellent for static plots. Too slow for real-time.'
'PyQtGraph: designed for real-time, Qt-native, 60+ FPS.'
Demo: show the LabMonitor app with the plot running. Smooth scrolling, no flicker.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CODE WALKTHROUGH (5 min)
Walk through the LivePlotWidget class.
Three key techniques: ring buffer (fixed-size numpy array), update at display rate (30 Hz), setData() replaces all data.
Ask: 'Why two separate plots instead of one with two Y axes?' (Different scales. Temperature in C and voltage in V don\'t share a meaningful Y axis.)
This is the code students will use in Lab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SETUP (2 min then 30 min lab)
This is the most rewarding lab. Students see a live scrolling chart.
Common issues: QTimer not started, ring buffer not wrapping, only one channel showing.
Extension: add a 'Performance mode' that reduces update 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TRANSITION (30 sec)
'Let\'s step back and see what we\'ve built.' This is the synthesis moment.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SYNTHESIS (5 min)
Show the full LabMonitor application running with all components.
Walk through the list: each feature maps to a pattern they built themselves.
'You didn\'t just learn patterns in theory. You built a working application that uses all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SYNTHESIS (5 min)
Walk through each extension.
Ask: 'How many files change to add a new measurement mode?' (One.) 'A new device?' (One.) 'A new config option?' (Zero code, one config.)
'Every change is local. Nothing ripples. This is the architectural payoff of three days of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FORWARD-LOOKING (3 min)
Briefly touch each topic. Don\'t go deep.
Testing: start with smoke tests. Packaging: PyInstaller. Version control: Git. CI/CD: automated testing. Documentation: docstrings where they matter.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(5 min)
Read the 3-day summary. Let it sink in.
Say the mantra one last time: 'The controller does not care.'
Ask: 'What\'s the one thing you\'ll do differently on Monday?'
Key message: 'Start with one pattern, probably Adapter. Separate your hardware from your logic. Everything else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(1 min)
Thank students. Remind them: the full project code is theirs to keep.
Hand out feedback forms. Pack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731520" y="1463040"/>
            <a:ext cx="10698480" cy="1280160"/>
          </a:xfrm>
          <a:prstGeom prst="rect">
            <a:avLst/>
          </a:prstGeom>
          <a:noFill/>
          <a:ln/>
        </p:spPr>
        <p:txBody>
          <a:bodyPr wrap="square" rtlCol="0" anchor="ctr"/>
          <a:lstStyle/>
          <a:p>
            <a:pPr indent="0" marL="0">
              <a:buNone/>
            </a:pPr>
            <a:r>
              <a:rPr lang="en-US" sz="4400" b="1" dirty="0">
                <a:solidFill>
                  <a:srgbClr val="FFFFFF"/>
                </a:solidFill>
                <a:latin typeface="Calibri Light" pitchFamily="34" charset="0"/>
                <a:ea typeface="Calibri Light" pitchFamily="34" charset="-122"/>
                <a:cs typeface="Calibri Light" pitchFamily="34" charset="-120"/>
              </a:rPr>
              <a:t>From Scripts to Systems</a:t>
            </a:r>
            <a:endParaRPr lang="en-US" sz="4400" dirty="0"/>
          </a:p>
        </p:txBody>
      </p:sp>
      <p:sp>
        <p:nvSpPr>
          <p:cNvPr id="3" name="Text 1"/>
          <p:cNvSpPr/>
          <p:nvPr/>
        </p:nvSpPr>
        <p:spPr>
          <a:xfrm>
            <a:off x="731520" y="2743200"/>
            <a:ext cx="10698480" cy="640080"/>
          </a:xfrm>
          <a:prstGeom prst="rect">
            <a:avLst/>
          </a:prstGeom>
          <a:noFill/>
          <a:ln/>
        </p:spPr>
        <p:txBody>
          <a:bodyPr wrap="square" rtlCol="0" anchor="ctr"/>
          <a:lstStyle/>
          <a:p>
            <a:pPr indent="0" marL="0">
              <a:buNone/>
            </a:pPr>
            <a:r>
              <a:rPr lang="en-US" sz="2400" dirty="0">
                <a:solidFill>
                  <a:srgbClr val="4FC3F7"/>
                </a:solidFill>
                <a:latin typeface="Calibri" pitchFamily="34" charset="0"/>
                <a:ea typeface="Calibri" pitchFamily="34" charset="-122"/>
                <a:cs typeface="Calibri" pitchFamily="34" charset="-120"/>
              </a:rPr>
              <a:t>Day 3, Data Architecture, Metadata and Performance</a:t>
            </a:r>
            <a:endParaRPr lang="en-US" sz="2400" dirty="0"/>
          </a:p>
        </p:txBody>
      </p:sp>
      <p:sp>
        <p:nvSpPr>
          <p:cNvPr id="4" name="Text 2"/>
          <p:cNvSpPr/>
          <p:nvPr/>
        </p:nvSpPr>
        <p:spPr>
          <a:xfrm>
            <a:off x="731520" y="3474720"/>
            <a:ext cx="10698480" cy="548640"/>
          </a:xfrm>
          <a:prstGeom prst="rect">
            <a:avLst/>
          </a:prstGeom>
          <a:noFill/>
          <a:ln/>
        </p:spPr>
        <p:txBody>
          <a:bodyPr wrap="square" rtlCol="0" anchor="ctr"/>
          <a:lstStyle/>
          <a:p>
            <a:pPr indent="0" marL="0">
              <a:buNone/>
            </a:pPr>
            <a:r>
              <a:rPr lang="en-US" sz="1600" dirty="0">
                <a:solidFill>
                  <a:srgbClr val="B0B0B0"/>
                </a:solidFill>
                <a:latin typeface="Calibri" pitchFamily="34" charset="0"/>
                <a:ea typeface="Calibri" pitchFamily="34" charset="-122"/>
                <a:cs typeface="Calibri" pitchFamily="34" charset="-120"/>
              </a:rPr>
              <a:t>Where the data goes, how to keep it fast</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E1E2E"/>
        </a:solidFill>
      </p:bgPr>
    </p:bg>
    <p:spTree>
      <p:nvGrpSpPr>
        <p:cNvPr id="1" name=""/>
        <p:cNvGrpSpPr/>
        <p:nvPr/>
      </p:nvGrpSpPr>
      <p:grpSpPr>
        <a:xfrm>
          <a:off x="0" y="0"/>
          <a:ext cx="0" cy="0"/>
          <a:chOff x="0" y="0"/>
          <a:chExt cx="0" cy="0"/>
        </a:xfrm>
      </p:grpSpPr>
      <p:sp>
        <p:nvSpPr>
          <p:cNvPr id="2" name="Text 0"/>
          <p:cNvSpPr/>
          <p:nvPr/>
        </p:nvSpPr>
        <p:spPr>
          <a:xfrm>
            <a:off x="640080" y="274320"/>
            <a:ext cx="10972800" cy="731520"/>
          </a:xfrm>
          <a:prstGeom prst="rect">
            <a:avLst/>
          </a:prstGeom>
          <a:noFill/>
          <a:ln/>
        </p:spPr>
        <p:txBody>
          <a:bodyPr wrap="square" rtlCol="0" anchor="ctr"/>
          <a:lstStyle/>
          <a:p>
            <a:pPr indent="0" marL="0">
              <a:buNone/>
            </a:pPr>
            <a:r>
              <a:rPr lang="en-US" sz="3600" b="1" dirty="0">
                <a:solidFill>
                  <a:srgbClr val="FFFFFF"/>
                </a:solidFill>
                <a:latin typeface="Calibri Light" pitchFamily="34" charset="0"/>
                <a:ea typeface="Calibri Light" pitchFamily="34" charset="-122"/>
                <a:cs typeface="Calibri Light" pitchFamily="34" charset="-120"/>
              </a:rPr>
              <a:t>Day 3 Welcome</a:t>
            </a:r>
            <a:endParaRPr lang="en-US" sz="3600" dirty="0"/>
          </a:p>
        </p:txBody>
      </p:sp>
      <p:sp>
        <p:nvSpPr>
          <p:cNvPr id="3" name="Text 1"/>
          <p:cNvSpPr/>
          <p:nvPr/>
        </p:nvSpPr>
        <p:spPr>
          <a:xfrm>
            <a:off x="822960" y="1188720"/>
            <a:ext cx="10424160" cy="5029200"/>
          </a:xfrm>
          <a:prstGeom prst="rect">
            <a:avLst/>
          </a:prstGeom>
          <a:noFill/>
          <a:ln/>
        </p:spPr>
        <p:txBody>
          <a:bodyPr wrap="square" rtlCol="0" anchor="t"/>
          <a:lstStyle/>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Yesterday: a working PySide6 application with MVC and worker threads</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Today: where does the data go? How do we keep it fast?</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By end of today: a complete instrument-control system with data logging and live plotting</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731520" y="2011680"/>
            <a:ext cx="10698480" cy="1280160"/>
          </a:xfrm>
          <a:prstGeom prst="rect">
            <a:avLst/>
          </a:prstGeom>
          <a:noFill/>
          <a:ln/>
        </p:spPr>
        <p:txBody>
          <a:bodyPr wrap="square" rtlCol="0" anchor="ctr"/>
          <a:lstStyle/>
          <a:p>
            <a:pPr algn="l" indent="0" marL="0">
              <a:buNone/>
            </a:pPr>
            <a:r>
              <a:rPr lang="en-US" sz="4400" b="1" dirty="0">
                <a:solidFill>
                  <a:srgbClr val="FFFFFF"/>
                </a:solidFill>
                <a:latin typeface="Calibri Light" pitchFamily="34" charset="0"/>
                <a:ea typeface="Calibri Light" pitchFamily="34" charset="-122"/>
                <a:cs typeface="Calibri Light" pitchFamily="34" charset="-120"/>
              </a:rPr>
              <a:t>DataSink Abstraction</a:t>
            </a:r>
            <a:endParaRPr lang="en-US" sz="4400" dirty="0"/>
          </a:p>
        </p:txBody>
      </p:sp>
      <p:sp>
        <p:nvSpPr>
          <p:cNvPr id="3" name="Text 1"/>
          <p:cNvSpPr/>
          <p:nvPr/>
        </p:nvSpPr>
        <p:spPr>
          <a:xfrm>
            <a:off x="731520" y="3291840"/>
            <a:ext cx="10698480" cy="640080"/>
          </a:xfrm>
          <a:prstGeom prst="rect">
            <a:avLst/>
          </a:prstGeom>
          <a:noFill/>
          <a:ln/>
        </p:spPr>
        <p:txBody>
          <a:bodyPr wrap="square" rtlCol="0" anchor="ctr"/>
          <a:lstStyle/>
          <a:p>
            <a:pPr algn="l" indent="0" marL="0">
              <a:buNone/>
            </a:pPr>
            <a:r>
              <a:rPr lang="en-US" sz="2000" dirty="0">
                <a:solidFill>
                  <a:srgbClr val="4FC3F7"/>
                </a:solidFill>
                <a:latin typeface="Calibri" pitchFamily="34" charset="0"/>
                <a:ea typeface="Calibri" pitchFamily="34" charset="-122"/>
                <a:cs typeface="Calibri" pitchFamily="34" charset="-120"/>
              </a:rPr>
              <a:t>Decoupling data output from data production</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E1E2E"/>
        </a:solidFill>
      </p:bgPr>
    </p:bg>
    <p:spTree>
      <p:nvGrpSpPr>
        <p:cNvPr id="1" name=""/>
        <p:cNvGrpSpPr/>
        <p:nvPr/>
      </p:nvGrpSpPr>
      <p:grpSpPr>
        <a:xfrm>
          <a:off x="0" y="0"/>
          <a:ext cx="0" cy="0"/>
          <a:chOff x="0" y="0"/>
          <a:chExt cx="0" cy="0"/>
        </a:xfrm>
      </p:grpSpPr>
      <p:sp>
        <p:nvSpPr>
          <p:cNvPr id="2" name="Text 0"/>
          <p:cNvSpPr/>
          <p:nvPr/>
        </p:nvSpPr>
        <p:spPr>
          <a:xfrm>
            <a:off x="640080" y="274320"/>
            <a:ext cx="10972800" cy="731520"/>
          </a:xfrm>
          <a:prstGeom prst="rect">
            <a:avLst/>
          </a:prstGeom>
          <a:noFill/>
          <a:ln/>
        </p:spPr>
        <p:txBody>
          <a:bodyPr wrap="square" rtlCol="0" anchor="ctr"/>
          <a:lstStyle/>
          <a:p>
            <a:pPr indent="0" marL="0">
              <a:buNone/>
            </a:pPr>
            <a:r>
              <a:rPr lang="en-US" sz="3600" b="1" dirty="0">
                <a:solidFill>
                  <a:srgbClr val="FFFFFF"/>
                </a:solidFill>
                <a:latin typeface="Calibri Light" pitchFamily="34" charset="0"/>
                <a:ea typeface="Calibri Light" pitchFamily="34" charset="-122"/>
                <a:cs typeface="Calibri Light" pitchFamily="34" charset="-120"/>
              </a:rPr>
              <a:t>The Controller Does Not Care About Data Formats</a:t>
            </a:r>
            <a:endParaRPr lang="en-US" sz="3600" dirty="0"/>
          </a:p>
        </p:txBody>
      </p:sp>
      <p:sp>
        <p:nvSpPr>
          <p:cNvPr id="3" name="Text 1"/>
          <p:cNvSpPr/>
          <p:nvPr/>
        </p:nvSpPr>
        <p:spPr>
          <a:xfrm>
            <a:off x="822960" y="1188720"/>
            <a:ext cx="10424160" cy="5029200"/>
          </a:xfrm>
          <a:prstGeom prst="rect">
            <a:avLst/>
          </a:prstGeom>
          <a:noFill/>
          <a:ln/>
        </p:spPr>
        <p:txBody>
          <a:bodyPr wrap="square" rtlCol="0" anchor="t"/>
          <a:lstStyle/>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The controller produces readings</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It does not know whether they are written to CSV, JSON, HDF5, or /dev/null</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Same architectural idea as the Adapter pattern, but for output</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Controller sends to DataSink interface, implementations fan out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E1E2E"/>
        </a:solidFill>
      </p:bgPr>
    </p:bg>
    <p:spTree>
      <p:nvGrpSpPr>
        <p:cNvPr id="1" name=""/>
        <p:cNvGrpSpPr/>
        <p:nvPr/>
      </p:nvGrpSpPr>
      <p:grpSpPr>
        <a:xfrm>
          <a:off x="0" y="0"/>
          <a:ext cx="0" cy="0"/>
          <a:chOff x="0" y="0"/>
          <a:chExt cx="0" cy="0"/>
        </a:xfrm>
      </p:grpSpPr>
      <p:sp>
        <p:nvSpPr>
          <p:cNvPr id="2" name="Text 0"/>
          <p:cNvSpPr/>
          <p:nvPr/>
        </p:nvSpPr>
        <p:spPr>
          <a:xfrm>
            <a:off x="640080" y="182880"/>
            <a:ext cx="10972800" cy="640080"/>
          </a:xfrm>
          <a:prstGeom prst="rect">
            <a:avLst/>
          </a:prstGeom>
          <a:noFill/>
          <a:ln/>
        </p:spPr>
        <p:txBody>
          <a:bodyPr wrap="square" rtlCol="0" anchor="ctr"/>
          <a:lstStyle/>
          <a:p>
            <a:pPr indent="0" marL="0">
              <a:buNone/>
            </a:pPr>
            <a:r>
              <a:rPr lang="en-US" sz="3200" b="1" dirty="0">
                <a:solidFill>
                  <a:srgbClr val="FFFFFF"/>
                </a:solidFill>
                <a:latin typeface="Calibri Light" pitchFamily="34" charset="0"/>
                <a:ea typeface="Calibri Light" pitchFamily="34" charset="-122"/>
                <a:cs typeface="Calibri Light" pitchFamily="34" charset="-120"/>
              </a:rPr>
              <a:t>The DataSink Interface</a:t>
            </a:r>
            <a:endParaRPr lang="en-US" sz="3200" dirty="0"/>
          </a:p>
        </p:txBody>
      </p:sp>
      <p:sp>
        <p:nvSpPr>
          <p:cNvPr id="3" name="Shape 1"/>
          <p:cNvSpPr/>
          <p:nvPr/>
        </p:nvSpPr>
        <p:spPr>
          <a:xfrm>
            <a:off x="457200" y="960120"/>
            <a:ext cx="11274552" cy="4846320"/>
          </a:xfrm>
          <a:prstGeom prst="rect">
            <a:avLst>
              <a:gd name="adj" fmla="val 1887"/>
            </a:avLst>
          </a:prstGeom>
          <a:solidFill>
            <a:srgbClr val="0D1117"/>
          </a:solidFill>
          <a:ln/>
        </p:spPr>
      </p:sp>
      <p:sp>
        <p:nvSpPr>
          <p:cNvPr id="4" name="Text 2"/>
          <p:cNvSpPr/>
          <p:nvPr/>
        </p:nvSpPr>
        <p:spPr>
          <a:xfrm>
            <a:off x="640080" y="1051560"/>
            <a:ext cx="10881360" cy="4663440"/>
          </a:xfrm>
          <a:prstGeom prst="rect">
            <a:avLst/>
          </a:prstGeom>
          <a:noFill/>
          <a:ln/>
        </p:spPr>
        <p:txBody>
          <a:bodyPr wrap="square" rtlCol="0" anchor="t"/>
          <a:lstStyle/>
          <a:p>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from</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abc</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import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4EC9B0"/>
                </a:solidFill>
                <a:latin typeface="Consolas" pitchFamily="34" charset="0"/>
                <a:ea typeface="Consolas" pitchFamily="34" charset="-122"/>
                <a:cs typeface="Consolas" pitchFamily="34" charset="-120"/>
              </a:rPr>
              <a:t>ABC</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abstractmethod</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class</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DCDCAA"/>
                </a:solidFill>
                <a:latin typeface="Consolas" pitchFamily="34" charset="0"/>
                <a:ea typeface="Consolas" pitchFamily="34" charset="-122"/>
                <a:cs typeface="Consolas" pitchFamily="34" charset="-120"/>
              </a:rPr>
              <a:t>DataSink</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4EC9B0"/>
                </a:solidFill>
                <a:latin typeface="Consolas" pitchFamily="34" charset="0"/>
                <a:ea typeface="Consolas" pitchFamily="34" charset="-122"/>
                <a:cs typeface="Consolas" pitchFamily="34" charset="-120"/>
              </a:rPr>
              <a:t>ABC</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CE9178"/>
                </a:solidFill>
                <a:latin typeface="Consolas" pitchFamily="34" charset="0"/>
                <a:ea typeface="Consolas" pitchFamily="34" charset="-122"/>
                <a:cs typeface="Consolas" pitchFamily="34" charset="-120"/>
              </a:rPr>
              <a:t>"""The contract for all data outputs.</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4EC9B0"/>
                </a:solidFill>
                <a:latin typeface="Consolas" pitchFamily="34" charset="0"/>
                <a:ea typeface="Consolas" pitchFamily="34" charset="-122"/>
                <a:cs typeface="Consolas" pitchFamily="34" charset="-120"/>
              </a:rPr>
              <a:t>Same</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idea</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as</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4EC9B0"/>
                </a:solidFill>
                <a:latin typeface="Consolas" pitchFamily="34" charset="0"/>
                <a:ea typeface="Consolas" pitchFamily="34" charset="-122"/>
                <a:cs typeface="Consolas" pitchFamily="34" charset="-120"/>
              </a:rPr>
              <a:t>InstrumentAdapter</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but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for</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writing</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CE9178"/>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DCDCAA"/>
                </a:solidFill>
                <a:latin typeface="Consolas" pitchFamily="34" charset="0"/>
                <a:ea typeface="Consolas" pitchFamily="34" charset="-122"/>
                <a:cs typeface="Consolas" pitchFamily="34" charset="-120"/>
              </a:rPr>
              <a:t>@abstractmethod</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def</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DCDCAA"/>
                </a:solidFill>
                <a:latin typeface="Consolas" pitchFamily="34" charset="0"/>
                <a:ea typeface="Consolas" pitchFamily="34" charset="-122"/>
                <a:cs typeface="Consolas" pitchFamily="34" charset="-120"/>
              </a:rPr>
              <a:t>open</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metadata</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DCDCAA"/>
                </a:solidFill>
                <a:latin typeface="Consolas" pitchFamily="34" charset="0"/>
                <a:ea typeface="Consolas" pitchFamily="34" charset="-122"/>
                <a:cs typeface="Consolas" pitchFamily="34" charset="-120"/>
              </a:rPr>
              <a:t>dict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&gt;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None</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CE9178"/>
                </a:solidFill>
                <a:latin typeface="Consolas" pitchFamily="34" charset="0"/>
                <a:ea typeface="Consolas" pitchFamily="34" charset="-122"/>
                <a:cs typeface="Consolas" pitchFamily="34" charset="-120"/>
              </a:rPr>
              <a:t>"""Prepare the output (open file, write headers)."""</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DCDCAA"/>
                </a:solidFill>
                <a:latin typeface="Consolas" pitchFamily="34" charset="0"/>
                <a:ea typeface="Consolas" pitchFamily="34" charset="-122"/>
                <a:cs typeface="Consolas" pitchFamily="34" charset="-120"/>
              </a:rPr>
              <a:t>@abstractmethod</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def</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DCDCAA"/>
                </a:solidFill>
                <a:latin typeface="Consolas" pitchFamily="34" charset="0"/>
                <a:ea typeface="Consolas" pitchFamily="34" charset="-122"/>
                <a:cs typeface="Consolas" pitchFamily="34" charset="-120"/>
              </a:rPr>
              <a:t>write</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reading</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CE9178"/>
                </a:solidFill>
                <a:latin typeface="Consolas" pitchFamily="34" charset="0"/>
                <a:ea typeface="Consolas" pitchFamily="34" charset="-122"/>
                <a:cs typeface="Consolas" pitchFamily="34" charset="-120"/>
              </a:rPr>
              <a:t>'Reading'</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&gt;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None</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CE9178"/>
                </a:solidFill>
                <a:latin typeface="Consolas" pitchFamily="34" charset="0"/>
                <a:ea typeface="Consolas" pitchFamily="34" charset="-122"/>
                <a:cs typeface="Consolas" pitchFamily="34" charset="-120"/>
              </a:rPr>
              <a:t>"""Write a single reading."""</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DCDCAA"/>
                </a:solidFill>
                <a:latin typeface="Consolas" pitchFamily="34" charset="0"/>
                <a:ea typeface="Consolas" pitchFamily="34" charset="-122"/>
                <a:cs typeface="Consolas" pitchFamily="34" charset="-120"/>
              </a:rPr>
              <a:t>@abstractmethod</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def</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DCDCAA"/>
                </a:solidFill>
                <a:latin typeface="Consolas" pitchFamily="34" charset="0"/>
                <a:ea typeface="Consolas" pitchFamily="34" charset="-122"/>
                <a:cs typeface="Consolas" pitchFamily="34" charset="-120"/>
              </a:rPr>
              <a:t>close</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&gt;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None</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CE9178"/>
                </a:solidFill>
                <a:latin typeface="Consolas" pitchFamily="34" charset="0"/>
                <a:ea typeface="Consolas" pitchFamily="34" charset="-122"/>
                <a:cs typeface="Consolas" pitchFamily="34" charset="-120"/>
              </a:rPr>
              <a:t>"""Flush and close the output."""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6A9955"/>
                </a:solidFill>
                <a:latin typeface="Consolas" pitchFamily="34" charset="0"/>
                <a:ea typeface="Consolas" pitchFamily="34" charset="-122"/>
                <a:cs typeface="Consolas" pitchFamily="34" charset="-120"/>
              </a:rPr>
              <a:t># Three methods. That's the entire contract.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6A9955"/>
                </a:solidFill>
                <a:latin typeface="Consolas" pitchFamily="34" charset="0"/>
                <a:ea typeface="Consolas" pitchFamily="34" charset="-122"/>
                <a:cs typeface="Consolas" pitchFamily="34" charset="-120"/>
              </a:rPr>
              <a:t># Adding a new format = adding one class.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E1E2E"/>
        </a:solidFill>
      </p:bgPr>
    </p:bg>
    <p:spTree>
      <p:nvGrpSpPr>
        <p:cNvPr id="1" name=""/>
        <p:cNvGrpSpPr/>
        <p:nvPr/>
      </p:nvGrpSpPr>
      <p:grpSpPr>
        <a:xfrm>
          <a:off x="0" y="0"/>
          <a:ext cx="0" cy="0"/>
          <a:chOff x="0" y="0"/>
          <a:chExt cx="0" cy="0"/>
        </a:xfrm>
      </p:grpSpPr>
      <p:sp>
        <p:nvSpPr>
          <p:cNvPr id="2" name="Text 0"/>
          <p:cNvSpPr/>
          <p:nvPr/>
        </p:nvSpPr>
        <p:spPr>
          <a:xfrm>
            <a:off x="640080" y="182880"/>
            <a:ext cx="10972800" cy="594360"/>
          </a:xfrm>
          <a:prstGeom prst="rect">
            <a:avLst/>
          </a:prstGeom>
          <a:noFill/>
          <a:ln/>
        </p:spPr>
        <p:txBody>
          <a:bodyPr wrap="square" rtlCol="0" anchor="ctr"/>
          <a:lstStyle/>
          <a:p>
            <a:pPr indent="0" marL="0">
              <a:buNone/>
            </a:pPr>
            <a:r>
              <a:rPr lang="en-US" sz="3200" b="1" dirty="0">
                <a:solidFill>
                  <a:srgbClr val="FFFFFF"/>
                </a:solidFill>
                <a:latin typeface="Calibri Light" pitchFamily="34" charset="0"/>
                <a:ea typeface="Calibri Light" pitchFamily="34" charset="-122"/>
                <a:cs typeface="Calibri Light" pitchFamily="34" charset="-120"/>
              </a:rPr>
              <a:t>CsvSink vs JsonMetadataSink</a:t>
            </a:r>
            <a:endParaRPr lang="en-US" sz="3200" dirty="0"/>
          </a:p>
        </p:txBody>
      </p:sp>
      <p:sp>
        <p:nvSpPr>
          <p:cNvPr id="3" name="Text 1"/>
          <p:cNvSpPr/>
          <p:nvPr/>
        </p:nvSpPr>
        <p:spPr>
          <a:xfrm>
            <a:off x="457200" y="868680"/>
            <a:ext cx="5394960" cy="411480"/>
          </a:xfrm>
          <a:prstGeom prst="rect">
            <a:avLst/>
          </a:prstGeom>
          <a:noFill/>
          <a:ln/>
        </p:spPr>
        <p:txBody>
          <a:bodyPr wrap="square" rtlCol="0" anchor="ctr"/>
          <a:lstStyle/>
          <a:p>
            <a:pPr indent="0" marL="0">
              <a:buNone/>
            </a:pPr>
            <a:r>
              <a:rPr lang="en-US" sz="1400" b="1" dirty="0">
                <a:solidFill>
                  <a:srgbClr val="4FC3F7"/>
                </a:solidFill>
                <a:latin typeface="Calibri" pitchFamily="34" charset="0"/>
                <a:ea typeface="Calibri" pitchFamily="34" charset="-122"/>
                <a:cs typeface="Calibri" pitchFamily="34" charset="-120"/>
              </a:rPr>
              <a:t>CsvSink</a:t>
            </a:r>
            <a:endParaRPr lang="en-US" sz="1400" dirty="0"/>
          </a:p>
        </p:txBody>
      </p:sp>
      <p:sp>
        <p:nvSpPr>
          <p:cNvPr id="4" name="Text 2"/>
          <p:cNvSpPr/>
          <p:nvPr/>
        </p:nvSpPr>
        <p:spPr>
          <a:xfrm>
            <a:off x="6336792" y="868680"/>
            <a:ext cx="5394960" cy="411480"/>
          </a:xfrm>
          <a:prstGeom prst="rect">
            <a:avLst/>
          </a:prstGeom>
          <a:noFill/>
          <a:ln/>
        </p:spPr>
        <p:txBody>
          <a:bodyPr wrap="square" rtlCol="0" anchor="ctr"/>
          <a:lstStyle/>
          <a:p>
            <a:pPr indent="0" marL="0">
              <a:buNone/>
            </a:pPr>
            <a:r>
              <a:rPr lang="en-US" sz="1400" b="1" dirty="0">
                <a:solidFill>
                  <a:srgbClr val="4FC3F7"/>
                </a:solidFill>
                <a:latin typeface="Calibri" pitchFamily="34" charset="0"/>
                <a:ea typeface="Calibri" pitchFamily="34" charset="-122"/>
                <a:cs typeface="Calibri" pitchFamily="34" charset="-120"/>
              </a:rPr>
              <a:t>JsonMetadataSink</a:t>
            </a:r>
            <a:endParaRPr lang="en-US" sz="1400" dirty="0"/>
          </a:p>
        </p:txBody>
      </p:sp>
      <p:sp>
        <p:nvSpPr>
          <p:cNvPr id="5" name="Shape 3"/>
          <p:cNvSpPr/>
          <p:nvPr/>
        </p:nvSpPr>
        <p:spPr>
          <a:xfrm>
            <a:off x="457200" y="1280160"/>
            <a:ext cx="5394960" cy="4572000"/>
          </a:xfrm>
          <a:prstGeom prst="rect">
            <a:avLst>
              <a:gd name="adj" fmla="val 2000"/>
            </a:avLst>
          </a:prstGeom>
          <a:solidFill>
            <a:srgbClr val="0D1117"/>
          </a:solidFill>
          <a:ln/>
        </p:spPr>
      </p:sp>
      <p:sp>
        <p:nvSpPr>
          <p:cNvPr id="6" name="Shape 4"/>
          <p:cNvSpPr/>
          <p:nvPr/>
        </p:nvSpPr>
        <p:spPr>
          <a:xfrm>
            <a:off x="6336792" y="1280160"/>
            <a:ext cx="5394960" cy="4572000"/>
          </a:xfrm>
          <a:prstGeom prst="rect">
            <a:avLst>
              <a:gd name="adj" fmla="val 2000"/>
            </a:avLst>
          </a:prstGeom>
          <a:solidFill>
            <a:srgbClr val="0D1117"/>
          </a:solidFill>
          <a:ln/>
        </p:spPr>
      </p:sp>
      <p:sp>
        <p:nvSpPr>
          <p:cNvPr id="7" name="Shape 5"/>
          <p:cNvSpPr/>
          <p:nvPr/>
        </p:nvSpPr>
        <p:spPr>
          <a:xfrm>
            <a:off x="6094476" y="914400"/>
            <a:ext cx="0" cy="5120640"/>
          </a:xfrm>
          <a:prstGeom prst="line">
            <a:avLst/>
          </a:prstGeom>
          <a:noFill/>
          <a:ln w="12700">
            <a:solidFill>
              <a:srgbClr val="444466"/>
            </a:solidFill>
            <a:prstDash val="solid"/>
          </a:ln>
        </p:spPr>
      </p:sp>
      <p:sp>
        <p:nvSpPr>
          <p:cNvPr id="8" name="Text 6"/>
          <p:cNvSpPr/>
          <p:nvPr/>
        </p:nvSpPr>
        <p:spPr>
          <a:xfrm>
            <a:off x="594360" y="1371600"/>
            <a:ext cx="5120640" cy="4389120"/>
          </a:xfrm>
          <a:prstGeom prst="rect">
            <a:avLst/>
          </a:prstGeom>
          <a:noFill/>
          <a:ln/>
        </p:spPr>
        <p:txBody>
          <a:bodyPr wrap="square" rtlCol="0" anchor="t"/>
          <a:lstStyle/>
          <a:p>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class</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CsvSink</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4EC9B0"/>
                </a:solidFill>
                <a:latin typeface="Consolas" pitchFamily="34" charset="0"/>
                <a:ea typeface="Consolas" pitchFamily="34" charset="-122"/>
                <a:cs typeface="Consolas" pitchFamily="34" charset="-120"/>
              </a:rPr>
              <a:t>DataSink</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def</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open</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metadata</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_file</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open</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_path</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CE9178"/>
                </a:solidFill>
                <a:latin typeface="Consolas" pitchFamily="34" charset="0"/>
                <a:ea typeface="Consolas" pitchFamily="34" charset="-122"/>
                <a:cs typeface="Consolas" pitchFamily="34" charset="-120"/>
              </a:rPr>
              <a:t>'w'</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_writer</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csv</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writer</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_file</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_writer</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writerow</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CE9178"/>
                </a:solidFill>
                <a:latin typeface="Consolas" pitchFamily="34" charset="0"/>
                <a:ea typeface="Consolas" pitchFamily="34" charset="-122"/>
                <a:cs typeface="Consolas" pitchFamily="34" charset="-120"/>
              </a:rPr>
              <a:t>'timestamp'</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CE9178"/>
                </a:solidFill>
                <a:latin typeface="Consolas" pitchFamily="34" charset="0"/>
                <a:ea typeface="Consolas" pitchFamily="34" charset="-122"/>
                <a:cs typeface="Consolas" pitchFamily="34" charset="-120"/>
              </a:rPr>
              <a:t>'channel'</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CE9178"/>
                </a:solidFill>
                <a:latin typeface="Consolas" pitchFamily="34" charset="0"/>
                <a:ea typeface="Consolas" pitchFamily="34" charset="-122"/>
                <a:cs typeface="Consolas" pitchFamily="34" charset="-120"/>
              </a:rPr>
              <a:t>'value'</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CE9178"/>
                </a:solidFill>
                <a:latin typeface="Consolas" pitchFamily="34" charset="0"/>
                <a:ea typeface="Consolas" pitchFamily="34" charset="-122"/>
                <a:cs typeface="Consolas" pitchFamily="34" charset="-120"/>
              </a:rPr>
              <a:t>'unit'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def</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write</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reading</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_writer</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writerow</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reading</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timestamp</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isoformat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reading</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channel</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CE9178"/>
                </a:solidFill>
                <a:latin typeface="Consolas" pitchFamily="34" charset="0"/>
                <a:ea typeface="Consolas" pitchFamily="34" charset="-122"/>
                <a:cs typeface="Consolas" pitchFamily="34" charset="-120"/>
              </a:rPr>
              <a:t>f"{reading.value:.4f}"</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str</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reading</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unit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def</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close</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_file</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close</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endParaRPr lang="en-US" sz="1100" dirty="0"/>
          </a:p>
        </p:txBody>
      </p:sp>
      <p:sp>
        <p:nvSpPr>
          <p:cNvPr id="9" name="Text 7"/>
          <p:cNvSpPr/>
          <p:nvPr/>
        </p:nvSpPr>
        <p:spPr>
          <a:xfrm>
            <a:off x="6473952" y="1371600"/>
            <a:ext cx="5120640" cy="4389120"/>
          </a:xfrm>
          <a:prstGeom prst="rect">
            <a:avLst/>
          </a:prstGeom>
          <a:noFill/>
          <a:ln/>
        </p:spPr>
        <p:txBody>
          <a:bodyPr wrap="square" rtlCol="0" anchor="t"/>
          <a:lstStyle/>
          <a:p>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class</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JsonMetadataSink</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4EC9B0"/>
                </a:solidFill>
                <a:latin typeface="Consolas" pitchFamily="34" charset="0"/>
                <a:ea typeface="Consolas" pitchFamily="34" charset="-122"/>
                <a:cs typeface="Consolas" pitchFamily="34" charset="-120"/>
              </a:rPr>
              <a:t>DataSink</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def</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open</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metadata</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_path</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_generate_path</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_metadata</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CE9178"/>
                </a:solidFill>
                <a:latin typeface="Consolas" pitchFamily="34" charset="0"/>
                <a:ea typeface="Consolas" pitchFamily="34" charset="-122"/>
                <a:cs typeface="Consolas" pitchFamily="34" charset="-120"/>
              </a:rPr>
              <a:t>'experiment'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metadata</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get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CE9178"/>
                </a:solidFill>
                <a:latin typeface="Consolas" pitchFamily="34" charset="0"/>
                <a:ea typeface="Consolas" pitchFamily="34" charset="-122"/>
                <a:cs typeface="Consolas" pitchFamily="34" charset="-120"/>
              </a:rPr>
              <a:t>'name'</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CE9178"/>
                </a:solidFill>
                <a:latin typeface="Consolas" pitchFamily="34" charset="0"/>
                <a:ea typeface="Consolas" pitchFamily="34" charset="-122"/>
                <a:cs typeface="Consolas" pitchFamily="34" charset="-120"/>
              </a:rPr>
              <a:t>'operator'</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metadata</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get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CE9178"/>
                </a:solidFill>
                <a:latin typeface="Consolas" pitchFamily="34" charset="0"/>
                <a:ea typeface="Consolas" pitchFamily="34" charset="-122"/>
                <a:cs typeface="Consolas" pitchFamily="34" charset="-120"/>
              </a:rPr>
              <a:t>'operator'</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CE9178"/>
                </a:solidFill>
                <a:latin typeface="Consolas" pitchFamily="34" charset="0"/>
                <a:ea typeface="Consolas" pitchFamily="34" charset="-122"/>
                <a:cs typeface="Consolas" pitchFamily="34" charset="-120"/>
              </a:rPr>
              <a:t>'instrument'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metadata</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get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CE9178"/>
                </a:solidFill>
                <a:latin typeface="Consolas" pitchFamily="34" charset="0"/>
                <a:ea typeface="Consolas" pitchFamily="34" charset="-122"/>
                <a:cs typeface="Consolas" pitchFamily="34" charset="-120"/>
              </a:rPr>
              <a:t>'instrument_id'</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CE9178"/>
                </a:solidFill>
                <a:latin typeface="Consolas" pitchFamily="34" charset="0"/>
                <a:ea typeface="Consolas" pitchFamily="34" charset="-122"/>
                <a:cs typeface="Consolas" pitchFamily="34" charset="-120"/>
              </a:rPr>
              <a:t>'started'</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datetime</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now</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isoformat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CE9178"/>
                </a:solidFill>
                <a:latin typeface="Consolas" pitchFamily="34" charset="0"/>
                <a:ea typeface="Consolas" pitchFamily="34" charset="-122"/>
                <a:cs typeface="Consolas" pitchFamily="34" charset="-120"/>
              </a:rPr>
              <a:t>'config'</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metadata</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get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CE9178"/>
                </a:solidFill>
                <a:latin typeface="Consolas" pitchFamily="34" charset="0"/>
                <a:ea typeface="Consolas" pitchFamily="34" charset="-122"/>
                <a:cs typeface="Consolas" pitchFamily="34" charset="-120"/>
              </a:rPr>
              <a:t>'config'</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def</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write</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reading</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pass</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6A9955"/>
                </a:solidFill>
                <a:latin typeface="Consolas" pitchFamily="34" charset="0"/>
                <a:ea typeface="Consolas" pitchFamily="34" charset="-122"/>
                <a:cs typeface="Consolas" pitchFamily="34" charset="-120"/>
              </a:rPr>
              <a:t># metadata only, not per-reading</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def</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close</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_metadata</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CE9178"/>
                </a:solidFill>
                <a:latin typeface="Consolas" pitchFamily="34" charset="0"/>
                <a:ea typeface="Consolas" pitchFamily="34" charset="-122"/>
                <a:cs typeface="Consolas" pitchFamily="34" charset="-120"/>
              </a:rPr>
              <a:t>'stopped'</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datetime</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now</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isoformat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with</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open</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_path</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CE9178"/>
                </a:solidFill>
                <a:latin typeface="Consolas" pitchFamily="34" charset="0"/>
                <a:ea typeface="Consolas" pitchFamily="34" charset="-122"/>
                <a:cs typeface="Consolas" pitchFamily="34" charset="-120"/>
              </a:rPr>
              <a:t>'w'</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as</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f</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json</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dump</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_metadata</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f</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indent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B5CEA8"/>
                </a:solidFill>
                <a:latin typeface="Consolas" pitchFamily="34" charset="0"/>
                <a:ea typeface="Consolas" pitchFamily="34" charset="-122"/>
                <a:cs typeface="Consolas" pitchFamily="34" charset="-120"/>
              </a:rPr>
              <a:t>2</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endParaRPr lang="en-US" sz="1100" dirty="0"/>
          </a:p>
        </p:txBody>
      </p:sp>
      <p:sp>
        <p:nvSpPr>
          <p:cNvPr id="10" name="Text 8"/>
          <p:cNvSpPr/>
          <p:nvPr/>
        </p:nvSpPr>
        <p:spPr>
          <a:xfrm>
            <a:off x="640080" y="5989320"/>
            <a:ext cx="10972800" cy="548640"/>
          </a:xfrm>
          <a:prstGeom prst="rect">
            <a:avLst/>
          </a:prstGeom>
          <a:noFill/>
          <a:ln/>
        </p:spPr>
        <p:txBody>
          <a:bodyPr wrap="square" rtlCol="0" anchor="ctr"/>
          <a:lstStyle/>
          <a:p>
            <a:pPr algn="ctr" indent="0" marL="0">
              <a:buNone/>
            </a:pPr>
            <a:r>
              <a:rPr lang="en-US" sz="1300" i="1" dirty="0">
                <a:solidFill>
                  <a:srgbClr val="4FC3F7"/>
                </a:solidFill>
                <a:latin typeface="Calibri" pitchFamily="34" charset="0"/>
                <a:ea typeface="Calibri" pitchFamily="34" charset="-122"/>
                <a:cs typeface="Calibri" pitchFamily="34" charset="-120"/>
              </a:rPr>
              <a:t>Same interface, completely different purpose. CsvSink writes data rows. JsonMetadataSink writes experiment context.</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E1E2E"/>
        </a:solidFill>
      </p:bgPr>
    </p:bg>
    <p:spTree>
      <p:nvGrpSpPr>
        <p:cNvPr id="1" name=""/>
        <p:cNvGrpSpPr/>
        <p:nvPr/>
      </p:nvGrpSpPr>
      <p:grpSpPr>
        <a:xfrm>
          <a:off x="0" y="0"/>
          <a:ext cx="0" cy="0"/>
          <a:chOff x="0" y="0"/>
          <a:chExt cx="0" cy="0"/>
        </a:xfrm>
      </p:grpSpPr>
      <p:sp>
        <p:nvSpPr>
          <p:cNvPr id="2" name="Text 0"/>
          <p:cNvSpPr/>
          <p:nvPr/>
        </p:nvSpPr>
        <p:spPr>
          <a:xfrm>
            <a:off x="640080" y="182880"/>
            <a:ext cx="10972800" cy="640080"/>
          </a:xfrm>
          <a:prstGeom prst="rect">
            <a:avLst/>
          </a:prstGeom>
          <a:noFill/>
          <a:ln/>
        </p:spPr>
        <p:txBody>
          <a:bodyPr wrap="square" rtlCol="0" anchor="ctr"/>
          <a:lstStyle/>
          <a:p>
            <a:pPr indent="0" marL="0">
              <a:buNone/>
            </a:pPr>
            <a:r>
              <a:rPr lang="en-US" sz="3200" b="1" dirty="0">
                <a:solidFill>
                  <a:srgbClr val="FFFFFF"/>
                </a:solidFill>
                <a:latin typeface="Calibri Light" pitchFamily="34" charset="0"/>
                <a:ea typeface="Calibri Light" pitchFamily="34" charset="-122"/>
                <a:cs typeface="Calibri Light" pitchFamily="34" charset="-120"/>
              </a:rPr>
              <a:t>CompositeSink — Writing to Multiple Outputs</a:t>
            </a:r>
            <a:endParaRPr lang="en-US" sz="3200" dirty="0"/>
          </a:p>
        </p:txBody>
      </p:sp>
      <p:sp>
        <p:nvSpPr>
          <p:cNvPr id="3" name="Shape 1"/>
          <p:cNvSpPr/>
          <p:nvPr/>
        </p:nvSpPr>
        <p:spPr>
          <a:xfrm>
            <a:off x="457200" y="960120"/>
            <a:ext cx="11274552" cy="4846320"/>
          </a:xfrm>
          <a:prstGeom prst="rect">
            <a:avLst>
              <a:gd name="adj" fmla="val 1887"/>
            </a:avLst>
          </a:prstGeom>
          <a:solidFill>
            <a:srgbClr val="0D1117"/>
          </a:solidFill>
          <a:ln/>
        </p:spPr>
      </p:sp>
      <p:sp>
        <p:nvSpPr>
          <p:cNvPr id="4" name="Text 2"/>
          <p:cNvSpPr/>
          <p:nvPr/>
        </p:nvSpPr>
        <p:spPr>
          <a:xfrm>
            <a:off x="640080" y="1051560"/>
            <a:ext cx="10881360" cy="4663440"/>
          </a:xfrm>
          <a:prstGeom prst="rect">
            <a:avLst/>
          </a:prstGeom>
          <a:noFill/>
          <a:ln/>
        </p:spPr>
        <p:txBody>
          <a:bodyPr wrap="square" rtlCol="0" anchor="t"/>
          <a:lstStyle/>
          <a:p>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class</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DCDCAA"/>
                </a:solidFill>
                <a:latin typeface="Consolas" pitchFamily="34" charset="0"/>
                <a:ea typeface="Consolas" pitchFamily="34" charset="-122"/>
                <a:cs typeface="Consolas" pitchFamily="34" charset="-120"/>
              </a:rPr>
              <a:t>CompositeSink</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4EC9B0"/>
                </a:solidFill>
                <a:latin typeface="Consolas" pitchFamily="34" charset="0"/>
                <a:ea typeface="Consolas" pitchFamily="34" charset="-122"/>
                <a:cs typeface="Consolas" pitchFamily="34" charset="-120"/>
              </a:rPr>
              <a:t>DataSink</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CE9178"/>
                </a:solidFill>
                <a:latin typeface="Consolas" pitchFamily="34" charset="0"/>
                <a:ea typeface="Consolas" pitchFamily="34" charset="-122"/>
                <a:cs typeface="Consolas" pitchFamily="34" charset="-120"/>
              </a:rPr>
              <a:t>"""The tee pattern: write to multiple sinks simultaneously."""</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def</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DCDCAA"/>
                </a:solidFill>
                <a:latin typeface="Consolas" pitchFamily="34" charset="0"/>
                <a:ea typeface="Consolas" pitchFamily="34" charset="-122"/>
                <a:cs typeface="Consolas" pitchFamily="34" charset="-120"/>
              </a:rPr>
              <a:t>__init__</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sinks</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DCDCAA"/>
                </a:solidFill>
                <a:latin typeface="Consolas" pitchFamily="34" charset="0"/>
                <a:ea typeface="Consolas" pitchFamily="34" charset="-122"/>
                <a:cs typeface="Consolas" pitchFamily="34" charset="-120"/>
              </a:rPr>
              <a:t>list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4EC9B0"/>
                </a:solidFill>
                <a:latin typeface="Consolas" pitchFamily="34" charset="0"/>
                <a:ea typeface="Consolas" pitchFamily="34" charset="-122"/>
                <a:cs typeface="Consolas" pitchFamily="34" charset="-120"/>
              </a:rPr>
              <a:t>DataSink</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sinks</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sinks</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def</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DCDCAA"/>
                </a:solidFill>
                <a:latin typeface="Consolas" pitchFamily="34" charset="0"/>
                <a:ea typeface="Consolas" pitchFamily="34" charset="-122"/>
                <a:cs typeface="Consolas" pitchFamily="34" charset="-120"/>
              </a:rPr>
              <a:t>open</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metadata</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for</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sink</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in</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sinks</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sink</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DCDCAA"/>
                </a:solidFill>
                <a:latin typeface="Consolas" pitchFamily="34" charset="0"/>
                <a:ea typeface="Consolas" pitchFamily="34" charset="-122"/>
                <a:cs typeface="Consolas" pitchFamily="34" charset="-120"/>
              </a:rPr>
              <a:t>open</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metadata</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def</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DCDCAA"/>
                </a:solidFill>
                <a:latin typeface="Consolas" pitchFamily="34" charset="0"/>
                <a:ea typeface="Consolas" pitchFamily="34" charset="-122"/>
                <a:cs typeface="Consolas" pitchFamily="34" charset="-120"/>
              </a:rPr>
              <a:t>write</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reading</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for</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sink</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in</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sinks</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sink</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DCDCAA"/>
                </a:solidFill>
                <a:latin typeface="Consolas" pitchFamily="34" charset="0"/>
                <a:ea typeface="Consolas" pitchFamily="34" charset="-122"/>
                <a:cs typeface="Consolas" pitchFamily="34" charset="-120"/>
              </a:rPr>
              <a:t>write</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reading</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def</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DCDCAA"/>
                </a:solidFill>
                <a:latin typeface="Consolas" pitchFamily="34" charset="0"/>
                <a:ea typeface="Consolas" pitchFamily="34" charset="-122"/>
                <a:cs typeface="Consolas" pitchFamily="34" charset="-120"/>
              </a:rPr>
              <a:t>close</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for</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sink</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in</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sinks</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sink</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DCDCAA"/>
                </a:solidFill>
                <a:latin typeface="Consolas" pitchFamily="34" charset="0"/>
                <a:ea typeface="Consolas" pitchFamily="34" charset="-122"/>
                <a:cs typeface="Consolas" pitchFamily="34" charset="-120"/>
              </a:rPr>
              <a:t>close</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6A9955"/>
                </a:solidFill>
                <a:latin typeface="Consolas" pitchFamily="34" charset="0"/>
                <a:ea typeface="Consolas" pitchFamily="34" charset="-122"/>
                <a:cs typeface="Consolas" pitchFamily="34" charset="-120"/>
              </a:rPr>
              <a:t># Usage: write to CSV AND JSON metadata simultaneously</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sink</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DCDCAA"/>
                </a:solidFill>
                <a:latin typeface="Consolas" pitchFamily="34" charset="0"/>
                <a:ea typeface="Consolas" pitchFamily="34" charset="-122"/>
                <a:cs typeface="Consolas" pitchFamily="34" charset="-120"/>
              </a:rPr>
              <a:t>CompositeSink</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DCDCAA"/>
                </a:solidFill>
                <a:latin typeface="Consolas" pitchFamily="34" charset="0"/>
                <a:ea typeface="Consolas" pitchFamily="34" charset="-122"/>
                <a:cs typeface="Consolas" pitchFamily="34" charset="-120"/>
              </a:rPr>
              <a:t>CsvSink</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CE9178"/>
                </a:solidFill>
                <a:latin typeface="Consolas" pitchFamily="34" charset="0"/>
                <a:ea typeface="Consolas" pitchFamily="34" charset="-122"/>
                <a:cs typeface="Consolas" pitchFamily="34" charset="-120"/>
              </a:rPr>
              <a:t>"data/readings.csv"</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DCDCAA"/>
                </a:solidFill>
                <a:latin typeface="Consolas" pitchFamily="34" charset="0"/>
                <a:ea typeface="Consolas" pitchFamily="34" charset="-122"/>
                <a:cs typeface="Consolas" pitchFamily="34" charset="-120"/>
              </a:rPr>
              <a:t>JsonMetadataSink</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CE9178"/>
                </a:solidFill>
                <a:latin typeface="Consolas" pitchFamily="34" charset="0"/>
                <a:ea typeface="Consolas" pitchFamily="34" charset="-122"/>
                <a:cs typeface="Consolas" pitchFamily="34" charset="-120"/>
              </a:rPr>
              <a:t>"data/"</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6A9955"/>
                </a:solidFill>
                <a:latin typeface="Consolas" pitchFamily="34" charset="0"/>
                <a:ea typeface="Consolas" pitchFamily="34" charset="-122"/>
                <a:cs typeface="Consolas" pitchFamily="34" charset="-120"/>
              </a:rPr>
              <a:t># Add Hdf5Sink here later — no other code changes</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E1E2E"/>
        </a:solidFill>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4FC3F7"/>
          </a:solidFill>
          <a:ln/>
        </p:spPr>
      </p:sp>
      <p:sp>
        <p:nvSpPr>
          <p:cNvPr id="3" name="Text 1"/>
          <p:cNvSpPr/>
          <p:nvPr/>
        </p:nvSpPr>
        <p:spPr>
          <a:xfrm>
            <a:off x="640080" y="274320"/>
            <a:ext cx="10972800" cy="731520"/>
          </a:xfrm>
          <a:prstGeom prst="rect">
            <a:avLst/>
          </a:prstGeom>
          <a:noFill/>
          <a:ln/>
        </p:spPr>
        <p:txBody>
          <a:bodyPr wrap="square" rtlCol="0" anchor="ctr"/>
          <a:lstStyle/>
          <a:p>
            <a:pPr indent="0" marL="0">
              <a:buNone/>
            </a:pPr>
            <a:r>
              <a:rPr lang="en-US" sz="3600" b="1" dirty="0">
                <a:solidFill>
                  <a:srgbClr val="4FC3F7"/>
                </a:solidFill>
                <a:latin typeface="Calibri Light" pitchFamily="34" charset="0"/>
                <a:ea typeface="Calibri Light" pitchFamily="34" charset="-122"/>
                <a:cs typeface="Calibri Light" pitchFamily="34" charset="-120"/>
              </a:rPr>
              <a:t>Lab 7 — Implement DataSinks</a:t>
            </a:r>
            <a:endParaRPr lang="en-US" sz="3600" dirty="0"/>
          </a:p>
        </p:txBody>
      </p:sp>
      <p:sp>
        <p:nvSpPr>
          <p:cNvPr id="4" name="Text 2"/>
          <p:cNvSpPr/>
          <p:nvPr/>
        </p:nvSpPr>
        <p:spPr>
          <a:xfrm>
            <a:off x="822960" y="1188720"/>
            <a:ext cx="10424160" cy="5029200"/>
          </a:xfrm>
          <a:prstGeom prst="rect">
            <a:avLst/>
          </a:prstGeom>
          <a:noFill/>
          <a:ln/>
        </p:spPr>
        <p:txBody>
          <a:bodyPr wrap="square" rtlCol="0" anchor="t"/>
          <a:lstStyle/>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Review DataSink ABC, CsvSink, JsonMetadataSink, CompositeSink</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Write a test script that creates a CompositeSink (CSV + JSON metadata)</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Generate 20 readings using SimulatedInstrumentAdapter</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Write each reading to the composite sink</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Verify: CSV file has 20 rows, JSON file has metadata</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Extension: add Hdf5Sink</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Time: 30 minutes</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731520" y="2011680"/>
            <a:ext cx="10698480" cy="1280160"/>
          </a:xfrm>
          <a:prstGeom prst="rect">
            <a:avLst/>
          </a:prstGeom>
          <a:noFill/>
          <a:ln/>
        </p:spPr>
        <p:txBody>
          <a:bodyPr wrap="square" rtlCol="0" anchor="ctr"/>
          <a:lstStyle/>
          <a:p>
            <a:pPr algn="l" indent="0" marL="0">
              <a:buNone/>
            </a:pPr>
            <a:r>
              <a:rPr lang="en-US" sz="4400" b="1" dirty="0">
                <a:solidFill>
                  <a:srgbClr val="FFFFFF"/>
                </a:solidFill>
                <a:latin typeface="Calibri Light" pitchFamily="34" charset="0"/>
                <a:ea typeface="Calibri Light" pitchFamily="34" charset="-122"/>
                <a:cs typeface="Calibri Light" pitchFamily="34" charset="-120"/>
              </a:rPr>
              <a:t>Writer Thread and Non-Blocking I/O</a:t>
            </a:r>
            <a:endParaRPr lang="en-US" sz="4400" dirty="0"/>
          </a:p>
        </p:txBody>
      </p:sp>
      <p:sp>
        <p:nvSpPr>
          <p:cNvPr id="3" name="Text 1"/>
          <p:cNvSpPr/>
          <p:nvPr/>
        </p:nvSpPr>
        <p:spPr>
          <a:xfrm>
            <a:off x="731520" y="3291840"/>
            <a:ext cx="10698480" cy="640080"/>
          </a:xfrm>
          <a:prstGeom prst="rect">
            <a:avLst/>
          </a:prstGeom>
          <a:noFill/>
          <a:ln/>
        </p:spPr>
        <p:txBody>
          <a:bodyPr wrap="square" rtlCol="0" anchor="ctr"/>
          <a:lstStyle/>
          <a:p>
            <a:pPr algn="l" indent="0" marL="0">
              <a:buNone/>
            </a:pPr>
            <a:r>
              <a:rPr lang="en-US" sz="2000" dirty="0">
                <a:solidFill>
                  <a:srgbClr val="4FC3F7"/>
                </a:solidFill>
                <a:latin typeface="Calibri" pitchFamily="34" charset="0"/>
                <a:ea typeface="Calibri" pitchFamily="34" charset="-122"/>
                <a:cs typeface="Calibri" pitchFamily="34" charset="-120"/>
              </a:rPr>
              <a:t>Decoupling acquisition speed from disk speed</a:t>
            </a:r>
            <a:endParaRPr 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E1E2E"/>
        </a:solidFill>
      </p:bgPr>
    </p:bg>
    <p:spTree>
      <p:nvGrpSpPr>
        <p:cNvPr id="1" name=""/>
        <p:cNvGrpSpPr/>
        <p:nvPr/>
      </p:nvGrpSpPr>
      <p:grpSpPr>
        <a:xfrm>
          <a:off x="0" y="0"/>
          <a:ext cx="0" cy="0"/>
          <a:chOff x="0" y="0"/>
          <a:chExt cx="0" cy="0"/>
        </a:xfrm>
      </p:grpSpPr>
      <p:sp>
        <p:nvSpPr>
          <p:cNvPr id="2" name="Text 0"/>
          <p:cNvSpPr/>
          <p:nvPr/>
        </p:nvSpPr>
        <p:spPr>
          <a:xfrm>
            <a:off x="640080" y="274320"/>
            <a:ext cx="10972800" cy="731520"/>
          </a:xfrm>
          <a:prstGeom prst="rect">
            <a:avLst/>
          </a:prstGeom>
          <a:noFill/>
          <a:ln/>
        </p:spPr>
        <p:txBody>
          <a:bodyPr wrap="square" rtlCol="0" anchor="ctr"/>
          <a:lstStyle/>
          <a:p>
            <a:pPr indent="0" marL="0">
              <a:buNone/>
            </a:pPr>
            <a:r>
              <a:rPr lang="en-US" sz="3600" b="1" dirty="0">
                <a:solidFill>
                  <a:srgbClr val="FFFFFF"/>
                </a:solidFill>
                <a:latin typeface="Calibri Light" pitchFamily="34" charset="0"/>
                <a:ea typeface="Calibri Light" pitchFamily="34" charset="-122"/>
                <a:cs typeface="Calibri Light" pitchFamily="34" charset="-120"/>
              </a:rPr>
              <a:t>The Problem — File I/O Blocks Acquisition</a:t>
            </a:r>
            <a:endParaRPr lang="en-US" sz="3600" dirty="0"/>
          </a:p>
        </p:txBody>
      </p:sp>
      <p:sp>
        <p:nvSpPr>
          <p:cNvPr id="3" name="Text 1"/>
          <p:cNvSpPr/>
          <p:nvPr/>
        </p:nvSpPr>
        <p:spPr>
          <a:xfrm>
            <a:off x="822960" y="1188720"/>
            <a:ext cx="10424160" cy="5029200"/>
          </a:xfrm>
          <a:prstGeom prst="rect">
            <a:avLst/>
          </a:prstGeom>
          <a:noFill/>
          <a:ln/>
        </p:spPr>
        <p:txBody>
          <a:bodyPr wrap="square" rtlCol="0" anchor="t"/>
          <a:lstStyle/>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Writing to disk is slow (especially CSV with flush)</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If the writer blocks the acquisition loop, you miss readings</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Solution: decouple with a queue and a dedicated writer thread</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Acquisition thread puts on queue, writer thread takes from queue and writes to disk</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E1E2E"/>
        </a:solidFill>
      </p:bgPr>
    </p:bg>
    <p:spTree>
      <p:nvGrpSpPr>
        <p:cNvPr id="1" name=""/>
        <p:cNvGrpSpPr/>
        <p:nvPr/>
      </p:nvGrpSpPr>
      <p:grpSpPr>
        <a:xfrm>
          <a:off x="0" y="0"/>
          <a:ext cx="0" cy="0"/>
          <a:chOff x="0" y="0"/>
          <a:chExt cx="0" cy="0"/>
        </a:xfrm>
      </p:grpSpPr>
      <p:sp>
        <p:nvSpPr>
          <p:cNvPr id="2" name="Text 0"/>
          <p:cNvSpPr/>
          <p:nvPr/>
        </p:nvSpPr>
        <p:spPr>
          <a:xfrm>
            <a:off x="640080" y="182880"/>
            <a:ext cx="10972800" cy="594360"/>
          </a:xfrm>
          <a:prstGeom prst="rect">
            <a:avLst/>
          </a:prstGeom>
          <a:noFill/>
          <a:ln/>
        </p:spPr>
        <p:txBody>
          <a:bodyPr wrap="square" rtlCol="0" anchor="ctr"/>
          <a:lstStyle/>
          <a:p>
            <a:pPr indent="0" marL="0">
              <a:buNone/>
            </a:pPr>
            <a:r>
              <a:rPr lang="en-US" sz="3200" b="1" dirty="0">
                <a:solidFill>
                  <a:srgbClr val="FFFFFF"/>
                </a:solidFill>
                <a:latin typeface="Calibri Light" pitchFamily="34" charset="0"/>
                <a:ea typeface="Calibri Light" pitchFamily="34" charset="-122"/>
                <a:cs typeface="Calibri Light" pitchFamily="34" charset="-120"/>
              </a:rPr>
              <a:t>Coupled vs Decoupled I/O</a:t>
            </a:r>
            <a:endParaRPr lang="en-US" sz="3200" dirty="0"/>
          </a:p>
        </p:txBody>
      </p:sp>
      <p:sp>
        <p:nvSpPr>
          <p:cNvPr id="3" name="Text 1"/>
          <p:cNvSpPr/>
          <p:nvPr/>
        </p:nvSpPr>
        <p:spPr>
          <a:xfrm>
            <a:off x="457200" y="868680"/>
            <a:ext cx="5394960" cy="411480"/>
          </a:xfrm>
          <a:prstGeom prst="rect">
            <a:avLst/>
          </a:prstGeom>
          <a:noFill/>
          <a:ln/>
        </p:spPr>
        <p:txBody>
          <a:bodyPr wrap="square" rtlCol="0" anchor="ctr"/>
          <a:lstStyle/>
          <a:p>
            <a:pPr indent="0" marL="0">
              <a:buNone/>
            </a:pPr>
            <a:r>
              <a:rPr lang="en-US" sz="1400" b="1" dirty="0">
                <a:solidFill>
                  <a:srgbClr val="FF6B6B"/>
                </a:solidFill>
                <a:latin typeface="Calibri" pitchFamily="34" charset="0"/>
                <a:ea typeface="Calibri" pitchFamily="34" charset="-122"/>
                <a:cs typeface="Calibri" pitchFamily="34" charset="-120"/>
              </a:rPr>
              <a:t>Coupled: acquisition waits for disk</a:t>
            </a:r>
            <a:endParaRPr lang="en-US" sz="1400" dirty="0"/>
          </a:p>
        </p:txBody>
      </p:sp>
      <p:sp>
        <p:nvSpPr>
          <p:cNvPr id="4" name="Text 2"/>
          <p:cNvSpPr/>
          <p:nvPr/>
        </p:nvSpPr>
        <p:spPr>
          <a:xfrm>
            <a:off x="6336792" y="868680"/>
            <a:ext cx="5394960" cy="411480"/>
          </a:xfrm>
          <a:prstGeom prst="rect">
            <a:avLst/>
          </a:prstGeom>
          <a:noFill/>
          <a:ln/>
        </p:spPr>
        <p:txBody>
          <a:bodyPr wrap="square" rtlCol="0" anchor="ctr"/>
          <a:lstStyle/>
          <a:p>
            <a:pPr indent="0" marL="0">
              <a:buNone/>
            </a:pPr>
            <a:r>
              <a:rPr lang="en-US" sz="1400" b="1" dirty="0">
                <a:solidFill>
                  <a:srgbClr val="66BB6A"/>
                </a:solidFill>
                <a:latin typeface="Calibri" pitchFamily="34" charset="0"/>
                <a:ea typeface="Calibri" pitchFamily="34" charset="-122"/>
                <a:cs typeface="Calibri" pitchFamily="34" charset="-120"/>
              </a:rPr>
              <a:t>Decoupled: queue absorbs bursts</a:t>
            </a:r>
            <a:endParaRPr lang="en-US" sz="1400" dirty="0"/>
          </a:p>
        </p:txBody>
      </p:sp>
      <p:sp>
        <p:nvSpPr>
          <p:cNvPr id="5" name="Shape 3"/>
          <p:cNvSpPr/>
          <p:nvPr/>
        </p:nvSpPr>
        <p:spPr>
          <a:xfrm>
            <a:off x="457200" y="1280160"/>
            <a:ext cx="5394960" cy="4572000"/>
          </a:xfrm>
          <a:prstGeom prst="rect">
            <a:avLst>
              <a:gd name="adj" fmla="val 2000"/>
            </a:avLst>
          </a:prstGeom>
          <a:solidFill>
            <a:srgbClr val="0D1117"/>
          </a:solidFill>
          <a:ln/>
        </p:spPr>
      </p:sp>
      <p:sp>
        <p:nvSpPr>
          <p:cNvPr id="6" name="Shape 4"/>
          <p:cNvSpPr/>
          <p:nvPr/>
        </p:nvSpPr>
        <p:spPr>
          <a:xfrm>
            <a:off x="6336792" y="1280160"/>
            <a:ext cx="5394960" cy="4572000"/>
          </a:xfrm>
          <a:prstGeom prst="rect">
            <a:avLst>
              <a:gd name="adj" fmla="val 2000"/>
            </a:avLst>
          </a:prstGeom>
          <a:solidFill>
            <a:srgbClr val="0D1117"/>
          </a:solidFill>
          <a:ln/>
        </p:spPr>
      </p:sp>
      <p:sp>
        <p:nvSpPr>
          <p:cNvPr id="7" name="Shape 5"/>
          <p:cNvSpPr/>
          <p:nvPr/>
        </p:nvSpPr>
        <p:spPr>
          <a:xfrm>
            <a:off x="6094476" y="914400"/>
            <a:ext cx="0" cy="5120640"/>
          </a:xfrm>
          <a:prstGeom prst="line">
            <a:avLst/>
          </a:prstGeom>
          <a:noFill/>
          <a:ln w="12700">
            <a:solidFill>
              <a:srgbClr val="444466"/>
            </a:solidFill>
            <a:prstDash val="solid"/>
          </a:ln>
        </p:spPr>
      </p:sp>
      <p:sp>
        <p:nvSpPr>
          <p:cNvPr id="8" name="Text 6"/>
          <p:cNvSpPr/>
          <p:nvPr/>
        </p:nvSpPr>
        <p:spPr>
          <a:xfrm>
            <a:off x="594360" y="1371600"/>
            <a:ext cx="5120640" cy="4389120"/>
          </a:xfrm>
          <a:prstGeom prst="rect">
            <a:avLst/>
          </a:prstGeom>
          <a:noFill/>
          <a:ln/>
        </p:spPr>
        <p:txBody>
          <a:bodyPr wrap="square" rtlCol="0" anchor="t"/>
          <a:lstStyle/>
          <a:p>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def</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acquisition_loop</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while</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running</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reading</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adapter</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read_value</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CE9178"/>
                </a:solidFill>
                <a:latin typeface="Consolas" pitchFamily="34" charset="0"/>
                <a:ea typeface="Consolas" pitchFamily="34" charset="-122"/>
                <a:cs typeface="Consolas" pitchFamily="34" charset="-120"/>
              </a:rPr>
              <a:t>'temp'</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6A9955"/>
                </a:solidFill>
                <a:latin typeface="Consolas" pitchFamily="34" charset="0"/>
                <a:ea typeface="Consolas" pitchFamily="34" charset="-122"/>
                <a:cs typeface="Consolas" pitchFamily="34" charset="-120"/>
              </a:rPr>
              <a:t># BLOCKS: disk write stalls acquisition</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csv_file</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write</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reading</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to_csv</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csv_file</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flush</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6A9955"/>
                </a:solidFill>
                <a:latin typeface="Consolas" pitchFamily="34" charset="0"/>
                <a:ea typeface="Consolas" pitchFamily="34" charset="-122"/>
                <a:cs typeface="Consolas" pitchFamily="34" charset="-120"/>
              </a:rPr>
              <a:t># If disk is slow, we MISS the next reading</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time</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sleep</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interval</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endParaRPr lang="en-US" sz="1100" dirty="0"/>
          </a:p>
        </p:txBody>
      </p:sp>
      <p:sp>
        <p:nvSpPr>
          <p:cNvPr id="9" name="Text 7"/>
          <p:cNvSpPr/>
          <p:nvPr/>
        </p:nvSpPr>
        <p:spPr>
          <a:xfrm>
            <a:off x="6473952" y="1371600"/>
            <a:ext cx="5120640" cy="4389120"/>
          </a:xfrm>
          <a:prstGeom prst="rect">
            <a:avLst/>
          </a:prstGeom>
          <a:noFill/>
          <a:ln/>
        </p:spPr>
        <p:txBody>
          <a:bodyPr wrap="square" rtlCol="0" anchor="t"/>
          <a:lstStyle/>
          <a:p>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def</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acquisition_loop</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while</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running</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reading</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adapter</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read_value</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CE9178"/>
                </a:solidFill>
                <a:latin typeface="Consolas" pitchFamily="34" charset="0"/>
                <a:ea typeface="Consolas" pitchFamily="34" charset="-122"/>
                <a:cs typeface="Consolas" pitchFamily="34" charset="-120"/>
              </a:rPr>
              <a:t>'temp'</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queue</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put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reading</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6A9955"/>
                </a:solidFill>
                <a:latin typeface="Consolas" pitchFamily="34" charset="0"/>
                <a:ea typeface="Consolas" pitchFamily="34" charset="-122"/>
                <a:cs typeface="Consolas" pitchFamily="34" charset="-120"/>
              </a:rPr>
              <a:t># instant, non-blocking</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time</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sleep</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interval</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def</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writer_loop</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while</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True</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reading</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queue</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get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6A9955"/>
                </a:solidFill>
                <a:latin typeface="Consolas" pitchFamily="34" charset="0"/>
                <a:ea typeface="Consolas" pitchFamily="34" charset="-122"/>
                <a:cs typeface="Consolas" pitchFamily="34" charset="-120"/>
              </a:rPr>
              <a:t># blocks until data</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if</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reading</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is</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None</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6A9955"/>
                </a:solidFill>
                <a:latin typeface="Consolas" pitchFamily="34" charset="0"/>
                <a:ea typeface="Consolas" pitchFamily="34" charset="-122"/>
                <a:cs typeface="Consolas" pitchFamily="34" charset="-120"/>
              </a:rPr>
              <a:t># sentinel: stop</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break</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sink</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write</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reading</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6A9955"/>
                </a:solidFill>
                <a:latin typeface="Consolas" pitchFamily="34" charset="0"/>
                <a:ea typeface="Consolas" pitchFamily="34" charset="-122"/>
                <a:cs typeface="Consolas" pitchFamily="34" charset="-120"/>
              </a:rPr>
              <a:t># disk I/O here</a:t>
            </a:r>
            <a:endParaRPr lang="en-US" sz="1100" dirty="0"/>
          </a:p>
        </p:txBody>
      </p:sp>
      <p:sp>
        <p:nvSpPr>
          <p:cNvPr id="10" name="Text 8"/>
          <p:cNvSpPr/>
          <p:nvPr/>
        </p:nvSpPr>
        <p:spPr>
          <a:xfrm>
            <a:off x="640080" y="5989320"/>
            <a:ext cx="10972800" cy="548640"/>
          </a:xfrm>
          <a:prstGeom prst="rect">
            <a:avLst/>
          </a:prstGeom>
          <a:noFill/>
          <a:ln/>
        </p:spPr>
        <p:txBody>
          <a:bodyPr wrap="square" rtlCol="0" anchor="ctr"/>
          <a:lstStyle/>
          <a:p>
            <a:pPr algn="ctr" indent="0" marL="0">
              <a:buNone/>
            </a:pPr>
            <a:r>
              <a:rPr lang="en-US" sz="1300" i="1" dirty="0">
                <a:solidFill>
                  <a:srgbClr val="4FC3F7"/>
                </a:solidFill>
                <a:latin typeface="Calibri" pitchFamily="34" charset="0"/>
                <a:ea typeface="Calibri" pitchFamily="34" charset="-122"/>
                <a:cs typeface="Calibri" pitchFamily="34" charset="-120"/>
              </a:rPr>
              <a:t>The queue decouples speed: acquisition runs at instrument rate, writer runs at disk rate.</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E1E2E"/>
        </a:solidFill>
      </p:bgPr>
    </p:bg>
    <p:spTree>
      <p:nvGrpSpPr>
        <p:cNvPr id="1" name=""/>
        <p:cNvGrpSpPr/>
        <p:nvPr/>
      </p:nvGrpSpPr>
      <p:grpSpPr>
        <a:xfrm>
          <a:off x="0" y="0"/>
          <a:ext cx="0" cy="0"/>
          <a:chOff x="0" y="0"/>
          <a:chExt cx="0" cy="0"/>
        </a:xfrm>
      </p:grpSpPr>
      <p:sp>
        <p:nvSpPr>
          <p:cNvPr id="2" name="Text 0"/>
          <p:cNvSpPr/>
          <p:nvPr/>
        </p:nvSpPr>
        <p:spPr>
          <a:xfrm>
            <a:off x="640080" y="182880"/>
            <a:ext cx="10972800" cy="640080"/>
          </a:xfrm>
          <a:prstGeom prst="rect">
            <a:avLst/>
          </a:prstGeom>
          <a:noFill/>
          <a:ln/>
        </p:spPr>
        <p:txBody>
          <a:bodyPr wrap="square" rtlCol="0" anchor="ctr"/>
          <a:lstStyle/>
          <a:p>
            <a:pPr indent="0" marL="0">
              <a:buNone/>
            </a:pPr>
            <a:r>
              <a:rPr lang="en-US" sz="3200" b="1" dirty="0">
                <a:solidFill>
                  <a:srgbClr val="FFFFFF"/>
                </a:solidFill>
                <a:latin typeface="Calibri Light" pitchFamily="34" charset="0"/>
                <a:ea typeface="Calibri Light" pitchFamily="34" charset="-122"/>
                <a:cs typeface="Calibri Light" pitchFamily="34" charset="-120"/>
              </a:rPr>
              <a:t>Queue-Based Architecture</a:t>
            </a:r>
            <a:endParaRPr lang="en-US" sz="3200" dirty="0"/>
          </a:p>
        </p:txBody>
      </p:sp>
      <p:sp>
        <p:nvSpPr>
          <p:cNvPr id="3" name="Shape 1"/>
          <p:cNvSpPr/>
          <p:nvPr/>
        </p:nvSpPr>
        <p:spPr>
          <a:xfrm>
            <a:off x="457200" y="960120"/>
            <a:ext cx="11274552" cy="4846320"/>
          </a:xfrm>
          <a:prstGeom prst="rect">
            <a:avLst>
              <a:gd name="adj" fmla="val 1887"/>
            </a:avLst>
          </a:prstGeom>
          <a:solidFill>
            <a:srgbClr val="0D1117"/>
          </a:solidFill>
          <a:ln/>
        </p:spPr>
      </p:sp>
      <p:sp>
        <p:nvSpPr>
          <p:cNvPr id="4" name="Text 2"/>
          <p:cNvSpPr/>
          <p:nvPr/>
        </p:nvSpPr>
        <p:spPr>
          <a:xfrm>
            <a:off x="640080" y="1051560"/>
            <a:ext cx="10881360" cy="4663440"/>
          </a:xfrm>
          <a:prstGeom prst="rect">
            <a:avLst/>
          </a:prstGeom>
          <a:noFill/>
          <a:ln/>
        </p:spPr>
        <p:txBody>
          <a:bodyPr wrap="square" rtlCol="0" anchor="t"/>
          <a:lstStyle/>
          <a:p>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import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queue</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import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threading</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class</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DCDCAA"/>
                </a:solidFill>
                <a:latin typeface="Consolas" pitchFamily="34" charset="0"/>
                <a:ea typeface="Consolas" pitchFamily="34" charset="-122"/>
                <a:cs typeface="Consolas" pitchFamily="34" charset="-120"/>
              </a:rPr>
              <a:t>WriterThread</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threading</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4EC9B0"/>
                </a:solidFill>
                <a:latin typeface="Consolas" pitchFamily="34" charset="0"/>
                <a:ea typeface="Consolas" pitchFamily="34" charset="-122"/>
                <a:cs typeface="Consolas" pitchFamily="34" charset="-120"/>
              </a:rPr>
              <a:t>Thread</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CE9178"/>
                </a:solidFill>
                <a:latin typeface="Consolas" pitchFamily="34" charset="0"/>
                <a:ea typeface="Consolas" pitchFamily="34" charset="-122"/>
                <a:cs typeface="Consolas" pitchFamily="34" charset="-120"/>
              </a:rPr>
              <a:t>"""Consumes readings from queue, writes to data sinks."""</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def</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DCDCAA"/>
                </a:solidFill>
                <a:latin typeface="Consolas" pitchFamily="34" charset="0"/>
                <a:ea typeface="Consolas" pitchFamily="34" charset="-122"/>
                <a:cs typeface="Consolas" pitchFamily="34" charset="-120"/>
              </a:rPr>
              <a:t>__init__</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data_queue</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queue</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4EC9B0"/>
                </a:solidFill>
                <a:latin typeface="Consolas" pitchFamily="34" charset="0"/>
                <a:ea typeface="Consolas" pitchFamily="34" charset="-122"/>
                <a:cs typeface="Consolas" pitchFamily="34" charset="-120"/>
              </a:rPr>
              <a:t>Queue</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sink</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4EC9B0"/>
                </a:solidFill>
                <a:latin typeface="Consolas" pitchFamily="34" charset="0"/>
                <a:ea typeface="Consolas" pitchFamily="34" charset="-122"/>
                <a:cs typeface="Consolas" pitchFamily="34" charset="-120"/>
              </a:rPr>
              <a:t>DataSink</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super</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DCDCAA"/>
                </a:solidFill>
                <a:latin typeface="Consolas" pitchFamily="34" charset="0"/>
                <a:ea typeface="Consolas" pitchFamily="34" charset="-122"/>
                <a:cs typeface="Consolas" pitchFamily="34" charset="-120"/>
              </a:rPr>
              <a:t>__init__</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daemon</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True</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queue</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data_queue</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sink</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sink</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def</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DCDCAA"/>
                </a:solidFill>
                <a:latin typeface="Consolas" pitchFamily="34" charset="0"/>
                <a:ea typeface="Consolas" pitchFamily="34" charset="-122"/>
                <a:cs typeface="Consolas" pitchFamily="34" charset="-120"/>
              </a:rPr>
              <a:t>run</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while</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True</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reading</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queue</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DCDCAA"/>
                </a:solidFill>
                <a:latin typeface="Consolas" pitchFamily="34" charset="0"/>
                <a:ea typeface="Consolas" pitchFamily="34" charset="-122"/>
                <a:cs typeface="Consolas" pitchFamily="34" charset="-120"/>
              </a:rPr>
              <a:t>get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if</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reading</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is</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None</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6A9955"/>
                </a:solidFill>
                <a:latin typeface="Consolas" pitchFamily="34" charset="0"/>
                <a:ea typeface="Consolas" pitchFamily="34" charset="-122"/>
                <a:cs typeface="Consolas" pitchFamily="34" charset="-120"/>
              </a:rPr>
              <a:t># sentinel value</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break</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sink</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DCDCAA"/>
                </a:solidFill>
                <a:latin typeface="Consolas" pitchFamily="34" charset="0"/>
                <a:ea typeface="Consolas" pitchFamily="34" charset="-122"/>
                <a:cs typeface="Consolas" pitchFamily="34" charset="-120"/>
              </a:rPr>
              <a:t>write</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reading</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sink</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DCDCAA"/>
                </a:solidFill>
                <a:latin typeface="Consolas" pitchFamily="34" charset="0"/>
                <a:ea typeface="Consolas" pitchFamily="34" charset="-122"/>
                <a:cs typeface="Consolas" pitchFamily="34" charset="-120"/>
              </a:rPr>
              <a:t>close</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6A9955"/>
                </a:solidFill>
                <a:latin typeface="Consolas" pitchFamily="34" charset="0"/>
                <a:ea typeface="Consolas" pitchFamily="34" charset="-122"/>
                <a:cs typeface="Consolas" pitchFamily="34" charset="-120"/>
              </a:rPr>
              <a:t># clean shutdown</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6A9955"/>
                </a:solidFill>
                <a:latin typeface="Consolas" pitchFamily="34" charset="0"/>
                <a:ea typeface="Consolas" pitchFamily="34" charset="-122"/>
                <a:cs typeface="Consolas" pitchFamily="34" charset="-120"/>
              </a:rPr>
              <a:t># Setup</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data_queue</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queue</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DCDCAA"/>
                </a:solidFill>
                <a:latin typeface="Consolas" pitchFamily="34" charset="0"/>
                <a:ea typeface="Consolas" pitchFamily="34" charset="-122"/>
                <a:cs typeface="Consolas" pitchFamily="34" charset="-120"/>
              </a:rPr>
              <a:t>Queue</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writer</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DCDCAA"/>
                </a:solidFill>
                <a:latin typeface="Consolas" pitchFamily="34" charset="0"/>
                <a:ea typeface="Consolas" pitchFamily="34" charset="-122"/>
                <a:cs typeface="Consolas" pitchFamily="34" charset="-120"/>
              </a:rPr>
              <a:t>WriterThread</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data_queue</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composite_sink</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writer</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DCDCAA"/>
                </a:solidFill>
                <a:latin typeface="Consolas" pitchFamily="34" charset="0"/>
                <a:ea typeface="Consolas" pitchFamily="34" charset="-122"/>
                <a:cs typeface="Consolas" pitchFamily="34" charset="-120"/>
              </a:rPr>
              <a:t>start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6A9955"/>
                </a:solidFill>
                <a:latin typeface="Consolas" pitchFamily="34" charset="0"/>
                <a:ea typeface="Consolas" pitchFamily="34" charset="-122"/>
                <a:cs typeface="Consolas" pitchFamily="34" charset="-120"/>
              </a:rPr>
              <a:t># Acquisition puts readings on queue (fast)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data_queue</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DCDCAA"/>
                </a:solidFill>
                <a:latin typeface="Consolas" pitchFamily="34" charset="0"/>
                <a:ea typeface="Consolas" pitchFamily="34" charset="-122"/>
                <a:cs typeface="Consolas" pitchFamily="34" charset="-120"/>
              </a:rPr>
              <a:t>put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reading</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6A9955"/>
                </a:solidFill>
                <a:latin typeface="Consolas" pitchFamily="34" charset="0"/>
                <a:ea typeface="Consolas" pitchFamily="34" charset="-122"/>
                <a:cs typeface="Consolas" pitchFamily="34" charset="-120"/>
              </a:rPr>
              <a:t># Shutdown: send sentinel, wait for writer to finish</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data_queue</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DCDCAA"/>
                </a:solidFill>
                <a:latin typeface="Consolas" pitchFamily="34" charset="0"/>
                <a:ea typeface="Consolas" pitchFamily="34" charset="-122"/>
                <a:cs typeface="Consolas" pitchFamily="34" charset="-120"/>
              </a:rPr>
              <a:t>put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None</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writer</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DCDCAA"/>
                </a:solidFill>
                <a:latin typeface="Consolas" pitchFamily="34" charset="0"/>
                <a:ea typeface="Consolas" pitchFamily="34" charset="-122"/>
                <a:cs typeface="Consolas" pitchFamily="34" charset="-120"/>
              </a:rPr>
              <a:t>join</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E1E2E"/>
        </a:solidFill>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4FC3F7"/>
          </a:solidFill>
          <a:ln/>
        </p:spPr>
      </p:sp>
      <p:sp>
        <p:nvSpPr>
          <p:cNvPr id="3" name="Text 1"/>
          <p:cNvSpPr/>
          <p:nvPr/>
        </p:nvSpPr>
        <p:spPr>
          <a:xfrm>
            <a:off x="640080" y="274320"/>
            <a:ext cx="10972800" cy="731520"/>
          </a:xfrm>
          <a:prstGeom prst="rect">
            <a:avLst/>
          </a:prstGeom>
          <a:noFill/>
          <a:ln/>
        </p:spPr>
        <p:txBody>
          <a:bodyPr wrap="square" rtlCol="0" anchor="ctr"/>
          <a:lstStyle/>
          <a:p>
            <a:pPr indent="0" marL="0">
              <a:buNone/>
            </a:pPr>
            <a:r>
              <a:rPr lang="en-US" sz="3600" b="1" dirty="0">
                <a:solidFill>
                  <a:srgbClr val="4FC3F7"/>
                </a:solidFill>
                <a:latin typeface="Calibri Light" pitchFamily="34" charset="0"/>
                <a:ea typeface="Calibri Light" pitchFamily="34" charset="-122"/>
                <a:cs typeface="Calibri Light" pitchFamily="34" charset="-120"/>
              </a:rPr>
              <a:t>Lab 8 — Writer Thread</a:t>
            </a:r>
            <a:endParaRPr lang="en-US" sz="3600" dirty="0"/>
          </a:p>
        </p:txBody>
      </p:sp>
      <p:sp>
        <p:nvSpPr>
          <p:cNvPr id="4" name="Text 2"/>
          <p:cNvSpPr/>
          <p:nvPr/>
        </p:nvSpPr>
        <p:spPr>
          <a:xfrm>
            <a:off x="822960" y="1188720"/>
            <a:ext cx="10424160" cy="5029200"/>
          </a:xfrm>
          <a:prstGeom prst="rect">
            <a:avLst/>
          </a:prstGeom>
          <a:noFill/>
          <a:ln/>
        </p:spPr>
        <p:txBody>
          <a:bodyPr wrap="square" rtlCol="0" anchor="t"/>
          <a:lstStyle/>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Add a queue.Queue between acquisition worker and data sinks</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Create a WriterThread that consumes the queue</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Read 50 values, put on queue, verify CSV output</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Sentinel (None) for clean shutdown</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Time: 20 minutes</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731520" y="2011680"/>
            <a:ext cx="10698480" cy="1280160"/>
          </a:xfrm>
          <a:prstGeom prst="rect">
            <a:avLst/>
          </a:prstGeom>
          <a:noFill/>
          <a:ln/>
        </p:spPr>
        <p:txBody>
          <a:bodyPr wrap="square" rtlCol="0" anchor="ctr"/>
          <a:lstStyle/>
          <a:p>
            <a:pPr algn="l" indent="0" marL="0">
              <a:buNone/>
            </a:pPr>
            <a:r>
              <a:rPr lang="en-US" sz="4400" b="1" dirty="0">
                <a:solidFill>
                  <a:srgbClr val="FFFFFF"/>
                </a:solidFill>
                <a:latin typeface="Calibri Light" pitchFamily="34" charset="0"/>
                <a:ea typeface="Calibri Light" pitchFamily="34" charset="-122"/>
                <a:cs typeface="Calibri Light" pitchFamily="34" charset="-120"/>
              </a:rPr>
              <a:t>Units, Metadata and Configuration</a:t>
            </a:r>
            <a:endParaRPr lang="en-US" sz="4400" dirty="0"/>
          </a:p>
        </p:txBody>
      </p:sp>
      <p:sp>
        <p:nvSpPr>
          <p:cNvPr id="3" name="Text 1"/>
          <p:cNvSpPr/>
          <p:nvPr/>
        </p:nvSpPr>
        <p:spPr>
          <a:xfrm>
            <a:off x="731520" y="3291840"/>
            <a:ext cx="10698480" cy="640080"/>
          </a:xfrm>
          <a:prstGeom prst="rect">
            <a:avLst/>
          </a:prstGeom>
          <a:noFill/>
          <a:ln/>
        </p:spPr>
        <p:txBody>
          <a:bodyPr wrap="square" rtlCol="0" anchor="ctr"/>
          <a:lstStyle/>
          <a:p>
            <a:pPr algn="l" indent="0" marL="0">
              <a:buNone/>
            </a:pPr>
            <a:r>
              <a:rPr lang="en-US" sz="2000" dirty="0">
                <a:solidFill>
                  <a:srgbClr val="4FC3F7"/>
                </a:solidFill>
                <a:latin typeface="Calibri" pitchFamily="34" charset="0"/>
                <a:ea typeface="Calibri" pitchFamily="34" charset="-122"/>
                <a:cs typeface="Calibri" pitchFamily="34" charset="-120"/>
              </a:rPr>
              <a:t>Making data self-describing and experiments reproducible</a:t>
            </a:r>
            <a:endParaRPr lang="en-US" sz="2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E1E2E"/>
        </a:solidFill>
      </p:bgPr>
    </p:bg>
    <p:spTree>
      <p:nvGrpSpPr>
        <p:cNvPr id="1" name=""/>
        <p:cNvGrpSpPr/>
        <p:nvPr/>
      </p:nvGrpSpPr>
      <p:grpSpPr>
        <a:xfrm>
          <a:off x="0" y="0"/>
          <a:ext cx="0" cy="0"/>
          <a:chOff x="0" y="0"/>
          <a:chExt cx="0" cy="0"/>
        </a:xfrm>
      </p:grpSpPr>
      <p:sp>
        <p:nvSpPr>
          <p:cNvPr id="2" name="Text 0"/>
          <p:cNvSpPr/>
          <p:nvPr/>
        </p:nvSpPr>
        <p:spPr>
          <a:xfrm>
            <a:off x="640080" y="182880"/>
            <a:ext cx="10972800" cy="640080"/>
          </a:xfrm>
          <a:prstGeom prst="rect">
            <a:avLst/>
          </a:prstGeom>
          <a:noFill/>
          <a:ln/>
        </p:spPr>
        <p:txBody>
          <a:bodyPr wrap="square" rtlCol="0" anchor="ctr"/>
          <a:lstStyle/>
          <a:p>
            <a:pPr indent="0" marL="0">
              <a:buNone/>
            </a:pPr>
            <a:r>
              <a:rPr lang="en-US" sz="3200" b="1" dirty="0">
                <a:solidFill>
                  <a:srgbClr val="FFFFFF"/>
                </a:solidFill>
                <a:latin typeface="Calibri Light" pitchFamily="34" charset="0"/>
                <a:ea typeface="Calibri Light" pitchFamily="34" charset="-122"/>
                <a:cs typeface="Calibri Light" pitchFamily="34" charset="-120"/>
              </a:rPr>
              <a:t>Units with Pint</a:t>
            </a:r>
            <a:endParaRPr lang="en-US" sz="3200" dirty="0"/>
          </a:p>
        </p:txBody>
      </p:sp>
      <p:sp>
        <p:nvSpPr>
          <p:cNvPr id="3" name="Shape 1"/>
          <p:cNvSpPr/>
          <p:nvPr/>
        </p:nvSpPr>
        <p:spPr>
          <a:xfrm>
            <a:off x="457200" y="960120"/>
            <a:ext cx="11274552" cy="4846320"/>
          </a:xfrm>
          <a:prstGeom prst="rect">
            <a:avLst>
              <a:gd name="adj" fmla="val 1887"/>
            </a:avLst>
          </a:prstGeom>
          <a:solidFill>
            <a:srgbClr val="0D1117"/>
          </a:solidFill>
          <a:ln/>
        </p:spPr>
      </p:sp>
      <p:sp>
        <p:nvSpPr>
          <p:cNvPr id="4" name="Text 2"/>
          <p:cNvSpPr/>
          <p:nvPr/>
        </p:nvSpPr>
        <p:spPr>
          <a:xfrm>
            <a:off x="640080" y="1051560"/>
            <a:ext cx="10881360" cy="4663440"/>
          </a:xfrm>
          <a:prstGeom prst="rect">
            <a:avLst/>
          </a:prstGeom>
          <a:noFill/>
          <a:ln/>
        </p:spPr>
        <p:txBody>
          <a:bodyPr wrap="square" rtlCol="0" anchor="t"/>
          <a:lstStyle/>
          <a:p>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from</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pint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import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4EC9B0"/>
                </a:solidFill>
                <a:latin typeface="Consolas" pitchFamily="34" charset="0"/>
                <a:ea typeface="Consolas" pitchFamily="34" charset="-122"/>
                <a:cs typeface="Consolas" pitchFamily="34" charset="-120"/>
              </a:rPr>
              <a:t>UnitRegistry</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ureg</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DCDCAA"/>
                </a:solidFill>
                <a:latin typeface="Consolas" pitchFamily="34" charset="0"/>
                <a:ea typeface="Consolas" pitchFamily="34" charset="-122"/>
                <a:cs typeface="Consolas" pitchFamily="34" charset="-120"/>
              </a:rPr>
              <a:t>UnitRegistry</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6A9955"/>
                </a:solidFill>
                <a:latin typeface="Consolas" pitchFamily="34" charset="0"/>
                <a:ea typeface="Consolas" pitchFamily="34" charset="-122"/>
                <a:cs typeface="Consolas" pitchFamily="34" charset="-120"/>
              </a:rPr>
              <a:t># Attach units to values — no more "is this Celsius or Fahrenheit?"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temp</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B5CEA8"/>
                </a:solidFill>
                <a:latin typeface="Consolas" pitchFamily="34" charset="0"/>
                <a:ea typeface="Consolas" pitchFamily="34" charset="-122"/>
                <a:cs typeface="Consolas" pitchFamily="34" charset="-120"/>
              </a:rPr>
              <a:t>23.5</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ureg</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degC</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DCDCAA"/>
                </a:solidFill>
                <a:latin typeface="Consolas" pitchFamily="34" charset="0"/>
                <a:ea typeface="Consolas" pitchFamily="34" charset="-122"/>
                <a:cs typeface="Consolas" pitchFamily="34" charset="-120"/>
              </a:rPr>
              <a:t>print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temp</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6A9955"/>
                </a:solidFill>
                <a:latin typeface="Consolas" pitchFamily="34" charset="0"/>
                <a:ea typeface="Consolas" pitchFamily="34" charset="-122"/>
                <a:cs typeface="Consolas" pitchFamily="34" charset="-120"/>
              </a:rPr>
              <a:t># 23.5 degC</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DCDCAA"/>
                </a:solidFill>
                <a:latin typeface="Consolas" pitchFamily="34" charset="0"/>
                <a:ea typeface="Consolas" pitchFamily="34" charset="-122"/>
                <a:cs typeface="Consolas" pitchFamily="34" charset="-120"/>
              </a:rPr>
              <a:t>print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temp</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DCDCAA"/>
                </a:solidFill>
                <a:latin typeface="Consolas" pitchFamily="34" charset="0"/>
                <a:ea typeface="Consolas" pitchFamily="34" charset="-122"/>
                <a:cs typeface="Consolas" pitchFamily="34" charset="-120"/>
              </a:rPr>
              <a:t>to</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ureg</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degF</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6A9955"/>
                </a:solidFill>
                <a:latin typeface="Consolas" pitchFamily="34" charset="0"/>
                <a:ea typeface="Consolas" pitchFamily="34" charset="-122"/>
                <a:cs typeface="Consolas" pitchFamily="34" charset="-120"/>
              </a:rPr>
              <a:t># 74.3 degF</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DCDCAA"/>
                </a:solidFill>
                <a:latin typeface="Consolas" pitchFamily="34" charset="0"/>
                <a:ea typeface="Consolas" pitchFamily="34" charset="-122"/>
                <a:cs typeface="Consolas" pitchFamily="34" charset="-120"/>
              </a:rPr>
              <a:t>print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temp</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DCDCAA"/>
                </a:solidFill>
                <a:latin typeface="Consolas" pitchFamily="34" charset="0"/>
                <a:ea typeface="Consolas" pitchFamily="34" charset="-122"/>
                <a:cs typeface="Consolas" pitchFamily="34" charset="-120"/>
              </a:rPr>
              <a:t>to</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ureg</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kelvin</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6A9955"/>
                </a:solidFill>
                <a:latin typeface="Consolas" pitchFamily="34" charset="0"/>
                <a:ea typeface="Consolas" pitchFamily="34" charset="-122"/>
                <a:cs typeface="Consolas" pitchFamily="34" charset="-120"/>
              </a:rPr>
              <a:t># 296.65 kelvin</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6A9955"/>
                </a:solidFill>
                <a:latin typeface="Consolas" pitchFamily="34" charset="0"/>
                <a:ea typeface="Consolas" pitchFamily="34" charset="-122"/>
                <a:cs typeface="Consolas" pitchFamily="34" charset="-120"/>
              </a:rPr>
              <a:t># Where units belong in the architecture:</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6A9955"/>
                </a:solidFill>
                <a:latin typeface="Consolas" pitchFamily="34" charset="0"/>
                <a:ea typeface="Consolas" pitchFamily="34" charset="-122"/>
                <a:cs typeface="Consolas" pitchFamily="34" charset="-120"/>
              </a:rPr>
              <a:t># Adapter:  attaches units to raw values</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6A9955"/>
                </a:solidFill>
                <a:latin typeface="Consolas" pitchFamily="34" charset="0"/>
                <a:ea typeface="Consolas" pitchFamily="34" charset="-122"/>
                <a:cs typeface="Consolas" pitchFamily="34" charset="-120"/>
              </a:rPr>
              <a:t># Model:    stores unit-aware values</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6A9955"/>
                </a:solidFill>
                <a:latin typeface="Consolas" pitchFamily="34" charset="0"/>
                <a:ea typeface="Consolas" pitchFamily="34" charset="-122"/>
                <a:cs typeface="Consolas" pitchFamily="34" charset="-120"/>
              </a:rPr>
              <a:t># Sink:     writes units to file</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6A9955"/>
                </a:solidFill>
                <a:latin typeface="Consolas" pitchFamily="34" charset="0"/>
                <a:ea typeface="Consolas" pitchFamily="34" charset="-122"/>
                <a:cs typeface="Consolas" pitchFamily="34" charset="-120"/>
              </a:rPr>
              <a:t># View:     formats for display</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6A9955"/>
                </a:solidFill>
                <a:latin typeface="Consolas" pitchFamily="34" charset="0"/>
                <a:ea typeface="Consolas" pitchFamily="34" charset="-122"/>
                <a:cs typeface="Consolas" pitchFamily="34" charset="-120"/>
              </a:rPr>
              <a:t># In the adapter:</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def</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DCDCAA"/>
                </a:solidFill>
                <a:latin typeface="Consolas" pitchFamily="34" charset="0"/>
                <a:ea typeface="Consolas" pitchFamily="34" charset="-122"/>
                <a:cs typeface="Consolas" pitchFamily="34" charset="-120"/>
              </a:rPr>
              <a:t>read_value</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channel</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&gt;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4EC9B0"/>
                </a:solidFill>
                <a:latin typeface="Consolas" pitchFamily="34" charset="0"/>
                <a:ea typeface="Consolas" pitchFamily="34" charset="-122"/>
                <a:cs typeface="Consolas" pitchFamily="34" charset="-120"/>
              </a:rPr>
              <a:t>Reading</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raw</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DCDCAA"/>
                </a:solidFill>
                <a:latin typeface="Consolas" pitchFamily="34" charset="0"/>
                <a:ea typeface="Consolas" pitchFamily="34" charset="-122"/>
                <a:cs typeface="Consolas" pitchFamily="34" charset="-120"/>
              </a:rPr>
              <a:t>_parse_response</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_serial</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DCDCAA"/>
                </a:solidFill>
                <a:latin typeface="Consolas" pitchFamily="34" charset="0"/>
                <a:ea typeface="Consolas" pitchFamily="34" charset="-122"/>
                <a:cs typeface="Consolas" pitchFamily="34" charset="-120"/>
              </a:rPr>
              <a:t>readline</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return</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DCDCAA"/>
                </a:solidFill>
                <a:latin typeface="Consolas" pitchFamily="34" charset="0"/>
                <a:ea typeface="Consolas" pitchFamily="34" charset="-122"/>
                <a:cs typeface="Consolas" pitchFamily="34" charset="-120"/>
              </a:rPr>
              <a:t>Reading</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value</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raw</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ureg</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degC</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6A9955"/>
                </a:solidFill>
                <a:latin typeface="Consolas" pitchFamily="34" charset="0"/>
                <a:ea typeface="Consolas" pitchFamily="34" charset="-122"/>
                <a:cs typeface="Consolas" pitchFamily="34" charset="-120"/>
              </a:rPr>
              <a:t># unit attached here</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channel</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channel</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timestamp</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DCDCAA"/>
                </a:solidFill>
                <a:latin typeface="Consolas" pitchFamily="34" charset="0"/>
                <a:ea typeface="Consolas" pitchFamily="34" charset="-122"/>
                <a:cs typeface="Consolas" pitchFamily="34" charset="-120"/>
              </a:rPr>
              <a:t>datetime</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DCDCAA"/>
                </a:solidFill>
                <a:latin typeface="Consolas" pitchFamily="34" charset="0"/>
                <a:ea typeface="Consolas" pitchFamily="34" charset="-122"/>
                <a:cs typeface="Consolas" pitchFamily="34" charset="-120"/>
              </a:rPr>
              <a:t>now</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E1E2E"/>
        </a:solidFill>
      </p:bgPr>
    </p:bg>
    <p:spTree>
      <p:nvGrpSpPr>
        <p:cNvPr id="1" name=""/>
        <p:cNvGrpSpPr/>
        <p:nvPr/>
      </p:nvGrpSpPr>
      <p:grpSpPr>
        <a:xfrm>
          <a:off x="0" y="0"/>
          <a:ext cx="0" cy="0"/>
          <a:chOff x="0" y="0"/>
          <a:chExt cx="0" cy="0"/>
        </a:xfrm>
      </p:grpSpPr>
      <p:sp>
        <p:nvSpPr>
          <p:cNvPr id="2" name="Text 0"/>
          <p:cNvSpPr/>
          <p:nvPr/>
        </p:nvSpPr>
        <p:spPr>
          <a:xfrm>
            <a:off x="640080" y="274320"/>
            <a:ext cx="10972800" cy="731520"/>
          </a:xfrm>
          <a:prstGeom prst="rect">
            <a:avLst/>
          </a:prstGeom>
          <a:noFill/>
          <a:ln/>
        </p:spPr>
        <p:txBody>
          <a:bodyPr wrap="square" rtlCol="0" anchor="ctr"/>
          <a:lstStyle/>
          <a:p>
            <a:pPr indent="0" marL="0">
              <a:buNone/>
            </a:pPr>
            <a:r>
              <a:rPr lang="en-US" sz="3600" b="1" dirty="0">
                <a:solidFill>
                  <a:srgbClr val="FFFFFF"/>
                </a:solidFill>
                <a:latin typeface="Calibri Light" pitchFamily="34" charset="0"/>
                <a:ea typeface="Calibri Light" pitchFamily="34" charset="-122"/>
                <a:cs typeface="Calibri Light" pitchFamily="34" charset="-120"/>
              </a:rPr>
              <a:t>Metadata for Reproducibility</a:t>
            </a:r>
            <a:endParaRPr lang="en-US" sz="3600" dirty="0"/>
          </a:p>
        </p:txBody>
      </p:sp>
      <p:sp>
        <p:nvSpPr>
          <p:cNvPr id="3" name="Text 1"/>
          <p:cNvSpPr/>
          <p:nvPr/>
        </p:nvSpPr>
        <p:spPr>
          <a:xfrm>
            <a:off x="822960" y="1188720"/>
            <a:ext cx="10424160" cy="5029200"/>
          </a:xfrm>
          <a:prstGeom prst="rect">
            <a:avLst/>
          </a:prstGeom>
          <a:noFill/>
          <a:ln/>
        </p:spPr>
        <p:txBody>
          <a:bodyPr wrap="square" rtlCol="0" anchor="t"/>
          <a:lstStyle/>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Every data file should be traceable to:</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who ran the experiment</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what instrument was used</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when it started and stopped</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what configuration was active</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what software version was running</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If you can't reproduce the experiment from the metadata, the data is an orphan</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E1E2E"/>
        </a:solidFill>
      </p:bgPr>
    </p:bg>
    <p:spTree>
      <p:nvGrpSpPr>
        <p:cNvPr id="1" name=""/>
        <p:cNvGrpSpPr/>
        <p:nvPr/>
      </p:nvGrpSpPr>
      <p:grpSpPr>
        <a:xfrm>
          <a:off x="0" y="0"/>
          <a:ext cx="0" cy="0"/>
          <a:chOff x="0" y="0"/>
          <a:chExt cx="0" cy="0"/>
        </a:xfrm>
      </p:grpSpPr>
      <p:sp>
        <p:nvSpPr>
          <p:cNvPr id="2" name="Text 0"/>
          <p:cNvSpPr/>
          <p:nvPr/>
        </p:nvSpPr>
        <p:spPr>
          <a:xfrm>
            <a:off x="640080" y="182880"/>
            <a:ext cx="10972800" cy="594360"/>
          </a:xfrm>
          <a:prstGeom prst="rect">
            <a:avLst/>
          </a:prstGeom>
          <a:noFill/>
          <a:ln/>
        </p:spPr>
        <p:txBody>
          <a:bodyPr wrap="square" rtlCol="0" anchor="ctr"/>
          <a:lstStyle/>
          <a:p>
            <a:pPr indent="0" marL="0">
              <a:buNone/>
            </a:pPr>
            <a:r>
              <a:rPr lang="en-US" sz="3200" b="1" dirty="0">
                <a:solidFill>
                  <a:srgbClr val="FFFFFF"/>
                </a:solidFill>
                <a:latin typeface="Calibri Light" pitchFamily="34" charset="0"/>
                <a:ea typeface="Calibri Light" pitchFamily="34" charset="-122"/>
                <a:cs typeface="Calibri Light" pitchFamily="34" charset="-120"/>
              </a:rPr>
              <a:t>Configuration Files — YAML</a:t>
            </a:r>
            <a:endParaRPr lang="en-US" sz="3200" dirty="0"/>
          </a:p>
        </p:txBody>
      </p:sp>
      <p:sp>
        <p:nvSpPr>
          <p:cNvPr id="3" name="Text 1"/>
          <p:cNvSpPr/>
          <p:nvPr/>
        </p:nvSpPr>
        <p:spPr>
          <a:xfrm>
            <a:off x="457200" y="868680"/>
            <a:ext cx="5394960" cy="411480"/>
          </a:xfrm>
          <a:prstGeom prst="rect">
            <a:avLst/>
          </a:prstGeom>
          <a:noFill/>
          <a:ln/>
        </p:spPr>
        <p:txBody>
          <a:bodyPr wrap="square" rtlCol="0" anchor="ctr"/>
          <a:lstStyle/>
          <a:p>
            <a:pPr indent="0" marL="0">
              <a:buNone/>
            </a:pPr>
            <a:r>
              <a:rPr lang="en-US" sz="1400" b="1" dirty="0">
                <a:solidFill>
                  <a:srgbClr val="4FC3F7"/>
                </a:solidFill>
                <a:latin typeface="Calibri" pitchFamily="34" charset="0"/>
                <a:ea typeface="Calibri" pitchFamily="34" charset="-122"/>
                <a:cs typeface="Calibri" pitchFamily="34" charset="-120"/>
              </a:rPr>
              <a:t>default_config.yaml</a:t>
            </a:r>
            <a:endParaRPr lang="en-US" sz="1400" dirty="0"/>
          </a:p>
        </p:txBody>
      </p:sp>
      <p:sp>
        <p:nvSpPr>
          <p:cNvPr id="4" name="Text 2"/>
          <p:cNvSpPr/>
          <p:nvPr/>
        </p:nvSpPr>
        <p:spPr>
          <a:xfrm>
            <a:off x="6336792" y="868680"/>
            <a:ext cx="5394960" cy="411480"/>
          </a:xfrm>
          <a:prstGeom prst="rect">
            <a:avLst/>
          </a:prstGeom>
          <a:noFill/>
          <a:ln/>
        </p:spPr>
        <p:txBody>
          <a:bodyPr wrap="square" rtlCol="0" anchor="ctr"/>
          <a:lstStyle/>
          <a:p>
            <a:pPr indent="0" marL="0">
              <a:buNone/>
            </a:pPr>
            <a:r>
              <a:rPr lang="en-US" sz="1400" b="1" dirty="0">
                <a:solidFill>
                  <a:srgbClr val="4FC3F7"/>
                </a:solidFill>
                <a:latin typeface="Calibri" pitchFamily="34" charset="0"/>
                <a:ea typeface="Calibri" pitchFamily="34" charset="-122"/>
                <a:cs typeface="Calibri" pitchFamily="34" charset="-120"/>
              </a:rPr>
              <a:t>Loading in Python</a:t>
            </a:r>
            <a:endParaRPr lang="en-US" sz="1400" dirty="0"/>
          </a:p>
        </p:txBody>
      </p:sp>
      <p:sp>
        <p:nvSpPr>
          <p:cNvPr id="5" name="Shape 3"/>
          <p:cNvSpPr/>
          <p:nvPr/>
        </p:nvSpPr>
        <p:spPr>
          <a:xfrm>
            <a:off x="457200" y="1280160"/>
            <a:ext cx="5394960" cy="4572000"/>
          </a:xfrm>
          <a:prstGeom prst="rect">
            <a:avLst>
              <a:gd name="adj" fmla="val 2000"/>
            </a:avLst>
          </a:prstGeom>
          <a:solidFill>
            <a:srgbClr val="0D1117"/>
          </a:solidFill>
          <a:ln/>
        </p:spPr>
      </p:sp>
      <p:sp>
        <p:nvSpPr>
          <p:cNvPr id="6" name="Shape 4"/>
          <p:cNvSpPr/>
          <p:nvPr/>
        </p:nvSpPr>
        <p:spPr>
          <a:xfrm>
            <a:off x="6336792" y="1280160"/>
            <a:ext cx="5394960" cy="4572000"/>
          </a:xfrm>
          <a:prstGeom prst="rect">
            <a:avLst>
              <a:gd name="adj" fmla="val 2000"/>
            </a:avLst>
          </a:prstGeom>
          <a:solidFill>
            <a:srgbClr val="0D1117"/>
          </a:solidFill>
          <a:ln/>
        </p:spPr>
      </p:sp>
      <p:sp>
        <p:nvSpPr>
          <p:cNvPr id="7" name="Shape 5"/>
          <p:cNvSpPr/>
          <p:nvPr/>
        </p:nvSpPr>
        <p:spPr>
          <a:xfrm>
            <a:off x="6094476" y="914400"/>
            <a:ext cx="0" cy="5120640"/>
          </a:xfrm>
          <a:prstGeom prst="line">
            <a:avLst/>
          </a:prstGeom>
          <a:noFill/>
          <a:ln w="12700">
            <a:solidFill>
              <a:srgbClr val="444466"/>
            </a:solidFill>
            <a:prstDash val="solid"/>
          </a:ln>
        </p:spPr>
      </p:sp>
      <p:sp>
        <p:nvSpPr>
          <p:cNvPr id="8" name="Text 6"/>
          <p:cNvSpPr/>
          <p:nvPr/>
        </p:nvSpPr>
        <p:spPr>
          <a:xfrm>
            <a:off x="594360" y="1371600"/>
            <a:ext cx="5120640" cy="4389120"/>
          </a:xfrm>
          <a:prstGeom prst="rect">
            <a:avLst/>
          </a:prstGeom>
          <a:noFill/>
          <a:ln/>
        </p:spPr>
        <p:txBody>
          <a:bodyPr wrap="square" rtlCol="0" anchor="t"/>
          <a:lstStyle/>
          <a:p>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device</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type</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simulated</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6A9955"/>
                </a:solidFill>
                <a:latin typeface="Consolas" pitchFamily="34" charset="0"/>
                <a:ea typeface="Consolas" pitchFamily="34" charset="-122"/>
                <a:cs typeface="Consolas" pitchFamily="34" charset="-120"/>
              </a:rPr>
              <a:t># or "serial"</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port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4EC9B0"/>
                </a:solidFill>
                <a:latin typeface="Consolas" pitchFamily="34" charset="0"/>
                <a:ea typeface="Consolas" pitchFamily="34" charset="-122"/>
                <a:cs typeface="Consolas" pitchFamily="34" charset="-120"/>
              </a:rPr>
              <a:t>COM3</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6A9955"/>
                </a:solidFill>
                <a:latin typeface="Consolas" pitchFamily="34" charset="0"/>
                <a:ea typeface="Consolas" pitchFamily="34" charset="-122"/>
                <a:cs typeface="Consolas" pitchFamily="34" charset="-120"/>
              </a:rPr>
              <a:t># ignored if simulated</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baud_rate</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B5CEA8"/>
                </a:solidFill>
                <a:latin typeface="Consolas" pitchFamily="34" charset="0"/>
                <a:ea typeface="Consolas" pitchFamily="34" charset="-122"/>
                <a:cs typeface="Consolas" pitchFamily="34" charset="-120"/>
              </a:rPr>
              <a:t>9600</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acquisition</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interval_ms</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B5CEA8"/>
                </a:solidFill>
                <a:latin typeface="Consolas" pitchFamily="34" charset="0"/>
                <a:ea typeface="Consolas" pitchFamily="34" charset="-122"/>
                <a:cs typeface="Consolas" pitchFamily="34" charset="-120"/>
              </a:rPr>
              <a:t>100</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channels</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temperature</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voltage</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output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directory</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data</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formats</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csv</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json_metadata</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experiment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name</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CE9178"/>
                </a:solidFill>
                <a:latin typeface="Consolas" pitchFamily="34" charset="0"/>
                <a:ea typeface="Consolas" pitchFamily="34" charset="-122"/>
                <a:cs typeface="Consolas" pitchFamily="34" charset="-120"/>
              </a:rPr>
              <a:t>"thermal_test_001"</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operator</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CE9178"/>
                </a:solidFill>
                <a:latin typeface="Consolas" pitchFamily="34" charset="0"/>
                <a:ea typeface="Consolas" pitchFamily="34" charset="-122"/>
                <a:cs typeface="Consolas" pitchFamily="34" charset="-120"/>
              </a:rPr>
              <a:t>"J. Smith"</a:t>
            </a:r>
            <a:endParaRPr lang="en-US" sz="1100" dirty="0"/>
          </a:p>
        </p:txBody>
      </p:sp>
      <p:sp>
        <p:nvSpPr>
          <p:cNvPr id="9" name="Text 7"/>
          <p:cNvSpPr/>
          <p:nvPr/>
        </p:nvSpPr>
        <p:spPr>
          <a:xfrm>
            <a:off x="6473952" y="1371600"/>
            <a:ext cx="5120640" cy="4389120"/>
          </a:xfrm>
          <a:prstGeom prst="rect">
            <a:avLst/>
          </a:prstGeom>
          <a:noFill/>
          <a:ln/>
        </p:spPr>
        <p:txBody>
          <a:bodyPr wrap="square" rtlCol="0" anchor="t"/>
          <a:lstStyle/>
          <a:p>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import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yaml</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def</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load_config</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path</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str</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&gt;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dict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with</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open</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path</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as</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f</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569CD6"/>
                </a:solidFill>
                <a:latin typeface="Consolas" pitchFamily="34" charset="0"/>
                <a:ea typeface="Consolas" pitchFamily="34" charset="-122"/>
                <a:cs typeface="Consolas" pitchFamily="34" charset="-120"/>
              </a:rPr>
              <a:t>return</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yaml</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safe_load</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f</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config</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load_config</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CE9178"/>
                </a:solidFill>
                <a:latin typeface="Consolas" pitchFamily="34" charset="0"/>
                <a:ea typeface="Consolas" pitchFamily="34" charset="-122"/>
                <a:cs typeface="Consolas" pitchFamily="34" charset="-120"/>
              </a:rPr>
              <a:t>"configs/default.yaml"</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6A9955"/>
                </a:solidFill>
                <a:latin typeface="Consolas" pitchFamily="34" charset="0"/>
                <a:ea typeface="Consolas" pitchFamily="34" charset="-122"/>
                <a:cs typeface="Consolas" pitchFamily="34" charset="-120"/>
              </a:rPr>
              <a:t># Config drives behaviour, no code changes</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adapter</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create_adapter</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config</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sink</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DCDCAA"/>
                </a:solidFill>
                <a:latin typeface="Consolas" pitchFamily="34" charset="0"/>
                <a:ea typeface="Consolas" pitchFamily="34" charset="-122"/>
                <a:cs typeface="Consolas" pitchFamily="34" charset="-120"/>
              </a:rPr>
              <a:t>create_sinks</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config</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interval</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config</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CE9178"/>
                </a:solidFill>
                <a:latin typeface="Consolas" pitchFamily="34" charset="0"/>
                <a:ea typeface="Consolas" pitchFamily="34" charset="-122"/>
                <a:cs typeface="Consolas" pitchFamily="34" charset="-120"/>
              </a:rPr>
              <a:t>'acquisition'</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CE9178"/>
                </a:solidFill>
                <a:latin typeface="Consolas" pitchFamily="34" charset="0"/>
                <a:ea typeface="Consolas" pitchFamily="34" charset="-122"/>
                <a:cs typeface="Consolas" pitchFamily="34" charset="-120"/>
              </a:rPr>
              <a:t>'interval_ms'</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6A9955"/>
                </a:solidFill>
                <a:latin typeface="Consolas" pitchFamily="34" charset="0"/>
                <a:ea typeface="Consolas" pitchFamily="34" charset="-122"/>
                <a:cs typeface="Consolas" pitchFamily="34" charset="-120"/>
              </a:rPr>
              <a:t># Change the instrument? Edit YAML.</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6A9955"/>
                </a:solidFill>
                <a:latin typeface="Consolas" pitchFamily="34" charset="0"/>
                <a:ea typeface="Consolas" pitchFamily="34" charset="-122"/>
                <a:cs typeface="Consolas" pitchFamily="34" charset="-120"/>
              </a:rPr>
              <a:t># Change the sample rate? Edit YAML.</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6A9955"/>
                </a:solidFill>
                <a:latin typeface="Consolas" pitchFamily="34" charset="0"/>
                <a:ea typeface="Consolas" pitchFamily="34" charset="-122"/>
                <a:cs typeface="Consolas" pitchFamily="34" charset="-120"/>
              </a:rPr>
              <a:t># Change the output format? Edit YAML.</a:t>
            </a:r>
            <a:pPr indent="0" marL="0">
              <a:lnSpc>
                <a:spcPct val="105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5000"/>
              </a:lnSpc>
              <a:buNone/>
            </a:pPr>
            <a:r>
              <a:rPr lang="en-US" sz="1100" dirty="0">
                <a:solidFill>
                  <a:srgbClr val="6A9955"/>
                </a:solidFill>
                <a:latin typeface="Consolas" pitchFamily="34" charset="0"/>
                <a:ea typeface="Consolas" pitchFamily="34" charset="-122"/>
                <a:cs typeface="Consolas" pitchFamily="34" charset="-120"/>
              </a:rPr>
              <a:t># The code doesn't change.</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E1E2E"/>
        </a:solidFill>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4FC3F7"/>
          </a:solidFill>
          <a:ln/>
        </p:spPr>
      </p:sp>
      <p:sp>
        <p:nvSpPr>
          <p:cNvPr id="3" name="Text 1"/>
          <p:cNvSpPr/>
          <p:nvPr/>
        </p:nvSpPr>
        <p:spPr>
          <a:xfrm>
            <a:off x="640080" y="274320"/>
            <a:ext cx="10972800" cy="731520"/>
          </a:xfrm>
          <a:prstGeom prst="rect">
            <a:avLst/>
          </a:prstGeom>
          <a:noFill/>
          <a:ln/>
        </p:spPr>
        <p:txBody>
          <a:bodyPr wrap="square" rtlCol="0" anchor="ctr"/>
          <a:lstStyle/>
          <a:p>
            <a:pPr indent="0" marL="0">
              <a:buNone/>
            </a:pPr>
            <a:r>
              <a:rPr lang="en-US" sz="3600" b="1" dirty="0">
                <a:solidFill>
                  <a:srgbClr val="4FC3F7"/>
                </a:solidFill>
                <a:latin typeface="Calibri Light" pitchFamily="34" charset="0"/>
                <a:ea typeface="Calibri Light" pitchFamily="34" charset="-122"/>
                <a:cs typeface="Calibri Light" pitchFamily="34" charset="-120"/>
              </a:rPr>
              <a:t>Lab 9 — Configuration and Metadata</a:t>
            </a:r>
            <a:endParaRPr lang="en-US" sz="3600" dirty="0"/>
          </a:p>
        </p:txBody>
      </p:sp>
      <p:sp>
        <p:nvSpPr>
          <p:cNvPr id="4" name="Text 2"/>
          <p:cNvSpPr/>
          <p:nvPr/>
        </p:nvSpPr>
        <p:spPr>
          <a:xfrm>
            <a:off x="822960" y="1188720"/>
            <a:ext cx="10424160" cy="5029200"/>
          </a:xfrm>
          <a:prstGeom prst="rect">
            <a:avLst/>
          </a:prstGeom>
          <a:noFill/>
          <a:ln/>
        </p:spPr>
        <p:txBody>
          <a:bodyPr wrap="square" rtlCol="0" anchor="t"/>
          <a:lstStyle/>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Load default_config.yaml using config_loader</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Create adapter and sink using factory functions</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Connect, read 5 values, print them</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Experiment: change device.type in YAML, observe the effect</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Time: 20 minutes</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731520" y="2011680"/>
            <a:ext cx="10698480" cy="1280160"/>
          </a:xfrm>
          <a:prstGeom prst="rect">
            <a:avLst/>
          </a:prstGeom>
          <a:noFill/>
          <a:ln/>
        </p:spPr>
        <p:txBody>
          <a:bodyPr wrap="square" rtlCol="0" anchor="ctr"/>
          <a:lstStyle/>
          <a:p>
            <a:pPr algn="l" indent="0" marL="0">
              <a:buNone/>
            </a:pPr>
            <a:r>
              <a:rPr lang="en-US" sz="4400" b="1" dirty="0">
                <a:solidFill>
                  <a:srgbClr val="FFFFFF"/>
                </a:solidFill>
                <a:latin typeface="Calibri Light" pitchFamily="34" charset="0"/>
                <a:ea typeface="Calibri Light" pitchFamily="34" charset="-122"/>
                <a:cs typeface="Calibri Light" pitchFamily="34" charset="-120"/>
              </a:rPr>
              <a:t>Performance Engineering</a:t>
            </a:r>
            <a:endParaRPr lang="en-US" sz="4400" dirty="0"/>
          </a:p>
        </p:txBody>
      </p:sp>
      <p:sp>
        <p:nvSpPr>
          <p:cNvPr id="3" name="Text 1"/>
          <p:cNvSpPr/>
          <p:nvPr/>
        </p:nvSpPr>
        <p:spPr>
          <a:xfrm>
            <a:off x="731520" y="3291840"/>
            <a:ext cx="10698480" cy="640080"/>
          </a:xfrm>
          <a:prstGeom prst="rect">
            <a:avLst/>
          </a:prstGeom>
          <a:noFill/>
          <a:ln/>
        </p:spPr>
        <p:txBody>
          <a:bodyPr wrap="square" rtlCol="0" anchor="ctr"/>
          <a:lstStyle/>
          <a:p>
            <a:pPr algn="l" indent="0" marL="0">
              <a:buNone/>
            </a:pPr>
            <a:r>
              <a:rPr lang="en-US" sz="2000" dirty="0">
                <a:solidFill>
                  <a:srgbClr val="4FC3F7"/>
                </a:solidFill>
                <a:latin typeface="Calibri" pitchFamily="34" charset="0"/>
                <a:ea typeface="Calibri" pitchFamily="34" charset="-122"/>
                <a:cs typeface="Calibri" pitchFamily="34" charset="-120"/>
              </a:rPr>
              <a:t>Finding and fixing the bottlenecks that matter</a:t>
            </a:r>
            <a:endParaRPr lang="en-US" sz="2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E1E2E"/>
        </a:solidFill>
      </p:bgPr>
    </p:bg>
    <p:spTree>
      <p:nvGrpSpPr>
        <p:cNvPr id="1" name=""/>
        <p:cNvGrpSpPr/>
        <p:nvPr/>
      </p:nvGrpSpPr>
      <p:grpSpPr>
        <a:xfrm>
          <a:off x="0" y="0"/>
          <a:ext cx="0" cy="0"/>
          <a:chOff x="0" y="0"/>
          <a:chExt cx="0" cy="0"/>
        </a:xfrm>
      </p:grpSpPr>
      <p:sp>
        <p:nvSpPr>
          <p:cNvPr id="2" name="Text 0"/>
          <p:cNvSpPr/>
          <p:nvPr/>
        </p:nvSpPr>
        <p:spPr>
          <a:xfrm>
            <a:off x="640080" y="274320"/>
            <a:ext cx="10972800" cy="731520"/>
          </a:xfrm>
          <a:prstGeom prst="rect">
            <a:avLst/>
          </a:prstGeom>
          <a:noFill/>
          <a:ln/>
        </p:spPr>
        <p:txBody>
          <a:bodyPr wrap="square" rtlCol="0" anchor="ctr"/>
          <a:lstStyle/>
          <a:p>
            <a:pPr indent="0" marL="0">
              <a:buNone/>
            </a:pPr>
            <a:r>
              <a:rPr lang="en-US" sz="3600" b="1" dirty="0">
                <a:solidFill>
                  <a:srgbClr val="FFFFFF"/>
                </a:solidFill>
                <a:latin typeface="Calibri Light" pitchFamily="34" charset="0"/>
                <a:ea typeface="Calibri Light" pitchFamily="34" charset="-122"/>
                <a:cs typeface="Calibri Light" pitchFamily="34" charset="-120"/>
              </a:rPr>
              <a:t>The Six Most Common Performance Problems</a:t>
            </a:r>
            <a:endParaRPr lang="en-US" sz="3600" dirty="0"/>
          </a:p>
        </p:txBody>
      </p:sp>
      <p:sp>
        <p:nvSpPr>
          <p:cNvPr id="3" name="Text 1"/>
          <p:cNvSpPr/>
          <p:nvPr/>
        </p:nvSpPr>
        <p:spPr>
          <a:xfrm>
            <a:off x="822960" y="1188720"/>
            <a:ext cx="10424160" cy="5029200"/>
          </a:xfrm>
          <a:prstGeom prst="rect">
            <a:avLst/>
          </a:prstGeom>
          <a:noFill/>
          <a:ln/>
        </p:spPr>
        <p:txBody>
          <a:bodyPr wrap="square" rtlCol="0" anchor="t"/>
          <a:lstStyle/>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1. Event loop blocking: serial.read() on main thread</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2. Too many GUI updates: updating a label at 1000 Hz</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3. Wrong-thread updates: writing to QLabel from worker thread</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4. Slow file I/O in the acquisition loop</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5. Slow parsing: regex in hot loops, string formatting per reading</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6. No buffering: one-byte serial reads, one-row CSV writes</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E1E2E"/>
        </a:solidFill>
      </p:bgPr>
    </p:bg>
    <p:spTree>
      <p:nvGrpSpPr>
        <p:cNvPr id="1" name=""/>
        <p:cNvGrpSpPr/>
        <p:nvPr/>
      </p:nvGrpSpPr>
      <p:grpSpPr>
        <a:xfrm>
          <a:off x="0" y="0"/>
          <a:ext cx="0" cy="0"/>
          <a:chOff x="0" y="0"/>
          <a:chExt cx="0" cy="0"/>
        </a:xfrm>
      </p:grpSpPr>
      <p:sp>
        <p:nvSpPr>
          <p:cNvPr id="2" name="Text 0"/>
          <p:cNvSpPr/>
          <p:nvPr/>
        </p:nvSpPr>
        <p:spPr>
          <a:xfrm>
            <a:off x="640080" y="182880"/>
            <a:ext cx="10972800" cy="640080"/>
          </a:xfrm>
          <a:prstGeom prst="rect">
            <a:avLst/>
          </a:prstGeom>
          <a:noFill/>
          <a:ln/>
        </p:spPr>
        <p:txBody>
          <a:bodyPr wrap="square" rtlCol="0" anchor="ctr"/>
          <a:lstStyle/>
          <a:p>
            <a:pPr indent="0" marL="0">
              <a:buNone/>
            </a:pPr>
            <a:r>
              <a:rPr lang="en-US" sz="3200" b="1" dirty="0">
                <a:solidFill>
                  <a:srgbClr val="FFFFFF"/>
                </a:solidFill>
                <a:latin typeface="Calibri Light" pitchFamily="34" charset="0"/>
                <a:ea typeface="Calibri Light" pitchFamily="34" charset="-122"/>
                <a:cs typeface="Calibri Light" pitchFamily="34" charset="-120"/>
              </a:rPr>
              <a:t>Diagnosis and Fixes</a:t>
            </a:r>
            <a:endParaRPr lang="en-US" sz="3200" dirty="0"/>
          </a:p>
        </p:txBody>
      </p:sp>
      <p:sp>
        <p:nvSpPr>
          <p:cNvPr id="3" name="Shape 1"/>
          <p:cNvSpPr/>
          <p:nvPr/>
        </p:nvSpPr>
        <p:spPr>
          <a:xfrm>
            <a:off x="457200" y="960120"/>
            <a:ext cx="11274552" cy="4846320"/>
          </a:xfrm>
          <a:prstGeom prst="rect">
            <a:avLst>
              <a:gd name="adj" fmla="val 1887"/>
            </a:avLst>
          </a:prstGeom>
          <a:solidFill>
            <a:srgbClr val="0D1117"/>
          </a:solidFill>
          <a:ln/>
        </p:spPr>
      </p:sp>
      <p:sp>
        <p:nvSpPr>
          <p:cNvPr id="4" name="Text 2"/>
          <p:cNvSpPr/>
          <p:nvPr/>
        </p:nvSpPr>
        <p:spPr>
          <a:xfrm>
            <a:off x="640080" y="1051560"/>
            <a:ext cx="10881360" cy="4663440"/>
          </a:xfrm>
          <a:prstGeom prst="rect">
            <a:avLst/>
          </a:prstGeom>
          <a:noFill/>
          <a:ln/>
        </p:spPr>
        <p:txBody>
          <a:bodyPr wrap="square" rtlCol="0" anchor="t"/>
          <a:lstStyle/>
          <a:p>
            <a:pPr indent="0" marL="0">
              <a:lnSpc>
                <a:spcPct val="108000"/>
              </a:lnSpc>
              <a:buNone/>
            </a:pPr>
            <a:r>
              <a:rPr lang="en-US" sz="1100" dirty="0">
                <a:solidFill>
                  <a:srgbClr val="6A9955"/>
                </a:solidFill>
                <a:latin typeface="Consolas" pitchFamily="34" charset="0"/>
                <a:ea typeface="Consolas" pitchFamily="34" charset="-122"/>
                <a:cs typeface="Consolas" pitchFamily="34" charset="-120"/>
              </a:rPr>
              <a:t># DIAGNOSIS: timing suspected hot spots</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import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DCDCAA"/>
                </a:solidFill>
                <a:latin typeface="Consolas" pitchFamily="34" charset="0"/>
                <a:ea typeface="Consolas" pitchFamily="34" charset="-122"/>
                <a:cs typeface="Consolas" pitchFamily="34" charset="-120"/>
              </a:rPr>
              <a:t>time</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t0</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DCDCAA"/>
                </a:solidFill>
                <a:latin typeface="Consolas" pitchFamily="34" charset="0"/>
                <a:ea typeface="Consolas" pitchFamily="34" charset="-122"/>
                <a:cs typeface="Consolas" pitchFamily="34" charset="-120"/>
              </a:rPr>
              <a:t>time</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DCDCAA"/>
                </a:solidFill>
                <a:latin typeface="Consolas" pitchFamily="34" charset="0"/>
                <a:ea typeface="Consolas" pitchFamily="34" charset="-122"/>
                <a:cs typeface="Consolas" pitchFamily="34" charset="-120"/>
              </a:rPr>
              <a:t>perf_counter</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reading</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adapter</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DCDCAA"/>
                </a:solidFill>
                <a:latin typeface="Consolas" pitchFamily="34" charset="0"/>
                <a:ea typeface="Consolas" pitchFamily="34" charset="-122"/>
                <a:cs typeface="Consolas" pitchFamily="34" charset="-120"/>
              </a:rPr>
              <a:t>read_value</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CE9178"/>
                </a:solidFill>
                <a:latin typeface="Consolas" pitchFamily="34" charset="0"/>
                <a:ea typeface="Consolas" pitchFamily="34" charset="-122"/>
                <a:cs typeface="Consolas" pitchFamily="34" charset="-120"/>
              </a:rPr>
              <a:t>'temperature'</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t1</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DCDCAA"/>
                </a:solidFill>
                <a:latin typeface="Consolas" pitchFamily="34" charset="0"/>
                <a:ea typeface="Consolas" pitchFamily="34" charset="-122"/>
                <a:cs typeface="Consolas" pitchFamily="34" charset="-120"/>
              </a:rPr>
              <a:t>time</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DCDCAA"/>
                </a:solidFill>
                <a:latin typeface="Consolas" pitchFamily="34" charset="0"/>
                <a:ea typeface="Consolas" pitchFamily="34" charset="-122"/>
                <a:cs typeface="Consolas" pitchFamily="34" charset="-120"/>
              </a:rPr>
              <a:t>perf_counter</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DCDCAA"/>
                </a:solidFill>
                <a:latin typeface="Consolas" pitchFamily="34" charset="0"/>
                <a:ea typeface="Consolas" pitchFamily="34" charset="-122"/>
                <a:cs typeface="Consolas" pitchFamily="34" charset="-120"/>
              </a:rPr>
              <a:t>print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CE9178"/>
                </a:solidFill>
                <a:latin typeface="Consolas" pitchFamily="34" charset="0"/>
                <a:ea typeface="Consolas" pitchFamily="34" charset="-122"/>
                <a:cs typeface="Consolas" pitchFamily="34" charset="-120"/>
              </a:rPr>
              <a:t>f"Read took {(t1-t0)*1000:.1f} ms"</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6A9955"/>
                </a:solidFill>
                <a:latin typeface="Consolas" pitchFamily="34" charset="0"/>
                <a:ea typeface="Consolas" pitchFamily="34" charset="-122"/>
                <a:cs typeface="Consolas" pitchFamily="34" charset="-120"/>
              </a:rPr>
              <a:t># DIAGNOSIS: queue health</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DCDCAA"/>
                </a:solidFill>
                <a:latin typeface="Consolas" pitchFamily="34" charset="0"/>
                <a:ea typeface="Consolas" pitchFamily="34" charset="-122"/>
                <a:cs typeface="Consolas" pitchFamily="34" charset="-120"/>
              </a:rPr>
              <a:t>print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CE9178"/>
                </a:solidFill>
                <a:latin typeface="Consolas" pitchFamily="34" charset="0"/>
                <a:ea typeface="Consolas" pitchFamily="34" charset="-122"/>
                <a:cs typeface="Consolas" pitchFamily="34" charset="-120"/>
              </a:rPr>
              <a:t>f"Queue depth: {data_queue.qsize()}"</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6A9955"/>
                </a:solidFill>
                <a:latin typeface="Consolas" pitchFamily="34" charset="0"/>
                <a:ea typeface="Consolas" pitchFamily="34" charset="-122"/>
                <a:cs typeface="Consolas" pitchFamily="34" charset="-120"/>
              </a:rPr>
              <a:t># If this number grows, the writer can't keep up</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6A9955"/>
                </a:solidFill>
                <a:latin typeface="Consolas" pitchFamily="34" charset="0"/>
                <a:ea typeface="Consolas" pitchFamily="34" charset="-122"/>
                <a:cs typeface="Consolas" pitchFamily="34" charset="-120"/>
              </a:rPr>
              <a:t># ALREADY SOLVED by our architecture:</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6A9955"/>
                </a:solidFill>
                <a:latin typeface="Consolas" pitchFamily="34" charset="0"/>
                <a:ea typeface="Consolas" pitchFamily="34" charset="-122"/>
                <a:cs typeface="Consolas" pitchFamily="34" charset="-120"/>
              </a:rPr>
              <a:t># [+] Event loop blocking     -&gt; worker thread</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6A9955"/>
                </a:solidFill>
                <a:latin typeface="Consolas" pitchFamily="34" charset="0"/>
                <a:ea typeface="Consolas" pitchFamily="34" charset="-122"/>
                <a:cs typeface="Consolas" pitchFamily="34" charset="-120"/>
              </a:rPr>
              <a:t># [+] Wrong-thread updates    -&gt; signals</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6A9955"/>
                </a:solidFill>
                <a:latin typeface="Consolas" pitchFamily="34" charset="0"/>
                <a:ea typeface="Consolas" pitchFamily="34" charset="-122"/>
                <a:cs typeface="Consolas" pitchFamily="34" charset="-120"/>
              </a:rPr>
              <a:t># [+] Slow file I/O           -&gt; writer thread + queue</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6A9955"/>
                </a:solidFill>
                <a:latin typeface="Consolas" pitchFamily="34" charset="0"/>
                <a:ea typeface="Consolas" pitchFamily="34" charset="-122"/>
                <a:cs typeface="Consolas" pitchFamily="34" charset="-120"/>
              </a:rPr>
              <a:t># REMAINING FIXES:</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6A9955"/>
                </a:solidFill>
                <a:latin typeface="Consolas" pitchFamily="34" charset="0"/>
                <a:ea typeface="Consolas" pitchFamily="34" charset="-122"/>
                <a:cs typeface="Consolas" pitchFamily="34" charset="-120"/>
              </a:rPr>
              <a:t># [ ] Too many GUI updates    -&gt; throttled QTimer</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6A9955"/>
                </a:solidFill>
                <a:latin typeface="Consolas" pitchFamily="34" charset="0"/>
                <a:ea typeface="Consolas" pitchFamily="34" charset="-122"/>
                <a:cs typeface="Consolas" pitchFamily="34" charset="-120"/>
              </a:rPr>
              <a:t># [ ] Slow parsing            -&gt; pure functions, avoid regex</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6A9955"/>
                </a:solidFill>
                <a:latin typeface="Consolas" pitchFamily="34" charset="0"/>
                <a:ea typeface="Consolas" pitchFamily="34" charset="-122"/>
                <a:cs typeface="Consolas" pitchFamily="34" charset="-120"/>
              </a:rPr>
              <a:t># [ ] No buffering            -&gt; batch writes, binary protocols</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E1E2E"/>
        </a:solidFill>
      </p:bgPr>
    </p:bg>
    <p:spTree>
      <p:nvGrpSpPr>
        <p:cNvPr id="1" name=""/>
        <p:cNvGrpSpPr/>
        <p:nvPr/>
      </p:nvGrpSpPr>
      <p:grpSpPr>
        <a:xfrm>
          <a:off x="0" y="0"/>
          <a:ext cx="0" cy="0"/>
          <a:chOff x="0" y="0"/>
          <a:chExt cx="0" cy="0"/>
        </a:xfrm>
      </p:grpSpPr>
      <p:sp>
        <p:nvSpPr>
          <p:cNvPr id="2" name="Text 0"/>
          <p:cNvSpPr/>
          <p:nvPr/>
        </p:nvSpPr>
        <p:spPr>
          <a:xfrm>
            <a:off x="640080" y="182880"/>
            <a:ext cx="10972800" cy="640080"/>
          </a:xfrm>
          <a:prstGeom prst="rect">
            <a:avLst/>
          </a:prstGeom>
          <a:noFill/>
          <a:ln/>
        </p:spPr>
        <p:txBody>
          <a:bodyPr wrap="square" rtlCol="0" anchor="ctr"/>
          <a:lstStyle/>
          <a:p>
            <a:pPr indent="0" marL="0">
              <a:buNone/>
            </a:pPr>
            <a:r>
              <a:rPr lang="en-US" sz="3200" b="1" dirty="0">
                <a:solidFill>
                  <a:srgbClr val="FFFFFF"/>
                </a:solidFill>
                <a:latin typeface="Calibri Light" pitchFamily="34" charset="0"/>
                <a:ea typeface="Calibri Light" pitchFamily="34" charset="-122"/>
                <a:cs typeface="Calibri Light" pitchFamily="34" charset="-120"/>
              </a:rPr>
              <a:t>GUI Update Throttling</a:t>
            </a:r>
            <a:endParaRPr lang="en-US" sz="3200" dirty="0"/>
          </a:p>
        </p:txBody>
      </p:sp>
      <p:sp>
        <p:nvSpPr>
          <p:cNvPr id="3" name="Shape 1"/>
          <p:cNvSpPr/>
          <p:nvPr/>
        </p:nvSpPr>
        <p:spPr>
          <a:xfrm>
            <a:off x="457200" y="960120"/>
            <a:ext cx="11274552" cy="4846320"/>
          </a:xfrm>
          <a:prstGeom prst="rect">
            <a:avLst>
              <a:gd name="adj" fmla="val 1887"/>
            </a:avLst>
          </a:prstGeom>
          <a:solidFill>
            <a:srgbClr val="0D1117"/>
          </a:solidFill>
          <a:ln/>
        </p:spPr>
      </p:sp>
      <p:sp>
        <p:nvSpPr>
          <p:cNvPr id="4" name="Text 2"/>
          <p:cNvSpPr/>
          <p:nvPr/>
        </p:nvSpPr>
        <p:spPr>
          <a:xfrm>
            <a:off x="640080" y="1051560"/>
            <a:ext cx="10881360" cy="4663440"/>
          </a:xfrm>
          <a:prstGeom prst="rect">
            <a:avLst/>
          </a:prstGeom>
          <a:noFill/>
          <a:ln/>
        </p:spPr>
        <p:txBody>
          <a:bodyPr wrap="square" rtlCol="0" anchor="t"/>
          <a:lstStyle/>
          <a:p>
            <a:pPr indent="0" marL="0">
              <a:lnSpc>
                <a:spcPct val="108000"/>
              </a:lnSpc>
              <a:buNone/>
            </a:pPr>
            <a:r>
              <a:rPr lang="en-US" sz="1100" dirty="0">
                <a:solidFill>
                  <a:srgbClr val="6A9955"/>
                </a:solidFill>
                <a:latin typeface="Consolas" pitchFamily="34" charset="0"/>
                <a:ea typeface="Consolas" pitchFamily="34" charset="-122"/>
                <a:cs typeface="Consolas" pitchFamily="34" charset="-120"/>
              </a:rPr>
              <a:t># BAD: update view on every signal from the worker</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6A9955"/>
                </a:solidFill>
                <a:latin typeface="Consolas" pitchFamily="34" charset="0"/>
                <a:ea typeface="Consolas" pitchFamily="34" charset="-122"/>
                <a:cs typeface="Consolas" pitchFamily="34" charset="-120"/>
              </a:rPr>
              <a:t># At 100 Hz, this means 100 label.setText() calls per second</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def</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DCDCAA"/>
                </a:solidFill>
                <a:latin typeface="Consolas" pitchFamily="34" charset="0"/>
                <a:ea typeface="Consolas" pitchFamily="34" charset="-122"/>
                <a:cs typeface="Consolas" pitchFamily="34" charset="-120"/>
              </a:rPr>
              <a:t>on_reading</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reading</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label</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DCDCAA"/>
                </a:solidFill>
                <a:latin typeface="Consolas" pitchFamily="34" charset="0"/>
                <a:ea typeface="Consolas" pitchFamily="34" charset="-122"/>
                <a:cs typeface="Consolas" pitchFamily="34" charset="-120"/>
              </a:rPr>
              <a:t>setText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reading</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DCDCAA"/>
                </a:solidFill>
                <a:latin typeface="Consolas" pitchFamily="34" charset="0"/>
                <a:ea typeface="Consolas" pitchFamily="34" charset="-122"/>
                <a:cs typeface="Consolas" pitchFamily="34" charset="-120"/>
              </a:rPr>
              <a:t>format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6A9955"/>
                </a:solidFill>
                <a:latin typeface="Consolas" pitchFamily="34" charset="0"/>
                <a:ea typeface="Consolas" pitchFamily="34" charset="-122"/>
                <a:cs typeface="Consolas" pitchFamily="34" charset="-120"/>
              </a:rPr>
              <a:t># called 100x/sec!</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plot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DCDCAA"/>
                </a:solidFill>
                <a:latin typeface="Consolas" pitchFamily="34" charset="0"/>
                <a:ea typeface="Consolas" pitchFamily="34" charset="-122"/>
                <a:cs typeface="Consolas" pitchFamily="34" charset="-120"/>
              </a:rPr>
              <a:t>add_point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reading</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value</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6A9955"/>
                </a:solidFill>
                <a:latin typeface="Consolas" pitchFamily="34" charset="0"/>
                <a:ea typeface="Consolas" pitchFamily="34" charset="-122"/>
                <a:cs typeface="Consolas" pitchFamily="34" charset="-120"/>
              </a:rPr>
              <a:t># 100 redraws/sec!</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6A9955"/>
                </a:solidFill>
                <a:latin typeface="Consolas" pitchFamily="34" charset="0"/>
                <a:ea typeface="Consolas" pitchFamily="34" charset="-122"/>
                <a:cs typeface="Consolas" pitchFamily="34" charset="-120"/>
              </a:rPr>
              <a:t># GOOD: throttle with QTimer at 30 Hz (smooth, efficient)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def</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DCDCAA"/>
                </a:solidFill>
                <a:latin typeface="Consolas" pitchFamily="34" charset="0"/>
                <a:ea typeface="Consolas" pitchFamily="34" charset="-122"/>
                <a:cs typeface="Consolas" pitchFamily="34" charset="-120"/>
              </a:rPr>
              <a:t>__init__</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_latest_reading</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None</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display_timer</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DCDCAA"/>
                </a:solidFill>
                <a:latin typeface="Consolas" pitchFamily="34" charset="0"/>
                <a:ea typeface="Consolas" pitchFamily="34" charset="-122"/>
                <a:cs typeface="Consolas" pitchFamily="34" charset="-120"/>
              </a:rPr>
              <a:t>QTimer</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display_timer</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DCDCAA"/>
                </a:solidFill>
                <a:latin typeface="Consolas" pitchFamily="34" charset="0"/>
                <a:ea typeface="Consolas" pitchFamily="34" charset="-122"/>
                <a:cs typeface="Consolas" pitchFamily="34" charset="-120"/>
              </a:rPr>
              <a:t>setInterval</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B5CEA8"/>
                </a:solidFill>
                <a:latin typeface="Consolas" pitchFamily="34" charset="0"/>
                <a:ea typeface="Consolas" pitchFamily="34" charset="-122"/>
                <a:cs typeface="Consolas" pitchFamily="34" charset="-120"/>
              </a:rPr>
              <a:t>33</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6A9955"/>
                </a:solidFill>
                <a:latin typeface="Consolas" pitchFamily="34" charset="0"/>
                <a:ea typeface="Consolas" pitchFamily="34" charset="-122"/>
                <a:cs typeface="Consolas" pitchFamily="34" charset="-120"/>
              </a:rPr>
              <a:t># ~30 Hz</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display_timer</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timeout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DCDCAA"/>
                </a:solidFill>
                <a:latin typeface="Consolas" pitchFamily="34" charset="0"/>
                <a:ea typeface="Consolas" pitchFamily="34" charset="-122"/>
                <a:cs typeface="Consolas" pitchFamily="34" charset="-120"/>
              </a:rPr>
              <a:t>connect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_refresh_display</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display_timer</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DCDCAA"/>
                </a:solidFill>
                <a:latin typeface="Consolas" pitchFamily="34" charset="0"/>
                <a:ea typeface="Consolas" pitchFamily="34" charset="-122"/>
                <a:cs typeface="Consolas" pitchFamily="34" charset="-120"/>
              </a:rPr>
              <a:t>start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def</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DCDCAA"/>
                </a:solidFill>
                <a:latin typeface="Consolas" pitchFamily="34" charset="0"/>
                <a:ea typeface="Consolas" pitchFamily="34" charset="-122"/>
                <a:cs typeface="Consolas" pitchFamily="34" charset="-120"/>
              </a:rPr>
              <a:t>on_reading</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reading</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_latest_reading</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reading</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6A9955"/>
                </a:solidFill>
                <a:latin typeface="Consolas" pitchFamily="34" charset="0"/>
                <a:ea typeface="Consolas" pitchFamily="34" charset="-122"/>
                <a:cs typeface="Consolas" pitchFamily="34" charset="-120"/>
              </a:rPr>
              <a:t># just store it (fast)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def</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DCDCAA"/>
                </a:solidFill>
                <a:latin typeface="Consolas" pitchFamily="34" charset="0"/>
                <a:ea typeface="Consolas" pitchFamily="34" charset="-122"/>
                <a:cs typeface="Consolas" pitchFamily="34" charset="-120"/>
              </a:rPr>
              <a:t>_refresh_display</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if</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_latest_reading</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label</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DCDCAA"/>
                </a:solidFill>
                <a:latin typeface="Consolas" pitchFamily="34" charset="0"/>
                <a:ea typeface="Consolas" pitchFamily="34" charset="-122"/>
                <a:cs typeface="Consolas" pitchFamily="34" charset="-120"/>
              </a:rPr>
              <a:t>setText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_latest_reading</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DCDCAA"/>
                </a:solidFill>
                <a:latin typeface="Consolas" pitchFamily="34" charset="0"/>
                <a:ea typeface="Consolas" pitchFamily="34" charset="-122"/>
                <a:cs typeface="Consolas" pitchFamily="34" charset="-120"/>
              </a:rPr>
              <a:t>format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plot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DCDCAA"/>
                </a:solidFill>
                <a:latin typeface="Consolas" pitchFamily="34" charset="0"/>
                <a:ea typeface="Consolas" pitchFamily="34" charset="-122"/>
                <a:cs typeface="Consolas" pitchFamily="34" charset="-120"/>
              </a:rPr>
              <a:t>update</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6A9955"/>
                </a:solidFill>
                <a:latin typeface="Consolas" pitchFamily="34" charset="0"/>
                <a:ea typeface="Consolas" pitchFamily="34" charset="-122"/>
                <a:cs typeface="Consolas" pitchFamily="34" charset="-120"/>
              </a:rPr>
              <a:t># one redraw at 30 Hz</a:t>
            </a:r>
            <a:endParaRPr lang="en-US" sz="1100" dirty="0"/>
          </a:p>
        </p:txBody>
      </p:sp>
      <p:sp>
        <p:nvSpPr>
          <p:cNvPr id="5" name="Text 3"/>
          <p:cNvSpPr/>
          <p:nvPr/>
        </p:nvSpPr>
        <p:spPr>
          <a:xfrm>
            <a:off x="640080" y="5989320"/>
            <a:ext cx="10972800" cy="548640"/>
          </a:xfrm>
          <a:prstGeom prst="rect">
            <a:avLst/>
          </a:prstGeom>
          <a:noFill/>
          <a:ln/>
        </p:spPr>
        <p:txBody>
          <a:bodyPr wrap="square" rtlCol="0" anchor="ctr"/>
          <a:lstStyle/>
          <a:p>
            <a:pPr algn="ctr" indent="0" marL="0">
              <a:buNone/>
            </a:pPr>
            <a:r>
              <a:rPr lang="en-US" sz="1300" i="1" dirty="0">
                <a:solidFill>
                  <a:srgbClr val="4FC3F7"/>
                </a:solidFill>
                <a:latin typeface="Calibri" pitchFamily="34" charset="0"/>
                <a:ea typeface="Calibri" pitchFamily="34" charset="-122"/>
                <a:cs typeface="Calibri" pitchFamily="34" charset="-120"/>
              </a:rPr>
              <a:t>One change: 100 redraws/sec drops to 30. GUI goes from jerky to silky smooth.</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731520" y="2011680"/>
            <a:ext cx="10698480" cy="1280160"/>
          </a:xfrm>
          <a:prstGeom prst="rect">
            <a:avLst/>
          </a:prstGeom>
          <a:noFill/>
          <a:ln/>
        </p:spPr>
        <p:txBody>
          <a:bodyPr wrap="square" rtlCol="0" anchor="ctr"/>
          <a:lstStyle/>
          <a:p>
            <a:pPr algn="l" indent="0" marL="0">
              <a:buNone/>
            </a:pPr>
            <a:r>
              <a:rPr lang="en-US" sz="4400" b="1" dirty="0">
                <a:solidFill>
                  <a:srgbClr val="FFFFFF"/>
                </a:solidFill>
                <a:latin typeface="Calibri Light" pitchFamily="34" charset="0"/>
                <a:ea typeface="Calibri Light" pitchFamily="34" charset="-122"/>
                <a:cs typeface="Calibri Light" pitchFamily="34" charset="-120"/>
              </a:rPr>
              <a:t>Real-Time Plotting with PyQtGraph</a:t>
            </a:r>
            <a:endParaRPr lang="en-US" sz="4400" dirty="0"/>
          </a:p>
        </p:txBody>
      </p:sp>
      <p:sp>
        <p:nvSpPr>
          <p:cNvPr id="3" name="Text 1"/>
          <p:cNvSpPr/>
          <p:nvPr/>
        </p:nvSpPr>
        <p:spPr>
          <a:xfrm>
            <a:off x="731520" y="3291840"/>
            <a:ext cx="10698480" cy="640080"/>
          </a:xfrm>
          <a:prstGeom prst="rect">
            <a:avLst/>
          </a:prstGeom>
          <a:noFill/>
          <a:ln/>
        </p:spPr>
        <p:txBody>
          <a:bodyPr wrap="square" rtlCol="0" anchor="ctr"/>
          <a:lstStyle/>
          <a:p>
            <a:pPr algn="l" indent="0" marL="0">
              <a:buNone/>
            </a:pPr>
            <a:r>
              <a:rPr lang="en-US" sz="2000" dirty="0">
                <a:solidFill>
                  <a:srgbClr val="4FC3F7"/>
                </a:solidFill>
                <a:latin typeface="Calibri" pitchFamily="34" charset="0"/>
                <a:ea typeface="Calibri" pitchFamily="34" charset="-122"/>
                <a:cs typeface="Calibri" pitchFamily="34" charset="-120"/>
              </a:rPr>
              <a:t>Fast, Qt-native, designed for live data</a:t>
            </a:r>
            <a:endParaRPr lang="en-US" sz="2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E1E2E"/>
        </a:solidFill>
      </p:bgPr>
    </p:bg>
    <p:spTree>
      <p:nvGrpSpPr>
        <p:cNvPr id="1" name=""/>
        <p:cNvGrpSpPr/>
        <p:nvPr/>
      </p:nvGrpSpPr>
      <p:grpSpPr>
        <a:xfrm>
          <a:off x="0" y="0"/>
          <a:ext cx="0" cy="0"/>
          <a:chOff x="0" y="0"/>
          <a:chExt cx="0" cy="0"/>
        </a:xfrm>
      </p:grpSpPr>
      <p:sp>
        <p:nvSpPr>
          <p:cNvPr id="2" name="Text 0"/>
          <p:cNvSpPr/>
          <p:nvPr/>
        </p:nvSpPr>
        <p:spPr>
          <a:xfrm>
            <a:off x="640080" y="274320"/>
            <a:ext cx="10972800" cy="731520"/>
          </a:xfrm>
          <a:prstGeom prst="rect">
            <a:avLst/>
          </a:prstGeom>
          <a:noFill/>
          <a:ln/>
        </p:spPr>
        <p:txBody>
          <a:bodyPr wrap="square" rtlCol="0" anchor="ctr"/>
          <a:lstStyle/>
          <a:p>
            <a:pPr indent="0" marL="0">
              <a:buNone/>
            </a:pPr>
            <a:r>
              <a:rPr lang="en-US" sz="3600" b="1" dirty="0">
                <a:solidFill>
                  <a:srgbClr val="FFFFFF"/>
                </a:solidFill>
                <a:latin typeface="Calibri Light" pitchFamily="34" charset="0"/>
                <a:ea typeface="Calibri Light" pitchFamily="34" charset="-122"/>
                <a:cs typeface="Calibri Light" pitchFamily="34" charset="-120"/>
              </a:rPr>
              <a:t>Why PyQtGraph, Not Matplotlib</a:t>
            </a:r>
            <a:endParaRPr lang="en-US" sz="3600" dirty="0"/>
          </a:p>
        </p:txBody>
      </p:sp>
      <p:sp>
        <p:nvSpPr>
          <p:cNvPr id="3" name="Text 1"/>
          <p:cNvSpPr/>
          <p:nvPr/>
        </p:nvSpPr>
        <p:spPr>
          <a:xfrm>
            <a:off x="822960" y="1188720"/>
            <a:ext cx="10424160" cy="5029200"/>
          </a:xfrm>
          <a:prstGeom prst="rect">
            <a:avLst/>
          </a:prstGeom>
          <a:noFill/>
          <a:ln/>
        </p:spPr>
        <p:txBody>
          <a:bodyPr wrap="square" rtlCol="0" anchor="t"/>
          <a:lstStyle/>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Matplotlib: excellent for static plots, too slow for real-time updates</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PyQtGraph: designed for real-time, Qt-native, 60+ FPS updates</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Embeds directly in PySide6 layouts, just add to a QVBoxLayout</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If your plot flickers or lags, you're using the wrong library</a:t>
            </a:r>
            <a:endParaRPr lang="en-US" sz="15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E1E2E"/>
        </a:solidFill>
      </p:bgPr>
    </p:bg>
    <p:spTree>
      <p:nvGrpSpPr>
        <p:cNvPr id="1" name=""/>
        <p:cNvGrpSpPr/>
        <p:nvPr/>
      </p:nvGrpSpPr>
      <p:grpSpPr>
        <a:xfrm>
          <a:off x="0" y="0"/>
          <a:ext cx="0" cy="0"/>
          <a:chOff x="0" y="0"/>
          <a:chExt cx="0" cy="0"/>
        </a:xfrm>
      </p:grpSpPr>
      <p:sp>
        <p:nvSpPr>
          <p:cNvPr id="2" name="Text 0"/>
          <p:cNvSpPr/>
          <p:nvPr/>
        </p:nvSpPr>
        <p:spPr>
          <a:xfrm>
            <a:off x="640080" y="182880"/>
            <a:ext cx="10972800" cy="640080"/>
          </a:xfrm>
          <a:prstGeom prst="rect">
            <a:avLst/>
          </a:prstGeom>
          <a:noFill/>
          <a:ln/>
        </p:spPr>
        <p:txBody>
          <a:bodyPr wrap="square" rtlCol="0" anchor="ctr"/>
          <a:lstStyle/>
          <a:p>
            <a:pPr indent="0" marL="0">
              <a:buNone/>
            </a:pPr>
            <a:r>
              <a:rPr lang="en-US" sz="3200" b="1" dirty="0">
                <a:solidFill>
                  <a:srgbClr val="FFFFFF"/>
                </a:solidFill>
                <a:latin typeface="Calibri Light" pitchFamily="34" charset="0"/>
                <a:ea typeface="Calibri Light" pitchFamily="34" charset="-122"/>
                <a:cs typeface="Calibri Light" pitchFamily="34" charset="-120"/>
              </a:rPr>
              <a:t>Efficient Real-Time Plotting</a:t>
            </a:r>
            <a:endParaRPr lang="en-US" sz="3200" dirty="0"/>
          </a:p>
        </p:txBody>
      </p:sp>
      <p:sp>
        <p:nvSpPr>
          <p:cNvPr id="3" name="Shape 1"/>
          <p:cNvSpPr/>
          <p:nvPr/>
        </p:nvSpPr>
        <p:spPr>
          <a:xfrm>
            <a:off x="457200" y="960120"/>
            <a:ext cx="11274552" cy="4846320"/>
          </a:xfrm>
          <a:prstGeom prst="rect">
            <a:avLst>
              <a:gd name="adj" fmla="val 1887"/>
            </a:avLst>
          </a:prstGeom>
          <a:solidFill>
            <a:srgbClr val="0D1117"/>
          </a:solidFill>
          <a:ln/>
        </p:spPr>
      </p:sp>
      <p:sp>
        <p:nvSpPr>
          <p:cNvPr id="4" name="Text 2"/>
          <p:cNvSpPr/>
          <p:nvPr/>
        </p:nvSpPr>
        <p:spPr>
          <a:xfrm>
            <a:off x="640080" y="1051560"/>
            <a:ext cx="10881360" cy="4663440"/>
          </a:xfrm>
          <a:prstGeom prst="rect">
            <a:avLst/>
          </a:prstGeom>
          <a:noFill/>
          <a:ln/>
        </p:spPr>
        <p:txBody>
          <a:bodyPr wrap="square" rtlCol="0" anchor="t"/>
          <a:lstStyle/>
          <a:p>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import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numpy</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as</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np</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import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pyqtgraph</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as</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pg</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class</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DCDCAA"/>
                </a:solidFill>
                <a:latin typeface="Consolas" pitchFamily="34" charset="0"/>
                <a:ea typeface="Consolas" pitchFamily="34" charset="-122"/>
                <a:cs typeface="Consolas" pitchFamily="34" charset="-120"/>
              </a:rPr>
              <a:t>LivePlotWidget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pg</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4EC9B0"/>
                </a:solidFill>
                <a:latin typeface="Consolas" pitchFamily="34" charset="0"/>
                <a:ea typeface="Consolas" pitchFamily="34" charset="-122"/>
                <a:cs typeface="Consolas" pitchFamily="34" charset="-120"/>
              </a:rPr>
              <a:t>GraphicsLayoutWidget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CE9178"/>
                </a:solidFill>
                <a:latin typeface="Consolas" pitchFamily="34" charset="0"/>
                <a:ea typeface="Consolas" pitchFamily="34" charset="-122"/>
                <a:cs typeface="Consolas" pitchFamily="34" charset="-120"/>
              </a:rPr>
              <a:t>"""Dual-channel real-time plot with ring buffer."""</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def</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DCDCAA"/>
                </a:solidFill>
                <a:latin typeface="Consolas" pitchFamily="34" charset="0"/>
                <a:ea typeface="Consolas" pitchFamily="34" charset="-122"/>
                <a:cs typeface="Consolas" pitchFamily="34" charset="-120"/>
              </a:rPr>
              <a:t>__init__</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buffer_size</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B5CEA8"/>
                </a:solidFill>
                <a:latin typeface="Consolas" pitchFamily="34" charset="0"/>
                <a:ea typeface="Consolas" pitchFamily="34" charset="-122"/>
                <a:cs typeface="Consolas" pitchFamily="34" charset="-120"/>
              </a:rPr>
              <a:t>500</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super</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DCDCAA"/>
                </a:solidFill>
                <a:latin typeface="Consolas" pitchFamily="34" charset="0"/>
                <a:ea typeface="Consolas" pitchFamily="34" charset="-122"/>
                <a:cs typeface="Consolas" pitchFamily="34" charset="-120"/>
              </a:rPr>
              <a:t>__init__</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buffer_size</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buffer_size</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buffers</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CE9178"/>
                </a:solidFill>
                <a:latin typeface="Consolas" pitchFamily="34" charset="0"/>
                <a:ea typeface="Consolas" pitchFamily="34" charset="-122"/>
                <a:cs typeface="Consolas" pitchFamily="34" charset="-120"/>
              </a:rPr>
              <a:t>'temperature'</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np</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DCDCAA"/>
                </a:solidFill>
                <a:latin typeface="Consolas" pitchFamily="34" charset="0"/>
                <a:ea typeface="Consolas" pitchFamily="34" charset="-122"/>
                <a:cs typeface="Consolas" pitchFamily="34" charset="-120"/>
              </a:rPr>
              <a:t>full</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buffer_size</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np</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nan</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CE9178"/>
                </a:solidFill>
                <a:latin typeface="Consolas" pitchFamily="34" charset="0"/>
                <a:ea typeface="Consolas" pitchFamily="34" charset="-122"/>
                <a:cs typeface="Consolas" pitchFamily="34" charset="-120"/>
              </a:rPr>
              <a:t>'voltage'</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np</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DCDCAA"/>
                </a:solidFill>
                <a:latin typeface="Consolas" pitchFamily="34" charset="0"/>
                <a:ea typeface="Consolas" pitchFamily="34" charset="-122"/>
                <a:cs typeface="Consolas" pitchFamily="34" charset="-120"/>
              </a:rPr>
              <a:t>full</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buffer_size</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np</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nan</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index</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B5CEA8"/>
                </a:solidFill>
                <a:latin typeface="Consolas" pitchFamily="34" charset="0"/>
                <a:ea typeface="Consolas" pitchFamily="34" charset="-122"/>
                <a:cs typeface="Consolas" pitchFamily="34" charset="-120"/>
              </a:rPr>
              <a:t>0</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6A9955"/>
                </a:solidFill>
                <a:latin typeface="Consolas" pitchFamily="34" charset="0"/>
                <a:ea typeface="Consolas" pitchFamily="34" charset="-122"/>
                <a:cs typeface="Consolas" pitchFamily="34" charset="-120"/>
              </a:rPr>
              <a:t># Two plots, linked X axes</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temp_plot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DCDCAA"/>
                </a:solidFill>
                <a:latin typeface="Consolas" pitchFamily="34" charset="0"/>
                <a:ea typeface="Consolas" pitchFamily="34" charset="-122"/>
                <a:cs typeface="Consolas" pitchFamily="34" charset="-120"/>
              </a:rPr>
              <a:t>addPlot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row</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B5CEA8"/>
                </a:solidFill>
                <a:latin typeface="Consolas" pitchFamily="34" charset="0"/>
                <a:ea typeface="Consolas" pitchFamily="34" charset="-122"/>
                <a:cs typeface="Consolas" pitchFamily="34" charset="-120"/>
              </a:rPr>
              <a:t>0</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col</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B5CEA8"/>
                </a:solidFill>
                <a:latin typeface="Consolas" pitchFamily="34" charset="0"/>
                <a:ea typeface="Consolas" pitchFamily="34" charset="-122"/>
                <a:cs typeface="Consolas" pitchFamily="34" charset="-120"/>
              </a:rPr>
              <a:t>0</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title</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CE9178"/>
                </a:solidFill>
                <a:latin typeface="Consolas" pitchFamily="34" charset="0"/>
                <a:ea typeface="Consolas" pitchFamily="34" charset="-122"/>
                <a:cs typeface="Consolas" pitchFamily="34" charset="-120"/>
              </a:rPr>
              <a:t>"Temperature"</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volt_plot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DCDCAA"/>
                </a:solidFill>
                <a:latin typeface="Consolas" pitchFamily="34" charset="0"/>
                <a:ea typeface="Consolas" pitchFamily="34" charset="-122"/>
                <a:cs typeface="Consolas" pitchFamily="34" charset="-120"/>
              </a:rPr>
              <a:t>addPlot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row</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B5CEA8"/>
                </a:solidFill>
                <a:latin typeface="Consolas" pitchFamily="34" charset="0"/>
                <a:ea typeface="Consolas" pitchFamily="34" charset="-122"/>
                <a:cs typeface="Consolas" pitchFamily="34" charset="-120"/>
              </a:rPr>
              <a:t>1</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col</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B5CEA8"/>
                </a:solidFill>
                <a:latin typeface="Consolas" pitchFamily="34" charset="0"/>
                <a:ea typeface="Consolas" pitchFamily="34" charset="-122"/>
                <a:cs typeface="Consolas" pitchFamily="34" charset="-120"/>
              </a:rPr>
              <a:t>0</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title</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CE9178"/>
                </a:solidFill>
                <a:latin typeface="Consolas" pitchFamily="34" charset="0"/>
                <a:ea typeface="Consolas" pitchFamily="34" charset="-122"/>
                <a:cs typeface="Consolas" pitchFamily="34" charset="-120"/>
              </a:rPr>
              <a:t>"Voltage (V)"</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volt_plot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DCDCAA"/>
                </a:solidFill>
                <a:latin typeface="Consolas" pitchFamily="34" charset="0"/>
                <a:ea typeface="Consolas" pitchFamily="34" charset="-122"/>
                <a:cs typeface="Consolas" pitchFamily="34" charset="-120"/>
              </a:rPr>
              <a:t>setXLink</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temp_plot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temp_curve</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temp_plot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DCDCAA"/>
                </a:solidFill>
                <a:latin typeface="Consolas" pitchFamily="34" charset="0"/>
                <a:ea typeface="Consolas" pitchFamily="34" charset="-122"/>
                <a:cs typeface="Consolas" pitchFamily="34" charset="-120"/>
              </a:rPr>
              <a:t>plot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pen</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CE9178"/>
                </a:solidFill>
                <a:latin typeface="Consolas" pitchFamily="34" charset="0"/>
                <a:ea typeface="Consolas" pitchFamily="34" charset="-122"/>
                <a:cs typeface="Consolas" pitchFamily="34" charset="-120"/>
              </a:rPr>
              <a:t>'#4FC3F7'</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volt_curve</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volt_plot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DCDCAA"/>
                </a:solidFill>
                <a:latin typeface="Consolas" pitchFamily="34" charset="0"/>
                <a:ea typeface="Consolas" pitchFamily="34" charset="-122"/>
                <a:cs typeface="Consolas" pitchFamily="34" charset="-120"/>
              </a:rPr>
              <a:t>plot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pen</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CE9178"/>
                </a:solidFill>
                <a:latin typeface="Consolas" pitchFamily="34" charset="0"/>
                <a:ea typeface="Consolas" pitchFamily="34" charset="-122"/>
                <a:cs typeface="Consolas" pitchFamily="34" charset="-120"/>
              </a:rPr>
              <a:t>'#FFB74D'</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def</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DCDCAA"/>
                </a:solidFill>
                <a:latin typeface="Consolas" pitchFamily="34" charset="0"/>
                <a:ea typeface="Consolas" pitchFamily="34" charset="-122"/>
                <a:cs typeface="Consolas" pitchFamily="34" charset="-120"/>
              </a:rPr>
              <a:t>add_value</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value</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channel</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buf</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buffers</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channel</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buf</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index</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buffer_size</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value</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index</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B5CEA8"/>
                </a:solidFill>
                <a:latin typeface="Consolas" pitchFamily="34" charset="0"/>
                <a:ea typeface="Consolas" pitchFamily="34" charset="-122"/>
                <a:cs typeface="Consolas" pitchFamily="34" charset="-120"/>
              </a:rPr>
              <a:t>1</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def</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DCDCAA"/>
                </a:solidFill>
                <a:latin typeface="Consolas" pitchFamily="34" charset="0"/>
                <a:ea typeface="Consolas" pitchFamily="34" charset="-122"/>
                <a:cs typeface="Consolas" pitchFamily="34" charset="-120"/>
              </a:rPr>
              <a:t>refresh</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CE9178"/>
                </a:solidFill>
                <a:latin typeface="Consolas" pitchFamily="34" charset="0"/>
                <a:ea typeface="Consolas" pitchFamily="34" charset="-122"/>
                <a:cs typeface="Consolas" pitchFamily="34" charset="-120"/>
              </a:rPr>
              <a:t>"""Call at 30 Hz from QTimer, NOT per-reading."""</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for</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channel</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curve</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in</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CE9178"/>
                </a:solidFill>
                <a:latin typeface="Consolas" pitchFamily="34" charset="0"/>
                <a:ea typeface="Consolas" pitchFamily="34" charset="-122"/>
                <a:cs typeface="Consolas" pitchFamily="34" charset="-120"/>
              </a:rPr>
              <a:t>'temperature'</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temp_curve</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CE9178"/>
                </a:solidFill>
                <a:latin typeface="Consolas" pitchFamily="34" charset="0"/>
                <a:ea typeface="Consolas" pitchFamily="34" charset="-122"/>
                <a:cs typeface="Consolas" pitchFamily="34" charset="-120"/>
              </a:rPr>
              <a:t>'voltage'</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volt_curve</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curve</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DCDCAA"/>
                </a:solidFill>
                <a:latin typeface="Consolas" pitchFamily="34" charset="0"/>
                <a:ea typeface="Consolas" pitchFamily="34" charset="-122"/>
                <a:cs typeface="Consolas" pitchFamily="34" charset="-120"/>
              </a:rPr>
              <a:t>setData</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buffers</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channel</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E1E2E"/>
        </a:solidFill>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4FC3F7"/>
          </a:solidFill>
          <a:ln/>
        </p:spPr>
      </p:sp>
      <p:sp>
        <p:nvSpPr>
          <p:cNvPr id="3" name="Text 1"/>
          <p:cNvSpPr/>
          <p:nvPr/>
        </p:nvSpPr>
        <p:spPr>
          <a:xfrm>
            <a:off x="640080" y="274320"/>
            <a:ext cx="10972800" cy="731520"/>
          </a:xfrm>
          <a:prstGeom prst="rect">
            <a:avLst/>
          </a:prstGeom>
          <a:noFill/>
          <a:ln/>
        </p:spPr>
        <p:txBody>
          <a:bodyPr wrap="square" rtlCol="0" anchor="ctr"/>
          <a:lstStyle/>
          <a:p>
            <a:pPr indent="0" marL="0">
              <a:buNone/>
            </a:pPr>
            <a:r>
              <a:rPr lang="en-US" sz="3600" b="1" dirty="0">
                <a:solidFill>
                  <a:srgbClr val="4FC3F7"/>
                </a:solidFill>
                <a:latin typeface="Calibri Light" pitchFamily="34" charset="0"/>
                <a:ea typeface="Calibri Light" pitchFamily="34" charset="-122"/>
                <a:cs typeface="Calibri Light" pitchFamily="34" charset="-120"/>
              </a:rPr>
              <a:t>Lab 10 — Real-Time Plot</a:t>
            </a:r>
            <a:endParaRPr lang="en-US" sz="3600" dirty="0"/>
          </a:p>
        </p:txBody>
      </p:sp>
      <p:sp>
        <p:nvSpPr>
          <p:cNvPr id="4" name="Text 2"/>
          <p:cNvSpPr/>
          <p:nvPr/>
        </p:nvSpPr>
        <p:spPr>
          <a:xfrm>
            <a:off x="822960" y="1188720"/>
            <a:ext cx="10424160" cy="5029200"/>
          </a:xfrm>
          <a:prstGeom prst="rect">
            <a:avLst/>
          </a:prstGeom>
          <a:noFill/>
          <a:ln/>
        </p:spPr>
        <p:txBody>
          <a:bodyPr wrap="square" rtlCol="0" anchor="t"/>
          <a:lstStyle/>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Add a dual-channel PyQtGraph plot to a PySide6 window</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Use SimulatedInstrumentAdapter to generate temperature and voltage data</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Ring buffer (numpy array, 500 points per channel)</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QTimer at 30 Hz reads from adapter and updates both traces</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Start/Stop buttons, smooth scrolling traces</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Time: 30 minutes</a:t>
            </a:r>
            <a:endParaRPr lang="en-US" sz="15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731520" y="2011680"/>
            <a:ext cx="10698480" cy="1280160"/>
          </a:xfrm>
          <a:prstGeom prst="rect">
            <a:avLst/>
          </a:prstGeom>
          <a:noFill/>
          <a:ln/>
        </p:spPr>
        <p:txBody>
          <a:bodyPr wrap="square" rtlCol="0" anchor="ctr"/>
          <a:lstStyle/>
          <a:p>
            <a:pPr algn="l" indent="0" marL="0">
              <a:buNone/>
            </a:pPr>
            <a:r>
              <a:rPr lang="en-US" sz="4400" b="1" dirty="0">
                <a:solidFill>
                  <a:srgbClr val="FFFFFF"/>
                </a:solidFill>
                <a:latin typeface="Calibri Light" pitchFamily="34" charset="0"/>
                <a:ea typeface="Calibri Light" pitchFamily="34" charset="-122"/>
                <a:cs typeface="Calibri Light" pitchFamily="34" charset="-120"/>
              </a:rPr>
              <a:t>Capstone Integration</a:t>
            </a:r>
            <a:endParaRPr lang="en-US" sz="4400" dirty="0"/>
          </a:p>
        </p:txBody>
      </p:sp>
      <p:sp>
        <p:nvSpPr>
          <p:cNvPr id="3" name="Text 1"/>
          <p:cNvSpPr/>
          <p:nvPr/>
        </p:nvSpPr>
        <p:spPr>
          <a:xfrm>
            <a:off x="731520" y="3291840"/>
            <a:ext cx="10698480" cy="640080"/>
          </a:xfrm>
          <a:prstGeom prst="rect">
            <a:avLst/>
          </a:prstGeom>
          <a:noFill/>
          <a:ln/>
        </p:spPr>
        <p:txBody>
          <a:bodyPr wrap="square" rtlCol="0" anchor="ctr"/>
          <a:lstStyle/>
          <a:p>
            <a:pPr algn="l" indent="0" marL="0">
              <a:buNone/>
            </a:pPr>
            <a:r>
              <a:rPr lang="en-US" sz="2000" dirty="0">
                <a:solidFill>
                  <a:srgbClr val="4FC3F7"/>
                </a:solidFill>
                <a:latin typeface="Calibri" pitchFamily="34" charset="0"/>
                <a:ea typeface="Calibri" pitchFamily="34" charset="-122"/>
                <a:cs typeface="Calibri" pitchFamily="34" charset="-120"/>
              </a:rPr>
              <a:t>Putting every piece together</a:t>
            </a:r>
            <a:endParaRPr lang="en-US" sz="2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E1E2E"/>
        </a:solidFill>
      </p:bgPr>
    </p:bg>
    <p:spTree>
      <p:nvGrpSpPr>
        <p:cNvPr id="1" name=""/>
        <p:cNvGrpSpPr/>
        <p:nvPr/>
      </p:nvGrpSpPr>
      <p:grpSpPr>
        <a:xfrm>
          <a:off x="0" y="0"/>
          <a:ext cx="0" cy="0"/>
          <a:chOff x="0" y="0"/>
          <a:chExt cx="0" cy="0"/>
        </a:xfrm>
      </p:grpSpPr>
      <p:sp>
        <p:nvSpPr>
          <p:cNvPr id="2" name="Text 0"/>
          <p:cNvSpPr/>
          <p:nvPr/>
        </p:nvSpPr>
        <p:spPr>
          <a:xfrm>
            <a:off x="640080" y="274320"/>
            <a:ext cx="10972800" cy="731520"/>
          </a:xfrm>
          <a:prstGeom prst="rect">
            <a:avLst/>
          </a:prstGeom>
          <a:noFill/>
          <a:ln/>
        </p:spPr>
        <p:txBody>
          <a:bodyPr wrap="square" rtlCol="0" anchor="ctr"/>
          <a:lstStyle/>
          <a:p>
            <a:pPr indent="0" marL="0">
              <a:buNone/>
            </a:pPr>
            <a:r>
              <a:rPr lang="en-US" sz="3600" b="1" dirty="0">
                <a:solidFill>
                  <a:srgbClr val="FFFFFF"/>
                </a:solidFill>
                <a:latin typeface="Calibri Light" pitchFamily="34" charset="0"/>
                <a:ea typeface="Calibri Light" pitchFamily="34" charset="-122"/>
                <a:cs typeface="Calibri Light" pitchFamily="34" charset="-120"/>
              </a:rPr>
              <a:t>Everything Connected</a:t>
            </a:r>
            <a:endParaRPr lang="en-US" sz="3600" dirty="0"/>
          </a:p>
        </p:txBody>
      </p:sp>
      <p:sp>
        <p:nvSpPr>
          <p:cNvPr id="3" name="Text 1"/>
          <p:cNvSpPr/>
          <p:nvPr/>
        </p:nvSpPr>
        <p:spPr>
          <a:xfrm>
            <a:off x="822960" y="1188720"/>
            <a:ext cx="10424160" cy="5029200"/>
          </a:xfrm>
          <a:prstGeom prst="rect">
            <a:avLst/>
          </a:prstGeom>
          <a:noFill/>
          <a:ln/>
        </p:spPr>
        <p:txBody>
          <a:bodyPr wrap="square" rtlCol="0" anchor="t"/>
          <a:lstStyle/>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Your LabMonitor application now has:</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MVC architecture with clean separation</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Simulated and real adapters (interchangeable)</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Measurement strategies (swappable)</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Background acquisition worker (QThread)</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Data queue plus writer thread (non-blocking I/O)</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CSV and JSON metadata sinks (extensible)</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Configuration-driven behaviour (YAML)</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Real-time PyQtGraph plotting</a:t>
            </a:r>
            <a:endParaRPr lang="en-US" sz="15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E1E2E"/>
        </a:solidFill>
      </p:bgPr>
    </p:bg>
    <p:spTree>
      <p:nvGrpSpPr>
        <p:cNvPr id="1" name=""/>
        <p:cNvGrpSpPr/>
        <p:nvPr/>
      </p:nvGrpSpPr>
      <p:grpSpPr>
        <a:xfrm>
          <a:off x="0" y="0"/>
          <a:ext cx="0" cy="0"/>
          <a:chOff x="0" y="0"/>
          <a:chExt cx="0" cy="0"/>
        </a:xfrm>
      </p:grpSpPr>
      <p:sp>
        <p:nvSpPr>
          <p:cNvPr id="2" name="Text 0"/>
          <p:cNvSpPr/>
          <p:nvPr/>
        </p:nvSpPr>
        <p:spPr>
          <a:xfrm>
            <a:off x="640080" y="182880"/>
            <a:ext cx="10972800" cy="640080"/>
          </a:xfrm>
          <a:prstGeom prst="rect">
            <a:avLst/>
          </a:prstGeom>
          <a:noFill/>
          <a:ln/>
        </p:spPr>
        <p:txBody>
          <a:bodyPr wrap="square" rtlCol="0" anchor="ctr"/>
          <a:lstStyle/>
          <a:p>
            <a:pPr indent="0" marL="0">
              <a:buNone/>
            </a:pPr>
            <a:r>
              <a:rPr lang="en-US" sz="3200" b="1" dirty="0">
                <a:solidFill>
                  <a:srgbClr val="FFFFFF"/>
                </a:solidFill>
                <a:latin typeface="Calibri Light" pitchFamily="34" charset="0"/>
                <a:ea typeface="Calibri Light" pitchFamily="34" charset="-122"/>
                <a:cs typeface="Calibri Light" pitchFamily="34" charset="-120"/>
              </a:rPr>
              <a:t>Cross-Course Themes — Adding Features</a:t>
            </a:r>
            <a:endParaRPr lang="en-US" sz="3200" dirty="0"/>
          </a:p>
        </p:txBody>
      </p:sp>
      <p:sp>
        <p:nvSpPr>
          <p:cNvPr id="3" name="Shape 1"/>
          <p:cNvSpPr/>
          <p:nvPr/>
        </p:nvSpPr>
        <p:spPr>
          <a:xfrm>
            <a:off x="457200" y="960120"/>
            <a:ext cx="11274552" cy="4846320"/>
          </a:xfrm>
          <a:prstGeom prst="rect">
            <a:avLst>
              <a:gd name="adj" fmla="val 1887"/>
            </a:avLst>
          </a:prstGeom>
          <a:solidFill>
            <a:srgbClr val="0D1117"/>
          </a:solidFill>
          <a:ln/>
        </p:spPr>
      </p:sp>
      <p:sp>
        <p:nvSpPr>
          <p:cNvPr id="4" name="Text 2"/>
          <p:cNvSpPr/>
          <p:nvPr/>
        </p:nvSpPr>
        <p:spPr>
          <a:xfrm>
            <a:off x="640080" y="1051560"/>
            <a:ext cx="10881360" cy="4663440"/>
          </a:xfrm>
          <a:prstGeom prst="rect">
            <a:avLst/>
          </a:prstGeom>
          <a:noFill/>
          <a:ln/>
        </p:spPr>
        <p:txBody>
          <a:bodyPr wrap="square" rtlCol="0" anchor="t"/>
          <a:lstStyle/>
          <a:p>
            <a:pPr indent="0" marL="0">
              <a:lnSpc>
                <a:spcPct val="108000"/>
              </a:lnSpc>
              <a:buNone/>
            </a:pPr>
            <a:r>
              <a:rPr lang="en-US" sz="1100" dirty="0">
                <a:solidFill>
                  <a:srgbClr val="6A9955"/>
                </a:solidFill>
                <a:latin typeface="Consolas" pitchFamily="34" charset="0"/>
                <a:ea typeface="Consolas" pitchFamily="34" charset="-122"/>
                <a:cs typeface="Consolas" pitchFamily="34" charset="-120"/>
              </a:rPr>
              <a:t># NEW MEASUREMENT MODE? Add a Strategy class.</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class</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DCDCAA"/>
                </a:solidFill>
                <a:latin typeface="Consolas" pitchFamily="34" charset="0"/>
                <a:ea typeface="Consolas" pitchFamily="34" charset="-122"/>
                <a:cs typeface="Consolas" pitchFamily="34" charset="-120"/>
              </a:rPr>
              <a:t>BurstReadStrategy</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4EC9B0"/>
                </a:solidFill>
                <a:latin typeface="Consolas" pitchFamily="34" charset="0"/>
                <a:ea typeface="Consolas" pitchFamily="34" charset="-122"/>
                <a:cs typeface="Consolas" pitchFamily="34" charset="-120"/>
              </a:rPr>
              <a:t>MeasurementStrategy</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def</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DCDCAA"/>
                </a:solidFill>
                <a:latin typeface="Consolas" pitchFamily="34" charset="0"/>
                <a:ea typeface="Consolas" pitchFamily="34" charset="-122"/>
                <a:cs typeface="Consolas" pitchFamily="34" charset="-120"/>
              </a:rPr>
              <a:t>execute</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adapter</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&gt;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DCDCAA"/>
                </a:solidFill>
                <a:latin typeface="Consolas" pitchFamily="34" charset="0"/>
                <a:ea typeface="Consolas" pitchFamily="34" charset="-122"/>
                <a:cs typeface="Consolas" pitchFamily="34" charset="-120"/>
              </a:rPr>
              <a:t>list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4EC9B0"/>
                </a:solidFill>
                <a:latin typeface="Consolas" pitchFamily="34" charset="0"/>
                <a:ea typeface="Consolas" pitchFamily="34" charset="-122"/>
                <a:cs typeface="Consolas" pitchFamily="34" charset="-120"/>
              </a:rPr>
              <a:t>Reading</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6A9955"/>
                </a:solidFill>
                <a:latin typeface="Consolas" pitchFamily="34" charset="0"/>
                <a:ea typeface="Consolas" pitchFamily="34" charset="-122"/>
                <a:cs typeface="Consolas" pitchFamily="34" charset="-120"/>
              </a:rPr>
              <a:t># Files changed: 1. Everything else: untouched.</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6A9955"/>
                </a:solidFill>
                <a:latin typeface="Consolas" pitchFamily="34" charset="0"/>
                <a:ea typeface="Consolas" pitchFamily="34" charset="-122"/>
                <a:cs typeface="Consolas" pitchFamily="34" charset="-120"/>
              </a:rPr>
              <a:t># NEW DEVICE? Add an Adapter class.</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class</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DCDCAA"/>
                </a:solidFill>
                <a:latin typeface="Consolas" pitchFamily="34" charset="0"/>
                <a:ea typeface="Consolas" pitchFamily="34" charset="-122"/>
                <a:cs typeface="Consolas" pitchFamily="34" charset="-120"/>
              </a:rPr>
              <a:t>ModbusAdapter</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4EC9B0"/>
                </a:solidFill>
                <a:latin typeface="Consolas" pitchFamily="34" charset="0"/>
                <a:ea typeface="Consolas" pitchFamily="34" charset="-122"/>
                <a:cs typeface="Consolas" pitchFamily="34" charset="-120"/>
              </a:rPr>
              <a:t>InstrumentAdapter</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def</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DCDCAA"/>
                </a:solidFill>
                <a:latin typeface="Consolas" pitchFamily="34" charset="0"/>
                <a:ea typeface="Consolas" pitchFamily="34" charset="-122"/>
                <a:cs typeface="Consolas" pitchFamily="34" charset="-120"/>
              </a:rPr>
              <a:t>connect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def</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DCDCAA"/>
                </a:solidFill>
                <a:latin typeface="Consolas" pitchFamily="34" charset="0"/>
                <a:ea typeface="Consolas" pitchFamily="34" charset="-122"/>
                <a:cs typeface="Consolas" pitchFamily="34" charset="-120"/>
              </a:rPr>
              <a:t>read_value</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channel</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6A9955"/>
                </a:solidFill>
                <a:latin typeface="Consolas" pitchFamily="34" charset="0"/>
                <a:ea typeface="Consolas" pitchFamily="34" charset="-122"/>
                <a:cs typeface="Consolas" pitchFamily="34" charset="-120"/>
              </a:rPr>
              <a:t># Files changed: 1. Everything else: untouched.</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6A9955"/>
                </a:solidFill>
                <a:latin typeface="Consolas" pitchFamily="34" charset="0"/>
                <a:ea typeface="Consolas" pitchFamily="34" charset="-122"/>
                <a:cs typeface="Consolas" pitchFamily="34" charset="-120"/>
              </a:rPr>
              <a:t># NEW DATA FORMAT? Add a DataSink class.</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class</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DCDCAA"/>
                </a:solidFill>
                <a:latin typeface="Consolas" pitchFamily="34" charset="0"/>
                <a:ea typeface="Consolas" pitchFamily="34" charset="-122"/>
                <a:cs typeface="Consolas" pitchFamily="34" charset="-120"/>
              </a:rPr>
              <a:t>Hdf5Sink</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4EC9B0"/>
                </a:solidFill>
                <a:latin typeface="Consolas" pitchFamily="34" charset="0"/>
                <a:ea typeface="Consolas" pitchFamily="34" charset="-122"/>
                <a:cs typeface="Consolas" pitchFamily="34" charset="-120"/>
              </a:rPr>
              <a:t>DataSink</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def</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DCDCAA"/>
                </a:solidFill>
                <a:latin typeface="Consolas" pitchFamily="34" charset="0"/>
                <a:ea typeface="Consolas" pitchFamily="34" charset="-122"/>
                <a:cs typeface="Consolas" pitchFamily="34" charset="-120"/>
              </a:rPr>
              <a:t>open</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metadata</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def</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DCDCAA"/>
                </a:solidFill>
                <a:latin typeface="Consolas" pitchFamily="34" charset="0"/>
                <a:ea typeface="Consolas" pitchFamily="34" charset="-122"/>
                <a:cs typeface="Consolas" pitchFamily="34" charset="-120"/>
              </a:rPr>
              <a:t>write</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569CD6"/>
                </a:solidFill>
                <a:latin typeface="Consolas" pitchFamily="34" charset="0"/>
                <a:ea typeface="Consolas" pitchFamily="34" charset="-122"/>
                <a:cs typeface="Consolas" pitchFamily="34" charset="-120"/>
              </a:rPr>
              <a:t>self</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reading</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6A9955"/>
                </a:solidFill>
                <a:latin typeface="Consolas" pitchFamily="34" charset="0"/>
                <a:ea typeface="Consolas" pitchFamily="34" charset="-122"/>
                <a:cs typeface="Consolas" pitchFamily="34" charset="-120"/>
              </a:rPr>
              <a:t># Files changed: 1. Everything else: untouched.</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6A9955"/>
                </a:solidFill>
                <a:latin typeface="Consolas" pitchFamily="34" charset="0"/>
                <a:ea typeface="Consolas" pitchFamily="34" charset="-122"/>
                <a:cs typeface="Consolas" pitchFamily="34" charset="-120"/>
              </a:rPr>
              <a:t># NEW CONFIG OPTION? Edit YAML.</a:t>
            </a:r>
            <a:pPr indent="0" marL="0">
              <a:lnSpc>
                <a:spcPct val="108000"/>
              </a:lnSpc>
              <a:buNone/>
            </a:pPr>
            <a:r>
              <a:rPr lang="en-US" sz="1100" dirty="0">
                <a:solidFill>
                  <a:srgbClr val="E6E6E6"/>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6A9955"/>
                </a:solidFill>
                <a:latin typeface="Consolas" pitchFamily="34" charset="0"/>
                <a:ea typeface="Consolas" pitchFamily="34" charset="-122"/>
                <a:cs typeface="Consolas" pitchFamily="34" charset="-120"/>
              </a:rPr>
              <a:t># Files changed: 0 (code). 1 (config).</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E1E2E"/>
        </a:solidFill>
      </p:bgPr>
    </p:bg>
    <p:spTree>
      <p:nvGrpSpPr>
        <p:cNvPr id="1" name=""/>
        <p:cNvGrpSpPr/>
        <p:nvPr/>
      </p:nvGrpSpPr>
      <p:grpSpPr>
        <a:xfrm>
          <a:off x="0" y="0"/>
          <a:ext cx="0" cy="0"/>
          <a:chOff x="0" y="0"/>
          <a:chExt cx="0" cy="0"/>
        </a:xfrm>
      </p:grpSpPr>
      <p:sp>
        <p:nvSpPr>
          <p:cNvPr id="2" name="Text 0"/>
          <p:cNvSpPr/>
          <p:nvPr/>
        </p:nvSpPr>
        <p:spPr>
          <a:xfrm>
            <a:off x="640080" y="274320"/>
            <a:ext cx="10972800" cy="731520"/>
          </a:xfrm>
          <a:prstGeom prst="rect">
            <a:avLst/>
          </a:prstGeom>
          <a:noFill/>
          <a:ln/>
        </p:spPr>
        <p:txBody>
          <a:bodyPr wrap="square" rtlCol="0" anchor="ctr"/>
          <a:lstStyle/>
          <a:p>
            <a:pPr indent="0" marL="0">
              <a:buNone/>
            </a:pPr>
            <a:r>
              <a:rPr lang="en-US" sz="3600" b="1" dirty="0">
                <a:solidFill>
                  <a:srgbClr val="FFFFFF"/>
                </a:solidFill>
                <a:latin typeface="Calibri Light" pitchFamily="34" charset="0"/>
                <a:ea typeface="Calibri Light" pitchFamily="34" charset="-122"/>
                <a:cs typeface="Calibri Light" pitchFamily="34" charset="-120"/>
              </a:rPr>
              <a:t>What Comes Next</a:t>
            </a:r>
            <a:endParaRPr lang="en-US" sz="3600" dirty="0"/>
          </a:p>
        </p:txBody>
      </p:sp>
      <p:sp>
        <p:nvSpPr>
          <p:cNvPr id="3" name="Text 1"/>
          <p:cNvSpPr/>
          <p:nvPr/>
        </p:nvSpPr>
        <p:spPr>
          <a:xfrm>
            <a:off x="822960" y="1188720"/>
            <a:ext cx="10424160" cy="5029200"/>
          </a:xfrm>
          <a:prstGeom prst="rect">
            <a:avLst/>
          </a:prstGeom>
          <a:noFill/>
          <a:ln/>
        </p:spPr>
        <p:txBody>
          <a:bodyPr wrap="square" rtlCol="0" anchor="t"/>
          <a:lstStyle/>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Testing: start with smoke tests, grow from there</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Packaging: PyInstaller for distributable applications</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Version control: Git for team collaboration</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CI/CD: automated testing on commit</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Documentation: docstrings where they matter, not everywhere</a:t>
            </a:r>
            <a:endParaRPr lang="en-US" sz="15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E1E2E"/>
        </a:solidFill>
      </p:bgPr>
    </p:bg>
    <p:spTree>
      <p:nvGrpSpPr>
        <p:cNvPr id="1" name=""/>
        <p:cNvGrpSpPr/>
        <p:nvPr/>
      </p:nvGrpSpPr>
      <p:grpSpPr>
        <a:xfrm>
          <a:off x="0" y="0"/>
          <a:ext cx="0" cy="0"/>
          <a:chOff x="0" y="0"/>
          <a:chExt cx="0" cy="0"/>
        </a:xfrm>
      </p:grpSpPr>
      <p:sp>
        <p:nvSpPr>
          <p:cNvPr id="2" name="Text 0"/>
          <p:cNvSpPr/>
          <p:nvPr/>
        </p:nvSpPr>
        <p:spPr>
          <a:xfrm>
            <a:off x="640080" y="274320"/>
            <a:ext cx="10972800" cy="731520"/>
          </a:xfrm>
          <a:prstGeom prst="rect">
            <a:avLst/>
          </a:prstGeom>
          <a:noFill/>
          <a:ln/>
        </p:spPr>
        <p:txBody>
          <a:bodyPr wrap="square" rtlCol="0" anchor="ctr"/>
          <a:lstStyle/>
          <a:p>
            <a:pPr indent="0" marL="0">
              <a:buNone/>
            </a:pPr>
            <a:r>
              <a:rPr lang="en-US" sz="3600" b="1" dirty="0">
                <a:solidFill>
                  <a:srgbClr val="FFFFFF"/>
                </a:solidFill>
                <a:latin typeface="Calibri Light" pitchFamily="34" charset="0"/>
                <a:ea typeface="Calibri Light" pitchFamily="34" charset="-122"/>
                <a:cs typeface="Calibri Light" pitchFamily="34" charset="-120"/>
              </a:rPr>
              <a:t>Course Complete</a:t>
            </a:r>
            <a:endParaRPr lang="en-US" sz="3600" dirty="0"/>
          </a:p>
        </p:txBody>
      </p:sp>
      <p:sp>
        <p:nvSpPr>
          <p:cNvPr id="3" name="Text 1"/>
          <p:cNvSpPr/>
          <p:nvPr/>
        </p:nvSpPr>
        <p:spPr>
          <a:xfrm>
            <a:off x="822960" y="1188720"/>
            <a:ext cx="10424160" cy="5029200"/>
          </a:xfrm>
          <a:prstGeom prst="rect">
            <a:avLst/>
          </a:prstGeom>
          <a:noFill/>
          <a:ln/>
        </p:spPr>
        <p:txBody>
          <a:bodyPr wrap="square" rtlCol="0" anchor="t"/>
          <a:lstStyle/>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Day 1: Script to Objects to Adapter to Strategy</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Day 2: SOLID to MVC to Error Handling to QThread to Working Application</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Day 3: DataSink to Writer Thread to Config to Performance to Live Plotting</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Key mantra: the controller does not care</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Add new things by adding classes, not by editing existing code</a:t>
            </a:r>
            <a:endParaRPr lang="en-US" sz="1500" dirty="0"/>
          </a:p>
          <a:p>
            <a:pPr marL="342900" indent="-342900">
              <a:lnSpc>
                <a:spcPct val="115000"/>
              </a:lnSpc>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Architecture makes the swap possible, configuration makes it easy</a:t>
            </a:r>
            <a:endParaRPr lang="en-US" sz="15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E1E2E"/>
        </a:solidFill>
      </p:bgPr>
    </p:bg>
    <p:spTree>
      <p:nvGrpSpPr>
        <p:cNvPr id="1" name=""/>
        <p:cNvGrpSpPr/>
        <p:nvPr/>
      </p:nvGrpSpPr>
      <p:grpSpPr>
        <a:xfrm>
          <a:off x="0" y="0"/>
          <a:ext cx="0" cy="0"/>
          <a:chOff x="0" y="0"/>
          <a:chExt cx="0" cy="0"/>
        </a:xfrm>
      </p:grpSpPr>
      <p:sp>
        <p:nvSpPr>
          <p:cNvPr id="2" name="Text 0"/>
          <p:cNvSpPr/>
          <p:nvPr/>
        </p:nvSpPr>
        <p:spPr>
          <a:xfrm>
            <a:off x="731520" y="2194560"/>
            <a:ext cx="10698480" cy="1097280"/>
          </a:xfrm>
          <a:prstGeom prst="rect">
            <a:avLst/>
          </a:prstGeom>
          <a:noFill/>
          <a:ln/>
        </p:spPr>
        <p:txBody>
          <a:bodyPr wrap="square" rtlCol="0" anchor="ctr"/>
          <a:lstStyle/>
          <a:p>
            <a:pPr algn="ctr" indent="0" marL="0">
              <a:buNone/>
            </a:pPr>
            <a:r>
              <a:rPr lang="en-US" sz="4400" b="1" dirty="0">
                <a:solidFill>
                  <a:srgbClr val="FFFFFF"/>
                </a:solidFill>
                <a:latin typeface="Calibri Light" pitchFamily="34" charset="0"/>
                <a:ea typeface="Calibri Light" pitchFamily="34" charset="-122"/>
                <a:cs typeface="Calibri Light" pitchFamily="34" charset="-120"/>
              </a:rPr>
              <a:t>From Scripts to Systems</a:t>
            </a:r>
            <a:endParaRPr lang="en-US" sz="4400" dirty="0"/>
          </a:p>
        </p:txBody>
      </p:sp>
      <p:sp>
        <p:nvSpPr>
          <p:cNvPr id="3" name="Text 1"/>
          <p:cNvSpPr/>
          <p:nvPr/>
        </p:nvSpPr>
        <p:spPr>
          <a:xfrm>
            <a:off x="731520" y="3474720"/>
            <a:ext cx="10698480" cy="640080"/>
          </a:xfrm>
          <a:prstGeom prst="rect">
            <a:avLst/>
          </a:prstGeom>
          <a:noFill/>
          <a:ln/>
        </p:spPr>
        <p:txBody>
          <a:bodyPr wrap="square" rtlCol="0" anchor="ctr"/>
          <a:lstStyle/>
          <a:p>
            <a:pPr algn="ctr" indent="0" marL="0">
              <a:buNone/>
            </a:pPr>
            <a:r>
              <a:rPr lang="en-US" sz="2000" dirty="0">
                <a:solidFill>
                  <a:srgbClr val="4FC3F7"/>
                </a:solidFill>
                <a:latin typeface="Calibri" pitchFamily="34" charset="0"/>
                <a:ea typeface="Calibri" pitchFamily="34" charset="-122"/>
                <a:cs typeface="Calibri" pitchFamily="34" charset="-120"/>
              </a:rPr>
              <a:t>Feedback and questions welcome</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Day 3 - Data Architecture, Metadata and Performance</dc:subject>
  <dc:creator>National Labs Training</dc:creator>
  <cp:lastModifiedBy>National Labs Training</cp:lastModifiedBy>
  <cp:revision>1</cp:revision>
  <dcterms:created xsi:type="dcterms:W3CDTF">2026-03-24T13:20:19Z</dcterms:created>
  <dcterms:modified xsi:type="dcterms:W3CDTF">2026-03-24T13:20:19Z</dcterms:modified>
</cp:coreProperties>
</file>