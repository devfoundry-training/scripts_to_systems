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(2 min)
Welcome back. Quick energy check.
Today's arc: SOLID -&gt; MVC -&gt; error handling -&gt; QThread workers -&gt; a working desktop app.
By end of today, you will have a running PySide6 application with live data from the simulator.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+ PREVIEW (3 min)
Quick recap: 'Yesterday we built Adapter (swap hardware) and Strategy (swap behaviour).'
Ask volunteers to explain each pattern in one sentence.
Transition: 'Let's start with why coupling hardware to the GUI is a terrible idea.'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TRANSITION (30 sec)
'SOLID isn't academic theory. These are the names for problems you already have.'
Adjust depth by audience: experienced rooms breeze through in 10 min, junior rooms need 20 min with examples.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CONCEPT (3 min)
Briefly name each violation. Don't dwell, the next slide shows the code.
Ask: 'Which pattern from yesterday fixes the DIP violation?' (Answer: Adapter.)
Key point: SOLID names the disease, patterns are the treatment.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CODE WALKTHROUGH (5 min)
Walk through each annotated violation.
'SRP: this class knows about serial ports AND CSV formatting AND the GUI. Three reasons to change.'
'OCP: to add JSON output, I have to edit the existing CSV code path.'
'DIP: the driver directly depends on QLabel, a concrete GUI widget.'
Ask: 'How would you fix each one?' Students should recognise the patterns from yesterday.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CONCEPT (4 min)
Walk through each letter with the instrument-code example.
Don't belabour L (Liskov). Just say: 'Any adapter implementing the interface must work correctly when substituted.'
I (Interface Segregation): 'Don't make a simple temperature sensor implement 20 methods for a multi-channel analyser.'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MOTIVATION (4 min)
This is the emotional hook for MVC.
Demo if possible: describe a GUI that calls serial.read() in the button handler. Click. Freeze.
Ask: 'How do you test this GUI without the instrument?' (You can't.)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CODE WALKTHROUGH (5 min)
Left: 'Button click calls serial.read() directly. GUI freezes. Can't test. Serial error crashes everything.'
Right: 'Button click calls controller.start_reading(). Controller uses adapter. View only displays.'
Ask: 'In the right-hand version, what changes if I swap the instrument?' (Answer: nothing in MainWindow or Controller. Only the adapter.)
This slide is the bridge from SOLID theory to MVC practice.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CORE CONCEPT (3 min)
Repeat the mantra. By now students should recognise it.
Draw the diagram: Controller sits in the middle. It doesn't know about serial ports, CSV files, Qt widgets, or retry logic.
Ask: 'If I remove PySide6 entirely and replace it with a CLI, what changes?' (Only the View.)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TRANSITION (30 sec)
MVC in instrument apps is looser than web MVC. Don't over-formalise it. The goal is separation, not textbook compliance.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CONCEPT (3 min)
Define each part concretely. Keep it brief, the next slide has the code.
Ask: 'In yesterday's code, where was the model?' (The Reading class, the adapter state.)
Common misconception: 'MVC means three files.' Clarify: it means three responsibilities.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CODE WALKTHROUGH (5 min)
This is the most important MVC slide. Walk through all three sections.
Model: 'Pure Python, no Qt. If this class imports PySide6, something is wrong.'
View: 'PySide6 widgets. Displays data. Does NOT call serial.read() or write files.'
Controller: 'Wiring. The thinnest layer. Connects button clicks to model actions.'
Bottom note reinforces the separation. Point back to this slide during Lab 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CONCEPT (3 min)
Brief overview of the key Qt classes. The next slide is the code.
Ask: 'Who has used Qt before? PyQt5? Tkinter?' Gauge the room.
If PySide6 setup fails for anyone: have them pair with a neighbour.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DEMO (8 min)
Live-code this alongside the slide. Type it out, don't just show it.
Run it: a window appears with a label and a button.
Click the button: label updates.
Ask: 'What's the signal? What's the slot?' (Signal: button.clicked. Slot: on_read.)
Common confusion: QWidget vs QMainWindow. Explain: QMainWindow has menu bar, status bar, central widget.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TRANSITION (30 sec)
'Before we thread anything, let's talk about what happens when things go wrong.'
Ask: 'What's the worst instrument failure you've experienced?' Quick war stories, keeps energy 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CONCEPT (3 min)
Briefly name the three patterns. The next slide has the code.
Demo: show the simulator's error modes. SET:ERROR_MODE:TIMEOUT, then try to read.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CODE WALKTHROUGH (5 min)
Walk through all three patterns.
Pattern 1: 'Timeout with default. Simple and safe. Caller decides what to do with None.'
Pattern 2: 'Retry with backoff. Good for flaky connections. Exponential backoff prevents hammering.'
Pattern 3: 'Error propagation. Adapter catches hardware exceptions, translates to application-level exceptions.'
Ask: 'Which pattern is appropriate for a cable that's jiggled loose?' (Retry.) 'For a permanently dead instrument?' (Propagation.)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CODE WALKTHROUGH (5 min)
Walk through both layers.
Layer 1: 'Adapter catches SerialException, translates to InstrumentError. The controller never sees SerialException.'
Layer 2: 'Controller receives application-level errors. View shows status. App stays alive.'
Key point: 'Each layer handles its own concern. Never let a hardware exception crash the GUI.'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TRANSITION (30 sec)
'Now the big one: threading. This is where most instrument GUIs go wrong.'
Reassure: 'Threading in Qt is well-designed. The Worker+QThread pattern is straightforward once you see it.'
This section is the hardest of Day 2. Slow down. Use demos heavily.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MOTIVATION (3 min)
Demo: a GUI that calls time.sleep(3) in a button handler. Window goes grey.
'That's what happens when you block the main thread.'
Explain the event loop simply: Qt processes paint events, mouse clicks, keyboard input in a loop. Block it and everything stops.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CODE WALKTHROUGH (5 min)
Left: 'While loop on main thread. GUI cannot repaint. Buttons don't respond. User sees Not Responding.'
Right: 'Worker on a separate thread. Signals cross the thread boundary safely. GUI stays responsive.'
Ask: 'Which side is your current instrument code on?' (Laughs, honest admissions.)
This is the motivation for the Worker pattern that follows.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CODE WALKTHROUGH (5 min)
This is critical. Walk through every part.
'reading_ready = Signal(object): emits a Reading to the main thread.'
'error_occurred = Signal(str): emits error messages safely.'
'run() loops while self._running. Check the flag every iteration.'
'NEVER update GUI widgets from this class. Emit a signal, let the main thread handle display.'
Ask: 'What happens if you forget to check _running?' (The worker runs forever, app hangs on exit.)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CODE WALKTHROUGH (5 min)
Show the start sequence: create thread, create worker, moveToThread, connect signals, start.
Show the stop sequence: worker.stop(), thread.quit(), thread.wait(5000).
CRITICAL: 'Always stop threads in closeEvent(). If you forget, the app hangs on exit.'
Common mistake: calling thread.terminate(). This is dangerous and can corrupt data. Always use the _running flag.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CONCEPT (3 min)
'Signals cross thread boundaries safely. That's the magic.'
Rule: 'If you're in a worker thread and you want to update the GUI, emit a signal. Always.'
Ask: 'What would happen if the worker called self.label.setText() directly?' (Crash, race condition, or silent corruption.)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LAB SETUP (2 min then 35 min lab)
This is the most challenging lab so far. Set expectations.
Key instruction: 'Build a simple GUI with Start/Stop buttons. Start creates a worker, Stop sets _running = False.'
Walk the room actively. Common issues: signal not connected, forgot closeEvent, exception in run() not caught.
Pair struggling students. If it takes 40 minutes, that's fine.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DEBRIEF (5 min)
Demo: Start -&gt; readings flow -&gt; Stop -&gt; readings stop -&gt; Start again.
Test: set error mode on simulator. Error signal fires, GUI shows error, app stays alive.
Ask: 'What was the hardest part?' (Common: getting signals connected, stopping cleanly.)
Key takeaway: 'The pattern is always the same: create worker, moveToThread, connect signals, start.'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TRANSITION (30 sec)
'Now let's put it all together. Everything from Day 1 and Day 2, in one application.'
Energy boost: 'By the end of this session, you'll have a working desktop application.'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OVERVIEW (5 min)
Show the LabMonitor application running. Give a tour.
Point out the project structure in the IDE. Show how it maps to the patterns.
drivers/ = Adapter, core/ = Model + Controller, ui/ = View, configs/ = Configuration.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LAB SETUP (5 min then 70 min lab)
Break into phases. Don't let students try everything at once.
Phase 1: just read the structure. Phase 2: trace the GUI. Phase 3: trace the Controller. Phase 4: run it. Phase 5: change something.
This lab is mostly reading and understanding, not writing from scratch.
If the class is behind, skip Phase 6 and do it as a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(5 min)
Recap: SOLID -&gt; MVC -&gt; Error handling -&gt; QThread -&gt; Working app.
Ask: 'What was the most valuable thing you learned today?'
Preview tomorrow: 'Tomorrow we add the data layer and real-time plotting.'
Key callback: 'The controller does not care. It didn't care about hardware. It doesn't care about the GUI. Tomorrow it won't care about data formats either.'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6304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From Scripts to Systems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27432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2, Application Programming: SOLID, MVC and Threads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34747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real desktop application with PySide6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Day 2 Welcome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42416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Yesterday: script to objects to Adapter pattern to Strategy pattern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SOLID principles, MVC, error handling, QThread workers, mini-app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end of today: a working PySide6 desktop application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01168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SOLID in Instrument Code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329184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Principles that prevent real problems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Hardcoding Is a SOLID Violation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42416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serial.Serial('/dev/ttyUSB0', 9600) — the class knows about deployment (SRP violation)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format == 'csv': ... elif ... — adding a format means editing code (OCP violation)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gui_label.setText(reading) inside the driver — low-level depends on high-level (DIP violation)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not theory — they are real problems in real instrument code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SOLID Violations in Code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74552" cy="4846320"/>
          </a:xfrm>
          <a:prstGeom prst="rect">
            <a:avLst>
              <a:gd name="adj" fmla="val 1887"/>
            </a:avLst>
          </a:prstGeom>
          <a:solidFill>
            <a:srgbClr val="0D111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51560"/>
            <a:ext cx="1088136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InstrumentDriver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__init__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SRP VIOLATION: knows about deployment details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'/dev/ttyUSB0'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9600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gui_label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QLabel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and about the GUI!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read_and_save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readline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split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','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OCP VIOLATION: adding JSON means editing here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'csv'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f"{value}\n"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'json'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dump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"value"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DIP VIOLATION: driver depends on Qt widget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gui_label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setText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f"{value:.2f}"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5989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violations, one class. Each makes the code harder to change, test, and reuse.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SOLID in Practice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42416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— Single Responsibility: sensor reads, recorder writes, UI displays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— Open/Closed: add new formats or devices by adding classes, not editing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— Liskov Substitution: any adapter implementing the interface works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— Interface Segregation: don't force a simple sensor to implement 20 methods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— Dependency Inversion: depend on InstrumentAdapter, not serial.Serial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Why Coupling Hardware to GUI Breaks Everything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42416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Tightly coupled: button click calls serial.read(), blocks UI, frozen app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Testing: impossible without hardware plugged in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Reuse: impossible in a different UI or command-line tool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handling: one serial timeout crashes the entire application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your button click handler calls serial.read(), you're one cable pull from freezing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Coupled vs Decoupled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Coupled: GUI calls hardware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336792" y="86868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Decoupled: layers separated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5394960" cy="4572000"/>
          </a:xfrm>
          <a:prstGeom prst="rect">
            <a:avLst>
              <a:gd name="adj" fmla="val 2000"/>
            </a:avLst>
          </a:prstGeom>
          <a:solidFill>
            <a:srgbClr val="0D1117"/>
          </a:solidFill>
          <a:ln/>
        </p:spPr>
      </p:sp>
      <p:sp>
        <p:nvSpPr>
          <p:cNvPr id="6" name="Shape 4"/>
          <p:cNvSpPr/>
          <p:nvPr/>
        </p:nvSpPr>
        <p:spPr>
          <a:xfrm>
            <a:off x="6336792" y="1280160"/>
            <a:ext cx="5394960" cy="4572000"/>
          </a:xfrm>
          <a:prstGeom prst="rect">
            <a:avLst>
              <a:gd name="adj" fmla="val 2000"/>
            </a:avLst>
          </a:prstGeom>
          <a:solidFill>
            <a:srgbClr val="0D1117"/>
          </a:solidFill>
          <a:ln/>
        </p:spPr>
      </p:sp>
      <p:sp>
        <p:nvSpPr>
          <p:cNvPr id="7" name="Shape 5"/>
          <p:cNvSpPr/>
          <p:nvPr/>
        </p:nvSpPr>
        <p:spPr>
          <a:xfrm>
            <a:off x="6094476" y="914400"/>
            <a:ext cx="0" cy="5120640"/>
          </a:xfrm>
          <a:prstGeom prst="line">
            <a:avLst/>
          </a:prstGeom>
          <a:noFill/>
          <a:ln w="12700">
            <a:solidFill>
              <a:srgbClr val="4444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371600"/>
            <a:ext cx="512064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MainWindow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QMainWindow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on_read_clicked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GUI thread blocked until read completes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'/dev/ttyUSB0'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'READ:TEMP\n'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readline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BLOCKS!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split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','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setText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f"{value:.2f}"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Can't test without hardware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GUI freezes during read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Serial error crashes everything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73952" y="1371600"/>
            <a:ext cx="512064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MainWindow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QMainWindow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on_read_clicked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controller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start_reading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Controller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start_reading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reading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adapter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read_value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'temp'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view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display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reading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Adapter is injected (real or simulated)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View only displays, never reads hardware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Controller orchestrates, owns nothing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"The Controller Does Not Care" Architecture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42416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controller orchestrates — it does not know about: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serial ports (that's the adapter's job)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CSV files (that's the data sink's job)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Qt widgets (that's the view's job)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retry logic (that's the error handler's job)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mantra of the course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01168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MVC for Instrument Applications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329184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Model, View, Controller — separation that scales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MVC — What It Means Here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42416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the data and state (current reading, connection status, recording state)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View: the PySide6 GUI (labels, buttons, plots)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Controller: the orchestrator (connects model to view, handles user actions)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 in instrument apps is looser than textbook MVC — the goal is separation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Model, View, Controller — Code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74552" cy="4846320"/>
          </a:xfrm>
          <a:prstGeom prst="rect">
            <a:avLst>
              <a:gd name="adj" fmla="val 1887"/>
            </a:avLst>
          </a:prstGeom>
          <a:solidFill>
            <a:srgbClr val="0D111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51560"/>
            <a:ext cx="1088136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MODEL — pure Python, no Qt dependency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InstrumentModel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__init__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current_reading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Optional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Reading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is_connected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is_recording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If this class imports PySide6, something is wrong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VIEW — PySide6 widgets, displays only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MainWindow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QMainWindow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display_reading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reading_label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setText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set_status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statusBar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showMessage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Does NOT call serial.read() or write files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CONTROLLER — wiring, the thinnest layer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Controller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__init__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view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adapter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view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view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adapter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adapter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Connects button clicks to model actions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5989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knows nothing about Qt. View knows nothing about hardware. Controller connects them.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PySide6 Crash Course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42416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QApplication, QMainWindow, QWidget — the application shell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Layouts: QVBoxLayout, QHBoxLayout, QGridLayout — arrange widgets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Widgets: QLabel, QPushButton, QComboBox, QStatusBar — display and input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Signal/slot: button.clicked.connect(self.on_connect) — event wiring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PySide6 Minimal Window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74552" cy="4846320"/>
          </a:xfrm>
          <a:prstGeom prst="rect">
            <a:avLst>
              <a:gd name="adj" fmla="val 1887"/>
            </a:avLst>
          </a:prstGeom>
          <a:solidFill>
            <a:srgbClr val="0D111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51560"/>
            <a:ext cx="1088136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PySide6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QtWidgets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QApplication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QMainWindow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QLabel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QPushButton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QVBoxLayout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QWidget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MinimalWindow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QMainWindow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__init__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super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__init__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setWindowTitle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"My First PySide6 App"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Create widgets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QLabel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 reading yet"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QPushButton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"Read"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Layout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layout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QVBoxLayout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layout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addWidget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layout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addWidget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container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QWidget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container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setLayout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layout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setCentralWidget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container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Connect signal to slot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clicked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on_read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on_read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setText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"23.50 °C"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QApplication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argv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window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MinimalWindow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window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show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exit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01168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Error Handling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329184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the application alive when hardware fails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Error Handling in Instrument Code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42416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Instruments fail — cables unplug, serial buffers corrupt, timeouts happen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is not whether errors occur, but where and how you handle them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 with default: try to read, return None after timeout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with backoff: try N times, wait between attempts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propagation: adapter raises, controller catches, view shows status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Error Handling Patterns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74552" cy="4846320"/>
          </a:xfrm>
          <a:prstGeom prst="rect">
            <a:avLst>
              <a:gd name="adj" fmla="val 1887"/>
            </a:avLst>
          </a:prstGeom>
          <a:solidFill>
            <a:srgbClr val="0D111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51560"/>
            <a:ext cx="1088136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PATTERN 1: Timeout with default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read_with_timeout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channel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timeout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2.0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_serial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timeout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timeout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_serial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readline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_parse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SerialTimeoutException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caller decides what to do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PATTERN 2: Retry with backoff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read_with_retry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channel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retries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attempt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retries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read_value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channel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InstrumentError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sleep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attempt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0.5s, 1s, 2s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raise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InstrumentError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f"Failed after {retries} retries"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PATTERN 3: Error propagation (adapter catches, controller receives state)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 the adapter: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SerialException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_connected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raise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InstrumentError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f"Connection lost: {e}"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Safe Error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74552" cy="4846320"/>
          </a:xfrm>
          <a:prstGeom prst="rect">
            <a:avLst>
              <a:gd name="adj" fmla="val 1887"/>
            </a:avLst>
          </a:prstGeom>
          <a:solidFill>
            <a:srgbClr val="0D111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51560"/>
            <a:ext cx="1088136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LAYER 1: Adapter catches hardware exceptions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RealInstrumentAdapter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InstrumentAdapter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read_value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channel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_serial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readline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_parse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SerialException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_connected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raise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InstrumentError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translated exception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LAYER 2: Controller receives application-level errors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Controller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on_reading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reading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view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display_reading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reading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view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clear_error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on_error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view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show_error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view shows status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App stays alive. No crash. No traceback.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The controller never sees SerialException.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The view never sees InstrumentError.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Each layer handles its own concern.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5989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translates exceptions into its own vocabulary. No layer leaks implementation details.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01168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QThread + Worker: Background Acquisition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329184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the GUI alive while reading hardware</a:t>
            </a:r>
            <a:endParaRPr lang="en-US" sz="2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Why You Need a Worker Thread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42416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Demo: GUI that calls serial.read() in the button handler — GUI freezes!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GUI runs on the main thread (the Qt event loop)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Blocking the main thread means a frozen application and angry users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run acquisition on a separate worker thread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Blocking vs Threaded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Blocking: GUI freezes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336792" y="86868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Threaded: GUI stays alive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5394960" cy="4572000"/>
          </a:xfrm>
          <a:prstGeom prst="rect">
            <a:avLst>
              <a:gd name="adj" fmla="val 2000"/>
            </a:avLst>
          </a:prstGeom>
          <a:solidFill>
            <a:srgbClr val="0D1117"/>
          </a:solidFill>
          <a:ln/>
        </p:spPr>
      </p:sp>
      <p:sp>
        <p:nvSpPr>
          <p:cNvPr id="6" name="Shape 4"/>
          <p:cNvSpPr/>
          <p:nvPr/>
        </p:nvSpPr>
        <p:spPr>
          <a:xfrm>
            <a:off x="6336792" y="1280160"/>
            <a:ext cx="5394960" cy="4572000"/>
          </a:xfrm>
          <a:prstGeom prst="rect">
            <a:avLst>
              <a:gd name="adj" fmla="val 2000"/>
            </a:avLst>
          </a:prstGeom>
          <a:solidFill>
            <a:srgbClr val="0D1117"/>
          </a:solidFill>
          <a:ln/>
        </p:spPr>
      </p:sp>
      <p:sp>
        <p:nvSpPr>
          <p:cNvPr id="7" name="Shape 5"/>
          <p:cNvSpPr/>
          <p:nvPr/>
        </p:nvSpPr>
        <p:spPr>
          <a:xfrm>
            <a:off x="6094476" y="914400"/>
            <a:ext cx="0" cy="5120640"/>
          </a:xfrm>
          <a:prstGeom prst="line">
            <a:avLst/>
          </a:prstGeom>
          <a:noFill/>
          <a:ln w="12700">
            <a:solidFill>
              <a:srgbClr val="4444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371600"/>
            <a:ext cx="512064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MainWindow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QMainWindow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on_start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running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Runs on main thread!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reading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adapter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read_value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'temp'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setText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reading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sleep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GUI cannot repaint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Buttons don't respond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Window shows "Not Responding"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User has to kill the process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73952" y="1371600"/>
            <a:ext cx="512064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MainWindow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QMainWindow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on_start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worker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AcquisitionWorker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adapter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thread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QThread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worker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moveToThread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thread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Signals cross thread boundary safely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worker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reading_ready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on_reading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runs on main thread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thread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started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worker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thread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GUI stays responsive!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Worker Class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74552" cy="4846320"/>
          </a:xfrm>
          <a:prstGeom prst="rect">
            <a:avLst>
              <a:gd name="adj" fmla="val 1887"/>
            </a:avLst>
          </a:prstGeom>
          <a:solidFill>
            <a:srgbClr val="0D111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51560"/>
            <a:ext cx="1088136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PySide6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QtCore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QObject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Signal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AcquisitionWorker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QObject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"""Runs on a background thread. Communicates via signals only."""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reading_ready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Signal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object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emits Reading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error_occurred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Signal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emits error message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finished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Signal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emits when done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__init__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adapter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interval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super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__init__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adapter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adapter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interval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interval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_running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"""Main acquisition loop. Runs on worker thread."""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_running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_running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reading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adapter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read_value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'temperature'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reading_ready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emit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reading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-&gt; main thread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Exception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error_occurred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emit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-&gt; main thread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sleep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interval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finished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emit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_running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5989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update GUI widgets from this class. Emit a signal, let the main thread handle display.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Starting and Stopping Cleanly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74552" cy="4846320"/>
          </a:xfrm>
          <a:prstGeom prst="rect">
            <a:avLst>
              <a:gd name="adj" fmla="val 1887"/>
            </a:avLst>
          </a:prstGeom>
          <a:solidFill>
            <a:srgbClr val="0D111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51560"/>
            <a:ext cx="1088136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Controller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start_acquisition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thread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QThread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worker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AcquisitionWorker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adapter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worker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moveToThread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thread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Wire signals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thread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started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worker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worker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reading_ready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_on_reading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worker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error_occurred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_on_error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worker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finished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thread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quit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thread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stop_acquisition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worker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set _running = False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thread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quit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ask thread to exit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thread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wait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5000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wait up to 5 seconds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CRITICAL: always stop threads on window close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cleanup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thread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thread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isRunning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stop_acquisition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prevent hang on exit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Signal/Slot Communication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42416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are thread-safe in Qt — they cross thread boundaries safely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worker.reading_ready.emit(reading): controller runs on_reading on main thread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how data flows from worker to GUI without race conditions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NEVER update GUI widgets from the worker thread directly — always use signals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FC3F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Lab 5 — Worker Thread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22960" y="1188720"/>
            <a:ext cx="1042416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AcquisitionWorker that reads from SimulatedInstrumentAdapter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it to a simple PySide6 GUI with Start/Stop buttons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readings in a QLabel via signals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errors: show error in status bar, app stays alive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Critical: use QObject + moveToThread, not QThread subclass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Time: 35 minutes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Lab 5 Debrief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42416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Demo: working app with start/stop and live readings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test: what happens if the adapter throws an error?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error signal fires, GUI shows error, app stays alive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GUI never freezes because acquisition is on a separate thread</a:t>
            </a:r>
            <a:endParaRPr lang="en-US" sz="1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01168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Mini-App Build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329184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all together</a:t>
            </a:r>
            <a:endParaRPr lang="en-US" sz="2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Mini-App — Putting It All Together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42416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complete instrument-control application with: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PySide6 GUI with MVC structure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SimulatedInstrumentAdapter (or real if you have hardware)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Worker thread for background acquisition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Start/stop controls and live reading display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Connection status indicator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Error handling throughout</a:t>
            </a:r>
            <a:endParaRPr lang="en-US" sz="15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FC3F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Lab 6 — Build the Mini-App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22960" y="1188720"/>
            <a:ext cx="1042416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(10 min): review the labmonitor/ project structure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(15 min): understand the GUI, read ui/main_window.py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(15 min): understand the Controller, trace the flow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(15 min): run the application with python main.py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 (15 min): modify something (display format, colour, title)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 (extension): swap backend via config file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Time: 70 minutes total</a:t>
            </a:r>
            <a:endParaRPr lang="en-US" sz="15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Day 2 Recap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42416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SOLID violations in real instrument code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Separated Model, View, and Controller concerns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error handling that keeps the application alive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worker thread for background acquisition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signals/slots across thread boundaries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working PySide6 mini-app with live readings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Tomorrow: data architecture, file I/O, real-time plotting, performance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Day 2 - Application Programming: SOLID, MVC and Threads</dc:subject>
  <dc:creator>National Labs Training</dc:creator>
  <cp:lastModifiedBy>National Labs Training</cp:lastModifiedBy>
  <cp:revision>1</cp:revision>
  <dcterms:created xsi:type="dcterms:W3CDTF">2026-03-24T13:20:19Z</dcterms:created>
  <dcterms:modified xsi:type="dcterms:W3CDTF">2026-03-24T13:20:19Z</dcterms:modified>
</cp:coreProperties>
</file>